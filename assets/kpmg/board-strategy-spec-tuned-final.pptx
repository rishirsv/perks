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Arial"/>
                  </a:defRPr>
                </a:pPr>
              </a:p>
            </c:txPr>
            <c:showLegendKey val="0"/>
            <c:showVal val="1"/>
            <c:showCatName val="0"/>
            <c:showSerName val="0"/>
            <c:showPercent val="0"/>
            <c:showBubbleSize val="0"/>
            <c:showLeaderLines val="0"/>
          </c:dLbls>
          <c:dPt>
            <c:idx val="0"/>
            <c:invertIfNegative val="0"/>
            <c:bubble3D val="0"/>
            <c:spPr>
              <a:solidFill>
                <a:srgbClr val="1E49E2"/>
              </a:solidFill>
              <a:effectLst/>
            </c:spPr>
          </c:dPt>
          <c:dPt>
            <c:idx val="1"/>
            <c:invertIfNegative val="0"/>
            <c:bubble3D val="0"/>
            <c:spPr>
              <a:solidFill>
                <a:srgbClr val="00B8F5"/>
              </a:solidFill>
              <a:effectLst/>
            </c:spPr>
          </c:dPt>
          <c:dPt>
            <c:idx val="2"/>
            <c:invertIfNegative val="0"/>
            <c:bubble3D val="0"/>
            <c:spPr>
              <a:solidFill>
                <a:srgbClr val="00338D"/>
              </a:solidFill>
              <a:effectLst/>
            </c:spPr>
          </c:dPt>
          <c:dPt>
            <c:idx val="3"/>
            <c:invertIfNegative val="0"/>
            <c:bubble3D val="0"/>
            <c:spPr>
              <a:solidFill>
                <a:srgbClr val="1E49E2"/>
              </a:solidFill>
              <a:effectLst/>
            </c:spPr>
          </c:dPt>
          <c:cat>
            <c:multiLvlStrRef>
              <c:f>Sheet1!$A$2:$A$5</c:f>
              <c:multiLvlStrCache>
                <c:ptCount val="4"/>
                <c:lvl>
                  <c:pt idx="0">
                    <c:v>2022</c:v>
                  </c:pt>
                  <c:pt idx="1">
                    <c:v>2023</c:v>
                  </c:pt>
                  <c:pt idx="2">
                    <c:v>2024</c:v>
                  </c:pt>
                  <c:pt idx="3">
                    <c:v>2025</c:v>
                  </c:pt>
                </c:lvl>
              </c:multiLvlStrCache>
            </c:multiLvlStrRef>
          </c:cat>
          <c:val>
            <c:numRef>
              <c:f>Sheet1!$B$2:$B$5</c:f>
              <c:numCache>
                <c:formatCode>General</c:formatCode>
                <c:ptCount val="4"/>
                <c:pt idx="0">
                  <c:v>1221.6</c:v>
                </c:pt>
                <c:pt idx="1">
                  <c:v>1305</c:v>
                </c:pt>
                <c:pt idx="2">
                  <c:v>1466.2</c:v>
                </c:pt>
                <c:pt idx="3">
                  <c:v>1660.4</c:v>
                </c:pt>
              </c:numCache>
            </c:numRef>
          </c:val>
        </c:ser>
        <c:dLbls>
          <c:numFmt formatCode="#,##0" sourceLinked="0"/>
          <c:txPr>
            <a:bodyPr/>
            <a:lstStyle/>
            <a:p>
              <a:pPr>
                <a:defRPr b="0" i="0" strike="noStrike" sz="1200" u="none">
                  <a:solidFill>
                    <a:srgbClr val="0C233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kpmg/kpmg-publisher/src/layouts/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995160"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kpmg/kpmg-publisher/src/layouts/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kpmg/kpmg-publisher/src/layouts/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995160"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kpmg/kpmg-publisher/src/layouts/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kpmg/kpmg-publisher/src/layouts/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kpmg/kpmg-publisher/src/layouts/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8.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6696" y="374904"/>
            <a:ext cx="914400" cy="365760"/>
          </a:xfrm>
          <a:prstGeom prst="rect">
            <a:avLst/>
          </a:prstGeom>
        </p:spPr>
      </p:pic>
      <p:sp>
        <p:nvSpPr>
          <p:cNvPr id="3" name="Text 0"/>
          <p:cNvSpPr/>
          <p:nvPr/>
        </p:nvSpPr>
        <p:spPr>
          <a:xfrm>
            <a:off x="996696" y="1453896"/>
            <a:ext cx="3694176" cy="3429000"/>
          </a:xfrm>
          <a:prstGeom prst="rect">
            <a:avLst/>
          </a:prstGeom>
          <a:noFill/>
          <a:ln/>
        </p:spPr>
        <p:txBody>
          <a:bodyPr wrap="square" lIns="0" tIns="0" rIns="0" bIns="0" rtlCol="0" anchor="t"/>
          <a:lstStyle/>
          <a:p>
            <a:pPr algn="l" indent="0" marL="0">
              <a:buNone/>
            </a:pPr>
            <a:r>
              <a:rPr lang="en-US" sz="4200" b="1" dirty="0">
                <a:solidFill>
                  <a:srgbClr val="FFFFFF"/>
                </a:solidFill>
                <a:latin typeface="KPMG Bold" pitchFamily="34" charset="0"/>
                <a:ea typeface="KPMG Bold" pitchFamily="34" charset="-122"/>
                <a:cs typeface="KPMG Bold" pitchFamily="34" charset="-120"/>
              </a:rPr>
              <a:t>Board</a:t>
            </a:r>
            <a:endParaRPr lang="en-US" sz="4200" dirty="0"/>
          </a:p>
          <a:p>
            <a:pPr algn="l" indent="0" marL="0">
              <a:buNone/>
            </a:pPr>
            <a:r>
              <a:rPr lang="en-US" sz="4200" b="1" dirty="0">
                <a:solidFill>
                  <a:srgbClr val="FFFFFF"/>
                </a:solidFill>
                <a:latin typeface="KPMG Bold" pitchFamily="34" charset="0"/>
                <a:ea typeface="KPMG Bold" pitchFamily="34" charset="-122"/>
                <a:cs typeface="KPMG Bold" pitchFamily="34" charset="-120"/>
              </a:rPr>
              <a:t>Strategy</a:t>
            </a:r>
            <a:endParaRPr lang="en-US" sz="4200" dirty="0"/>
          </a:p>
          <a:p>
            <a:pPr algn="l" indent="0" marL="0">
              <a:buNone/>
            </a:pPr>
            <a:r>
              <a:rPr lang="en-US" sz="4200" b="1" dirty="0">
                <a:solidFill>
                  <a:srgbClr val="FFFFFF"/>
                </a:solidFill>
                <a:latin typeface="KPMG Bold" pitchFamily="34" charset="0"/>
                <a:ea typeface="KPMG Bold" pitchFamily="34" charset="-122"/>
                <a:cs typeface="KPMG Bold" pitchFamily="34" charset="-120"/>
              </a:rPr>
              <a:t>Update -</a:t>
            </a:r>
            <a:endParaRPr lang="en-US" sz="4200" dirty="0"/>
          </a:p>
          <a:p>
            <a:pPr algn="l" indent="0" marL="0">
              <a:buNone/>
            </a:pPr>
            <a:r>
              <a:rPr lang="en-US" sz="4200" b="1" dirty="0">
                <a:solidFill>
                  <a:srgbClr val="FFFFFF"/>
                </a:solidFill>
                <a:latin typeface="KPMG Bold" pitchFamily="34" charset="0"/>
                <a:ea typeface="KPMG Bold" pitchFamily="34" charset="-122"/>
                <a:cs typeface="KPMG Bold" pitchFamily="34" charset="-120"/>
              </a:rPr>
              <a:t>Extendicare</a:t>
            </a:r>
            <a:endParaRPr lang="en-US" sz="4200" dirty="0"/>
          </a:p>
          <a:p>
            <a:pPr algn="l" indent="0" marL="0">
              <a:buNone/>
            </a:pPr>
            <a:r>
              <a:rPr lang="en-US" sz="4200" b="1" dirty="0">
                <a:solidFill>
                  <a:srgbClr val="FFFFFF"/>
                </a:solidFill>
                <a:latin typeface="KPMG Bold" pitchFamily="34" charset="0"/>
                <a:ea typeface="KPMG Bold" pitchFamily="34" charset="-122"/>
                <a:cs typeface="KPMG Bold" pitchFamily="34" charset="-120"/>
              </a:rPr>
              <a:t>Inc.</a:t>
            </a:r>
            <a:endParaRPr lang="en-US" sz="4200" dirty="0"/>
          </a:p>
        </p:txBody>
      </p:sp>
      <p:sp>
        <p:nvSpPr>
          <p:cNvPr id="4" name="Text 1"/>
          <p:cNvSpPr/>
          <p:nvPr/>
        </p:nvSpPr>
        <p:spPr>
          <a:xfrm>
            <a:off x="996696" y="5010912"/>
            <a:ext cx="3694176" cy="81381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Public-company fact base synthesized for board discussion | March 2026</a:t>
            </a:r>
            <a:endParaRPr lang="en-US" sz="1400" dirty="0"/>
          </a:p>
        </p:txBody>
      </p:sp>
      <p:pic>
        <p:nvPicPr>
          <p:cNvPr id="5" name="Image 1" descr="Cover photograph">    </p:cNvPr>
          <p:cNvPicPr>
            <a:picLocks noChangeAspect="1"/>
          </p:cNvPicPr>
          <p:nvPr/>
        </p:nvPicPr>
        <p:blipFill>
          <a:blip r:embed="rId2"/>
          <a:srcRect l="4965" r="4965" t="0" b="0"/>
          <a:stretch/>
        </p:blipFill>
        <p:spPr>
          <a:xfrm>
            <a:off x="4919472" y="1453896"/>
            <a:ext cx="6281928" cy="43616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6696" y="429768"/>
            <a:ext cx="10195560" cy="5029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Extendicare should continue the services pivot, but only with tighter gates.</a:t>
            </a:r>
            <a:endParaRPr lang="en-US" sz="3200" dirty="0"/>
          </a:p>
        </p:txBody>
      </p:sp>
      <p:sp>
        <p:nvSpPr>
          <p:cNvPr id="3" name="Text 1"/>
          <p:cNvSpPr/>
          <p:nvPr/>
        </p:nvSpPr>
        <p:spPr>
          <a:xfrm>
            <a:off x="996696" y="5953100"/>
            <a:ext cx="10195560" cy="222758"/>
          </a:xfrm>
          <a:prstGeom prst="rect">
            <a:avLst/>
          </a:prstGeom>
          <a:noFill/>
          <a:ln/>
        </p:spPr>
        <p:txBody>
          <a:bodyPr wrap="square" lIns="0" tIns="0" rIns="0" bIns="0" rtlCol="0" anchor="t"/>
          <a:lstStyle/>
          <a:p>
            <a:pPr indent="0" marL="0">
              <a:buNone/>
            </a:pPr>
            <a:r>
              <a:rPr lang="en-US" sz="700" dirty="0">
                <a:solidFill>
                  <a:srgbClr val="00338D"/>
                </a:solidFill>
                <a:latin typeface="Arial" pitchFamily="34" charset="0"/>
                <a:ea typeface="Arial" pitchFamily="34" charset="-122"/>
                <a:cs typeface="Arial" pitchFamily="34" charset="-120"/>
              </a:rPr>
              <a:t>Source: Extendicare 2025 Annual Report; 2025 Annual MD&amp;A; Q4 2025 conference call slides; Extendicare investor presentation dated September 2025; Extendicare proposed CBI acquisition presentation dated November 2025; Grand View Research Canada Home Healthcare Market report; Statistics Canada; KPMG analysis. March 2026.</a:t>
            </a:r>
            <a:endParaRPr lang="en-US" sz="700" dirty="0"/>
          </a:p>
        </p:txBody>
      </p:sp>
      <p:sp>
        <p:nvSpPr>
          <p:cNvPr id="4" name="Text 2"/>
          <p:cNvSpPr/>
          <p:nvPr/>
        </p:nvSpPr>
        <p:spPr>
          <a:xfrm>
            <a:off x="996696" y="1298448"/>
            <a:ext cx="10195560" cy="868680"/>
          </a:xfrm>
          <a:prstGeom prst="rect">
            <a:avLst/>
          </a:prstGeom>
          <a:noFill/>
          <a:ln/>
        </p:spPr>
        <p:txBody>
          <a:bodyPr wrap="square" lIns="0" tIns="0" rIns="0" bIns="0" rtlCol="0" anchor="t"/>
          <a:lstStyle/>
          <a:p>
            <a:pPr indent="0" marL="0">
              <a:spcAft>
                <a:spcPts val="400"/>
              </a:spcAft>
              <a:buNone/>
            </a:pPr>
            <a:r>
              <a:rPr lang="en-US" sz="1000" dirty="0">
                <a:solidFill>
                  <a:srgbClr val="000000"/>
                </a:solidFill>
                <a:latin typeface="Arial" pitchFamily="34" charset="0"/>
                <a:ea typeface="Arial" pitchFamily="34" charset="-122"/>
                <a:cs typeface="Arial" pitchFamily="34" charset="-120"/>
              </a:rPr>
              <a:t>FY2025 gave the board the proof point it needed that Extendicare's post-2023 portfolio shift is working: revenue reached C$1,660.4M, adjusted EBITDA reached C$175.6M, home health care hours reached 13.0M, and LTC occupancy held at 98.1%. The strategic question is no longer whether the company should pivot toward services; it is whether the board will let management accelerate that pivot before labour retention, data integration, and capital-allocation disciplines are mature enough to protect returns.</a:t>
            </a:r>
            <a:endParaRPr lang="en-US" sz="1000" dirty="0"/>
          </a:p>
        </p:txBody>
      </p:sp>
      <p:sp>
        <p:nvSpPr>
          <p:cNvPr id="5" name="Text 3"/>
          <p:cNvSpPr/>
          <p:nvPr/>
        </p:nvSpPr>
        <p:spPr>
          <a:xfrm>
            <a:off x="996696" y="2331720"/>
            <a:ext cx="10195560" cy="201168"/>
          </a:xfrm>
          <a:prstGeom prst="rect">
            <a:avLst/>
          </a:prstGeom>
          <a:noFill/>
          <a:ln/>
        </p:spPr>
        <p:txBody>
          <a:bodyPr wrap="square" lIns="0" tIns="0" rIns="0" bIns="0" rtlCol="0" anchor="ctr"/>
          <a:lstStyle/>
          <a:p>
            <a:pPr indent="0" marL="0">
              <a:buNone/>
            </a:pPr>
            <a:r>
              <a:rPr lang="en-US" sz="1100" b="1" dirty="0">
                <a:solidFill>
                  <a:srgbClr val="0C233C"/>
                </a:solidFill>
                <a:latin typeface="Arial" pitchFamily="34" charset="0"/>
                <a:ea typeface="Arial" pitchFamily="34" charset="-122"/>
                <a:cs typeface="Arial" pitchFamily="34" charset="-120"/>
              </a:rPr>
              <a:t>Four conclusions should frame the discussion:</a:t>
            </a:r>
            <a:endParaRPr lang="en-US" sz="1100" dirty="0"/>
          </a:p>
        </p:txBody>
      </p:sp>
      <p:sp>
        <p:nvSpPr>
          <p:cNvPr id="6" name="Text 4"/>
          <p:cNvSpPr/>
          <p:nvPr/>
        </p:nvSpPr>
        <p:spPr>
          <a:xfrm>
            <a:off x="996696" y="2743200"/>
            <a:ext cx="10195560" cy="2103120"/>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operating model is improving. Revenue grew 13.2% in FY2025, adjusted EBITDA margin expanded to 10.6%, and the company delivered record home health volumes, which together indicate that the services mix is adding scale and leverage rather than diluting profitability.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market backdrop is attractive. Canada's home healthcare market was estimated at US$14.5B in 2024 and projected to reach US$27.4B by 2030, while Canadians aged 85+ could almost triple by 2046, which supports sustained demand for home care, managed services, and redeveloped LTC capacity.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Execution risk has shifted from strategy to sequencing. Extendicare can likely create more value by integrating recent acquisitions, gating new redevelopment starts, and making data and workforce metrics board-visible before committing to another major acceleration step.</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board therefore needs one clear stance: approve a gated-services strategy that preserves the pivot, requires milestone-based capital release, and forces quarterly trade-off decisions across M&amp;A, redevelopment, labour, and digital enablement.</a:t>
            </a:r>
            <a:endParaRPr lang="en-US" sz="1000" dirty="0"/>
          </a:p>
        </p:txBody>
      </p:sp>
      <p:sp>
        <p:nvSpPr>
          <p:cNvPr id="7" name="Text 5"/>
          <p:cNvSpPr/>
          <p:nvPr/>
        </p:nvSpPr>
        <p:spPr>
          <a:xfrm>
            <a:off x="996696" y="4974336"/>
            <a:ext cx="10195560" cy="512064"/>
          </a:xfrm>
          <a:prstGeom prst="rect">
            <a:avLst/>
          </a:prstGeom>
          <a:noFill/>
          <a:ln/>
        </p:spPr>
        <p:txBody>
          <a:bodyPr wrap="square" lIns="0" tIns="0" rIns="0" bIns="0" rtlCol="0" anchor="t"/>
          <a:lstStyle/>
          <a:p>
            <a:pPr indent="0" marL="0">
              <a:spcAft>
                <a:spcPts val="400"/>
              </a:spcAft>
              <a:buNone/>
            </a:pPr>
            <a:r>
              <a:rPr lang="en-US" sz="1000" dirty="0">
                <a:solidFill>
                  <a:srgbClr val="000000"/>
                </a:solidFill>
                <a:latin typeface="Arial" pitchFamily="34" charset="0"/>
                <a:ea typeface="Arial" pitchFamily="34" charset="-122"/>
                <a:cs typeface="Arial" pitchFamily="34" charset="-120"/>
              </a:rPr>
              <a:t>The strategic direction is right, but the next leg of value creation should be released only when integration, labour, and data proof points are met.</a:t>
            </a:r>
            <a:endParaRPr lang="en-US" sz="1000" dirty="0"/>
          </a:p>
        </p:txBody>
      </p:sp>
      <p:sp>
        <p:nvSpPr>
          <p:cNvPr id="8" name="Shape 6"/>
          <p:cNvSpPr/>
          <p:nvPr/>
        </p:nvSpPr>
        <p:spPr>
          <a:xfrm>
            <a:off x="996696" y="5596128"/>
            <a:ext cx="10195560" cy="530352"/>
          </a:xfrm>
          <a:prstGeom prst="rect">
            <a:avLst>
              <a:gd name="adj" fmla="val 13793"/>
            </a:avLst>
          </a:prstGeom>
          <a:solidFill>
            <a:srgbClr val="0C233C"/>
          </a:solidFill>
          <a:ln w="12700">
            <a:solidFill>
              <a:srgbClr val="0C233C"/>
            </a:solidFill>
            <a:prstDash val="solid"/>
          </a:ln>
        </p:spPr>
      </p:sp>
      <p:sp>
        <p:nvSpPr>
          <p:cNvPr id="9" name="Text 7"/>
          <p:cNvSpPr/>
          <p:nvPr/>
        </p:nvSpPr>
        <p:spPr>
          <a:xfrm>
            <a:off x="1161288" y="5650992"/>
            <a:ext cx="986637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Board ask: endorse the services-led strategy, but tie future capital deployment to explicit gates on retention, systems integration, redevelopment returns, and margin preservation.</a:t>
            </a:r>
            <a:endParaRPr lang="en-US" sz="1300" dirty="0"/>
          </a:p>
        </p:txBody>
      </p:sp>
      <p:sp>
        <p:nvSpPr>
          <p:cNvPr id="10"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6696" y="429768"/>
            <a:ext cx="10195560" cy="5029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Three facts show the pivot is working; the remaining issue is sequencing.</a:t>
            </a:r>
            <a:endParaRPr lang="en-US" sz="3200" dirty="0"/>
          </a:p>
        </p:txBody>
      </p:sp>
      <p:sp>
        <p:nvSpPr>
          <p:cNvPr id="3" name="Text 1"/>
          <p:cNvSpPr/>
          <p:nvPr/>
        </p:nvSpPr>
        <p:spPr>
          <a:xfrm>
            <a:off x="996696" y="5953100"/>
            <a:ext cx="10195560" cy="222758"/>
          </a:xfrm>
          <a:prstGeom prst="rect">
            <a:avLst/>
          </a:prstGeom>
          <a:noFill/>
          <a:ln/>
        </p:spPr>
        <p:txBody>
          <a:bodyPr wrap="square" lIns="0" tIns="0" rIns="0" bIns="0" rtlCol="0" anchor="t"/>
          <a:lstStyle/>
          <a:p>
            <a:pPr indent="0" marL="0">
              <a:buNone/>
            </a:pPr>
            <a:r>
              <a:rPr lang="en-US" sz="700" dirty="0">
                <a:solidFill>
                  <a:srgbClr val="00338D"/>
                </a:solidFill>
                <a:latin typeface="Arial" pitchFamily="34" charset="0"/>
                <a:ea typeface="Arial" pitchFamily="34" charset="-122"/>
                <a:cs typeface="Arial" pitchFamily="34" charset="-120"/>
              </a:rPr>
              <a:t>Source: Extendicare 2025 Annual Report; Q4 2025 conference call slides; Extendicare investor presentation dated September 2025; Extendicare proposed CBI acquisition presentation dated November 2025; Grand View Research Canada Home Healthcare Market report; Statistics Canada; KPMG analysis. March 2026.</a:t>
            </a:r>
            <a:endParaRPr lang="en-US" sz="700" dirty="0"/>
          </a:p>
        </p:txBody>
      </p:sp>
      <p:sp>
        <p:nvSpPr>
          <p:cNvPr id="4" name="Shape 2"/>
          <p:cNvSpPr/>
          <p:nvPr/>
        </p:nvSpPr>
        <p:spPr>
          <a:xfrm>
            <a:off x="996696" y="2029968"/>
            <a:ext cx="3154680" cy="3310128"/>
          </a:xfrm>
          <a:prstGeom prst="rect">
            <a:avLst/>
          </a:prstGeom>
          <a:solidFill>
            <a:srgbClr val="FFFFFF"/>
          </a:solidFill>
          <a:ln w="8890">
            <a:solidFill>
              <a:srgbClr val="D9D9D9"/>
            </a:solidFill>
            <a:prstDash val="solid"/>
          </a:ln>
        </p:spPr>
      </p:sp>
      <p:sp>
        <p:nvSpPr>
          <p:cNvPr id="5" name="Text 3"/>
          <p:cNvSpPr/>
          <p:nvPr/>
        </p:nvSpPr>
        <p:spPr>
          <a:xfrm>
            <a:off x="2409444" y="2048256"/>
            <a:ext cx="329184" cy="329184"/>
          </a:xfrm>
          <a:prstGeom prst="ellipse">
            <a:avLst/>
          </a:prstGeom>
          <a:solidFill>
            <a:srgbClr val="1E49E2"/>
          </a:solidFill>
          <a:ln/>
        </p:spPr>
        <p:txBody>
          <a:bodyPr wrap="non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13.2%</a:t>
            </a:r>
            <a:endParaRPr lang="en-US" sz="1000" dirty="0"/>
          </a:p>
        </p:txBody>
      </p:sp>
      <p:sp>
        <p:nvSpPr>
          <p:cNvPr id="6" name="Text 4"/>
          <p:cNvSpPr/>
          <p:nvPr/>
        </p:nvSpPr>
        <p:spPr>
          <a:xfrm>
            <a:off x="1088136" y="2505456"/>
            <a:ext cx="2971800" cy="384048"/>
          </a:xfrm>
          <a:prstGeom prst="rect">
            <a:avLst/>
          </a:prstGeom>
          <a:noFill/>
          <a:ln/>
        </p:spPr>
        <p:txBody>
          <a:bodyPr wrap="square" lIns="0" tIns="0" rIns="0" bIns="0" rtlCol="0" anchor="ctr"/>
          <a:lstStyle/>
          <a:p>
            <a:pPr algn="ctr" indent="0" marL="0">
              <a:buNone/>
            </a:pPr>
            <a:r>
              <a:rPr lang="en-US" sz="1700" b="1" dirty="0">
                <a:solidFill>
                  <a:srgbClr val="0C233C"/>
                </a:solidFill>
                <a:latin typeface="Arial" pitchFamily="34" charset="0"/>
                <a:ea typeface="Arial" pitchFamily="34" charset="-122"/>
                <a:cs typeface="Arial" pitchFamily="34" charset="-120"/>
              </a:rPr>
              <a:t>Operating proof</a:t>
            </a:r>
            <a:endParaRPr lang="en-US" sz="1700" dirty="0"/>
          </a:p>
        </p:txBody>
      </p:sp>
      <p:sp>
        <p:nvSpPr>
          <p:cNvPr id="7" name="Shape 5"/>
          <p:cNvSpPr/>
          <p:nvPr/>
        </p:nvSpPr>
        <p:spPr>
          <a:xfrm>
            <a:off x="996696" y="2999232"/>
            <a:ext cx="3154680" cy="0"/>
          </a:xfrm>
          <a:prstGeom prst="line">
            <a:avLst/>
          </a:prstGeom>
          <a:noFill/>
          <a:ln w="15240">
            <a:solidFill>
              <a:srgbClr val="00338D"/>
            </a:solidFill>
            <a:prstDash val="solid"/>
          </a:ln>
        </p:spPr>
      </p:sp>
      <p:sp>
        <p:nvSpPr>
          <p:cNvPr id="8" name="Text 6"/>
          <p:cNvSpPr/>
          <p:nvPr/>
        </p:nvSpPr>
        <p:spPr>
          <a:xfrm>
            <a:off x="1088136" y="3108960"/>
            <a:ext cx="2971800" cy="2121408"/>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Revenue grew 13.2% in FY2025 to C$1,660.4M and adjusted EBITDA reached C$175.6M, extending the post-2023 improvement in scale and profitability.</a:t>
            </a:r>
            <a:endParaRPr lang="en-US" sz="900" dirty="0"/>
          </a:p>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Home health care hours reached 13.0M and second-half run-rate exceeded 14M annualized, giving the board a current proof point rather than a future-only thesis.</a:t>
            </a:r>
            <a:endParaRPr lang="en-US" sz="900" dirty="0"/>
          </a:p>
        </p:txBody>
      </p:sp>
      <p:sp>
        <p:nvSpPr>
          <p:cNvPr id="9" name="Shape 7"/>
          <p:cNvSpPr/>
          <p:nvPr/>
        </p:nvSpPr>
        <p:spPr>
          <a:xfrm>
            <a:off x="4517136" y="2029968"/>
            <a:ext cx="3154680" cy="3310128"/>
          </a:xfrm>
          <a:prstGeom prst="rect">
            <a:avLst/>
          </a:prstGeom>
          <a:solidFill>
            <a:srgbClr val="FFFFFF"/>
          </a:solidFill>
          <a:ln w="8890">
            <a:solidFill>
              <a:srgbClr val="D9D9D9"/>
            </a:solidFill>
            <a:prstDash val="solid"/>
          </a:ln>
        </p:spPr>
      </p:sp>
      <p:sp>
        <p:nvSpPr>
          <p:cNvPr id="10" name="Text 8"/>
          <p:cNvSpPr/>
          <p:nvPr/>
        </p:nvSpPr>
        <p:spPr>
          <a:xfrm>
            <a:off x="5929884" y="2048256"/>
            <a:ext cx="329184" cy="329184"/>
          </a:xfrm>
          <a:prstGeom prst="ellipse">
            <a:avLst/>
          </a:prstGeom>
          <a:solidFill>
            <a:srgbClr val="1E49E2"/>
          </a:solidFill>
          <a:ln/>
        </p:spPr>
        <p:txBody>
          <a:bodyPr wrap="non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$27B</a:t>
            </a:r>
            <a:endParaRPr lang="en-US" sz="1000" dirty="0"/>
          </a:p>
        </p:txBody>
      </p:sp>
      <p:sp>
        <p:nvSpPr>
          <p:cNvPr id="11" name="Text 9"/>
          <p:cNvSpPr/>
          <p:nvPr/>
        </p:nvSpPr>
        <p:spPr>
          <a:xfrm>
            <a:off x="4608576" y="2505456"/>
            <a:ext cx="2971800" cy="384048"/>
          </a:xfrm>
          <a:prstGeom prst="rect">
            <a:avLst/>
          </a:prstGeom>
          <a:noFill/>
          <a:ln/>
        </p:spPr>
        <p:txBody>
          <a:bodyPr wrap="square" lIns="0" tIns="0" rIns="0" bIns="0" rtlCol="0" anchor="ctr"/>
          <a:lstStyle/>
          <a:p>
            <a:pPr algn="ctr" indent="0" marL="0">
              <a:buNone/>
            </a:pPr>
            <a:r>
              <a:rPr lang="en-US" sz="1700" b="1" dirty="0">
                <a:solidFill>
                  <a:srgbClr val="0C233C"/>
                </a:solidFill>
                <a:latin typeface="Arial" pitchFamily="34" charset="0"/>
                <a:ea typeface="Arial" pitchFamily="34" charset="-122"/>
                <a:cs typeface="Arial" pitchFamily="34" charset="-120"/>
              </a:rPr>
              <a:t>Market support</a:t>
            </a:r>
            <a:endParaRPr lang="en-US" sz="1700" dirty="0"/>
          </a:p>
        </p:txBody>
      </p:sp>
      <p:sp>
        <p:nvSpPr>
          <p:cNvPr id="12" name="Shape 10"/>
          <p:cNvSpPr/>
          <p:nvPr/>
        </p:nvSpPr>
        <p:spPr>
          <a:xfrm>
            <a:off x="4517136" y="2999232"/>
            <a:ext cx="3154680" cy="0"/>
          </a:xfrm>
          <a:prstGeom prst="line">
            <a:avLst/>
          </a:prstGeom>
          <a:noFill/>
          <a:ln w="15240">
            <a:solidFill>
              <a:srgbClr val="00338D"/>
            </a:solidFill>
            <a:prstDash val="solid"/>
          </a:ln>
        </p:spPr>
      </p:sp>
      <p:sp>
        <p:nvSpPr>
          <p:cNvPr id="13" name="Text 11"/>
          <p:cNvSpPr/>
          <p:nvPr/>
        </p:nvSpPr>
        <p:spPr>
          <a:xfrm>
            <a:off x="4608576" y="3108960"/>
            <a:ext cx="2971800" cy="2121408"/>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Canada's home healthcare market was estimated at US$14.5B in 2024 and projected to reach US$27.4B by 2030, supporting continued services-led expansion.</a:t>
            </a:r>
            <a:endParaRPr lang="en-US" sz="900" dirty="0"/>
          </a:p>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Statistics Canada projects the 85+ population to rise from 861,000 in 2021 to nearly 2.5M by 2046, sustaining demand across home care, managed services, and newer LTC capacity.</a:t>
            </a:r>
            <a:endParaRPr lang="en-US" sz="900" dirty="0"/>
          </a:p>
        </p:txBody>
      </p:sp>
      <p:sp>
        <p:nvSpPr>
          <p:cNvPr id="14" name="Shape 12"/>
          <p:cNvSpPr/>
          <p:nvPr/>
        </p:nvSpPr>
        <p:spPr>
          <a:xfrm>
            <a:off x="8037576" y="2029968"/>
            <a:ext cx="3145536" cy="3310128"/>
          </a:xfrm>
          <a:prstGeom prst="rect">
            <a:avLst/>
          </a:prstGeom>
          <a:solidFill>
            <a:srgbClr val="FFFFFF"/>
          </a:solidFill>
          <a:ln w="8890">
            <a:solidFill>
              <a:srgbClr val="D9D9D9"/>
            </a:solidFill>
            <a:prstDash val="solid"/>
          </a:ln>
        </p:spPr>
      </p:sp>
      <p:sp>
        <p:nvSpPr>
          <p:cNvPr id="15" name="Text 13"/>
          <p:cNvSpPr/>
          <p:nvPr/>
        </p:nvSpPr>
        <p:spPr>
          <a:xfrm>
            <a:off x="9445752" y="2048256"/>
            <a:ext cx="329184" cy="329184"/>
          </a:xfrm>
          <a:prstGeom prst="ellipse">
            <a:avLst/>
          </a:prstGeom>
          <a:solidFill>
            <a:srgbClr val="1E49E2"/>
          </a:solidFill>
          <a:ln/>
        </p:spPr>
        <p:txBody>
          <a:bodyPr wrap="non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Gate</a:t>
            </a:r>
            <a:endParaRPr lang="en-US" sz="1000" dirty="0"/>
          </a:p>
        </p:txBody>
      </p:sp>
      <p:sp>
        <p:nvSpPr>
          <p:cNvPr id="16" name="Text 14"/>
          <p:cNvSpPr/>
          <p:nvPr/>
        </p:nvSpPr>
        <p:spPr>
          <a:xfrm>
            <a:off x="8129016" y="2505456"/>
            <a:ext cx="2962656" cy="384048"/>
          </a:xfrm>
          <a:prstGeom prst="rect">
            <a:avLst/>
          </a:prstGeom>
          <a:noFill/>
          <a:ln/>
        </p:spPr>
        <p:txBody>
          <a:bodyPr wrap="square" lIns="0" tIns="0" rIns="0" bIns="0" rtlCol="0" anchor="ctr"/>
          <a:lstStyle/>
          <a:p>
            <a:pPr algn="ctr" indent="0" marL="0">
              <a:buNone/>
            </a:pPr>
            <a:r>
              <a:rPr lang="en-US" sz="1700" b="1" dirty="0">
                <a:solidFill>
                  <a:srgbClr val="0C233C"/>
                </a:solidFill>
                <a:latin typeface="Arial" pitchFamily="34" charset="0"/>
                <a:ea typeface="Arial" pitchFamily="34" charset="-122"/>
                <a:cs typeface="Arial" pitchFamily="34" charset="-120"/>
              </a:rPr>
              <a:t>Board implication</a:t>
            </a:r>
            <a:endParaRPr lang="en-US" sz="1700" dirty="0"/>
          </a:p>
        </p:txBody>
      </p:sp>
      <p:sp>
        <p:nvSpPr>
          <p:cNvPr id="17" name="Shape 15"/>
          <p:cNvSpPr/>
          <p:nvPr/>
        </p:nvSpPr>
        <p:spPr>
          <a:xfrm>
            <a:off x="8037576" y="2999232"/>
            <a:ext cx="3145536" cy="0"/>
          </a:xfrm>
          <a:prstGeom prst="line">
            <a:avLst/>
          </a:prstGeom>
          <a:noFill/>
          <a:ln w="15240">
            <a:solidFill>
              <a:srgbClr val="00338D"/>
            </a:solidFill>
            <a:prstDash val="solid"/>
          </a:ln>
        </p:spPr>
      </p:sp>
      <p:sp>
        <p:nvSpPr>
          <p:cNvPr id="18" name="Text 16"/>
          <p:cNvSpPr/>
          <p:nvPr/>
        </p:nvSpPr>
        <p:spPr>
          <a:xfrm>
            <a:off x="8129016" y="3108960"/>
            <a:ext cx="2962656" cy="2121408"/>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The risk has shifted from whether the pivot works to whether management can integrate acquisitions, redevelop selectively, and keep labour and controls intact.</a:t>
            </a:r>
            <a:endParaRPr lang="en-US" sz="900" dirty="0"/>
          </a:p>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The board should therefore sequence growth through one common scorecard and higher capital-release hurdles rather than funding every vector at once.</a:t>
            </a:r>
            <a:endParaRPr lang="en-US" sz="900" dirty="0"/>
          </a:p>
        </p:txBody>
      </p:sp>
      <p:sp>
        <p:nvSpPr>
          <p:cNvPr id="19" name="Shape 17"/>
          <p:cNvSpPr/>
          <p:nvPr/>
        </p:nvSpPr>
        <p:spPr>
          <a:xfrm>
            <a:off x="996696" y="5449824"/>
            <a:ext cx="10195560" cy="603504"/>
          </a:xfrm>
          <a:prstGeom prst="rect">
            <a:avLst>
              <a:gd name="adj" fmla="val 12121"/>
            </a:avLst>
          </a:prstGeom>
          <a:solidFill>
            <a:srgbClr val="0C233C"/>
          </a:solidFill>
          <a:ln w="12700">
            <a:solidFill>
              <a:srgbClr val="0C233C"/>
            </a:solidFill>
            <a:prstDash val="solid"/>
          </a:ln>
        </p:spPr>
      </p:sp>
      <p:sp>
        <p:nvSpPr>
          <p:cNvPr id="20" name="Text 18"/>
          <p:cNvSpPr/>
          <p:nvPr/>
        </p:nvSpPr>
        <p:spPr>
          <a:xfrm>
            <a:off x="1161288" y="5522976"/>
            <a:ext cx="986637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 pivot is economically credible and market-supported; the board's decision is now whether Extendicare has earned the right to accelerate, not whether it should remain in services.</a:t>
            </a:r>
            <a:endParaRPr lang="en-US" sz="1300" dirty="0"/>
          </a:p>
        </p:txBody>
      </p:sp>
      <p:sp>
        <p:nvSpPr>
          <p:cNvPr id="21" name="Text 1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6696" y="429768"/>
            <a:ext cx="10195560" cy="5029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FY2025 validated the pivot with higher revenue, margin, and care volumes.</a:t>
            </a:r>
            <a:endParaRPr lang="en-US" sz="3200" dirty="0"/>
          </a:p>
        </p:txBody>
      </p:sp>
      <p:sp>
        <p:nvSpPr>
          <p:cNvPr id="3" name="Text 1"/>
          <p:cNvSpPr/>
          <p:nvPr/>
        </p:nvSpPr>
        <p:spPr>
          <a:xfrm>
            <a:off x="996696" y="5974690"/>
            <a:ext cx="10195560" cy="201168"/>
          </a:xfrm>
          <a:prstGeom prst="rect">
            <a:avLst/>
          </a:prstGeom>
          <a:noFill/>
          <a:ln/>
        </p:spPr>
        <p:txBody>
          <a:bodyPr wrap="square" lIns="0" tIns="0" rIns="0" bIns="0" rtlCol="0" anchor="t"/>
          <a:lstStyle/>
          <a:p>
            <a:pPr indent="0" marL="0">
              <a:buNone/>
            </a:pPr>
            <a:r>
              <a:rPr lang="en-US" sz="700" dirty="0">
                <a:solidFill>
                  <a:srgbClr val="00338D"/>
                </a:solidFill>
                <a:latin typeface="Arial" pitchFamily="34" charset="0"/>
                <a:ea typeface="Arial" pitchFamily="34" charset="-122"/>
                <a:cs typeface="Arial" pitchFamily="34" charset="-120"/>
              </a:rPr>
              <a:t>Source: Extendicare 2025 Annual Report; 2025 Annual MD&amp;A; Q4 2025 conference call slides. March 2026.</a:t>
            </a:r>
            <a:endParaRPr lang="en-US" sz="700" dirty="0"/>
          </a:p>
        </p:txBody>
      </p:sp>
      <p:sp>
        <p:nvSpPr>
          <p:cNvPr id="4" name="Text 2"/>
          <p:cNvSpPr/>
          <p:nvPr/>
        </p:nvSpPr>
        <p:spPr>
          <a:xfrm>
            <a:off x="1261872" y="1298448"/>
            <a:ext cx="6391656" cy="274320"/>
          </a:xfrm>
          <a:prstGeom prst="rect">
            <a:avLst/>
          </a:prstGeom>
          <a:noFill/>
          <a:ln/>
        </p:spPr>
        <p:txBody>
          <a:bodyPr wrap="square" lIns="0" tIns="0" rIns="0" bIns="0" rtlCol="0" anchor="ctr"/>
          <a:lstStyle/>
          <a:p>
            <a:pPr algn="ctr" indent="0" marL="0">
              <a:buNone/>
            </a:pPr>
            <a:r>
              <a:rPr lang="en-US" sz="1000" b="1" dirty="0">
                <a:solidFill>
                  <a:srgbClr val="0C233C"/>
                </a:solidFill>
                <a:latin typeface="Arial" pitchFamily="34" charset="0"/>
                <a:ea typeface="Arial" pitchFamily="34" charset="-122"/>
                <a:cs typeface="Arial" pitchFamily="34" charset="-120"/>
              </a:rPr>
              <a:t>Revenue trend, 2022-2025</a:t>
            </a:r>
            <a:endParaRPr lang="en-US" sz="1000" dirty="0"/>
          </a:p>
        </p:txBody>
      </p:sp>
      <p:graphicFrame>
        <p:nvGraphicFramePr>
          <p:cNvPr id="5" name="Chart 0" descr=""/>
          <p:cNvGraphicFramePr/>
          <p:nvPr/>
        </p:nvGraphicFramePr>
        <p:xfrm>
          <a:off x="996696" y="1700784"/>
          <a:ext cx="6711696" cy="3858768"/>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73568" y="1408176"/>
            <a:ext cx="2971800" cy="4151376"/>
          </a:xfrm>
          <a:prstGeom prst="rect">
            <a:avLst/>
          </a:prstGeom>
          <a:solidFill>
            <a:srgbClr val="F7F9FC"/>
          </a:solidFill>
          <a:ln w="6350">
            <a:solidFill>
              <a:srgbClr val="D9D9D9"/>
            </a:solidFill>
            <a:prstDash val="solid"/>
          </a:ln>
        </p:spPr>
      </p:sp>
      <p:sp>
        <p:nvSpPr>
          <p:cNvPr id="7" name="Text 4"/>
          <p:cNvSpPr/>
          <p:nvPr/>
        </p:nvSpPr>
        <p:spPr>
          <a:xfrm>
            <a:off x="8019288" y="1444752"/>
            <a:ext cx="2880360" cy="256032"/>
          </a:xfrm>
          <a:prstGeom prst="rect">
            <a:avLst/>
          </a:prstGeom>
          <a:noFill/>
          <a:ln/>
        </p:spPr>
        <p:txBody>
          <a:bodyPr wrap="square" lIns="0" tIns="0" rIns="0" bIns="0" rtlCol="0" anchor="ctr"/>
          <a:lstStyle/>
          <a:p>
            <a:pPr indent="0" marL="0">
              <a:buNone/>
            </a:pPr>
            <a:r>
              <a:rPr lang="en-US" sz="1000" b="1" dirty="0">
                <a:solidFill>
                  <a:srgbClr val="0C233C"/>
                </a:solidFill>
                <a:latin typeface="Arial" pitchFamily="34" charset="0"/>
                <a:ea typeface="Arial" pitchFamily="34" charset="-122"/>
                <a:cs typeface="Arial" pitchFamily="34" charset="-120"/>
              </a:rPr>
              <a:t>What FY2025 proves</a:t>
            </a:r>
            <a:endParaRPr lang="en-US" sz="1000" dirty="0"/>
          </a:p>
        </p:txBody>
      </p:sp>
      <p:sp>
        <p:nvSpPr>
          <p:cNvPr id="8" name="Text 5"/>
          <p:cNvSpPr/>
          <p:nvPr/>
        </p:nvSpPr>
        <p:spPr>
          <a:xfrm>
            <a:off x="8019288" y="1810512"/>
            <a:ext cx="2880360" cy="3675888"/>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increased from C$1,221.6M in 2022 to C$1,660.4M in 2025, showing that growth accelerated after the services platform broadened.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Adjusted EBITDA margin improved from 7.3% in 2023 to 10.6% in 2025, indicating the newer mix is adding leverage rather than only adding volume.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LTC occupancy averaged 98.1% in 2025 and home health care hours reached a record 13.0M, giving the board a current operating proof point for the pivot.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strategic proof point is largely earned; the next board question is whether pace can stay behind systems, labour, and control maturity.</a:t>
            </a:r>
            <a:endParaRPr lang="en-US" sz="1000" dirty="0"/>
          </a:p>
        </p:txBody>
      </p:sp>
      <p:sp>
        <p:nvSpPr>
          <p:cNvPr id="9" name="Shape 6"/>
          <p:cNvSpPr/>
          <p:nvPr/>
        </p:nvSpPr>
        <p:spPr>
          <a:xfrm>
            <a:off x="996696" y="5559552"/>
            <a:ext cx="10195560" cy="530352"/>
          </a:xfrm>
          <a:prstGeom prst="rect">
            <a:avLst>
              <a:gd name="adj" fmla="val 13793"/>
            </a:avLst>
          </a:prstGeom>
          <a:solidFill>
            <a:srgbClr val="0C233C"/>
          </a:solidFill>
          <a:ln w="12700">
            <a:solidFill>
              <a:srgbClr val="0C233C"/>
            </a:solidFill>
            <a:prstDash val="solid"/>
          </a:ln>
        </p:spPr>
      </p:sp>
      <p:sp>
        <p:nvSpPr>
          <p:cNvPr id="10" name="Text 7"/>
          <p:cNvSpPr/>
          <p:nvPr/>
        </p:nvSpPr>
        <p:spPr>
          <a:xfrm>
            <a:off x="1161288" y="5605272"/>
            <a:ext cx="9866376"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 pivot is now evidenced in revenue, margin, and utilization at the same time, so the board should govern for quality of scaling rather than rediscovering the strategy.</a:t>
            </a:r>
            <a:endParaRPr lang="en-US" sz="13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6696" y="429768"/>
            <a:ext cx="10195560" cy="7315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A gated services path is best because it preserves upside and caps risk.</a:t>
            </a:r>
            <a:endParaRPr lang="en-US" sz="3200" dirty="0"/>
          </a:p>
        </p:txBody>
      </p:sp>
      <p:sp>
        <p:nvSpPr>
          <p:cNvPr id="3" name="Text 1"/>
          <p:cNvSpPr/>
          <p:nvPr/>
        </p:nvSpPr>
        <p:spPr>
          <a:xfrm>
            <a:off x="996696" y="1124712"/>
            <a:ext cx="10195560" cy="27432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real strategic choice is pace, not direction. Accelerating every growth vector at once would maximize headline ambition, but the stronger board position is to keep the services pivot while releasing additional capital only after clear operating proof points are met.</a:t>
            </a:r>
            <a:endParaRPr lang="en-US" sz="1000" dirty="0"/>
          </a:p>
        </p:txBody>
      </p:sp>
      <p:sp>
        <p:nvSpPr>
          <p:cNvPr id="4" name="Text 2"/>
          <p:cNvSpPr/>
          <p:nvPr/>
        </p:nvSpPr>
        <p:spPr>
          <a:xfrm>
            <a:off x="3970020" y="1481328"/>
            <a:ext cx="320040" cy="320040"/>
          </a:xfrm>
          <a:prstGeom prst="ellipse">
            <a:avLst/>
          </a:prstGeom>
          <a:solidFill>
            <a:srgbClr val="00338D"/>
          </a:solidFill>
          <a:ln/>
        </p:spPr>
        <p:txBody>
          <a:bodyPr wrap="non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a:t>
            </a:r>
            <a:endParaRPr lang="en-US" sz="800" dirty="0"/>
          </a:p>
        </p:txBody>
      </p:sp>
      <p:sp>
        <p:nvSpPr>
          <p:cNvPr id="5" name="Text 3"/>
          <p:cNvSpPr/>
          <p:nvPr/>
        </p:nvSpPr>
        <p:spPr>
          <a:xfrm>
            <a:off x="2724912" y="1819656"/>
            <a:ext cx="2810256" cy="292608"/>
          </a:xfrm>
          <a:prstGeom prst="rect">
            <a:avLst/>
          </a:prstGeom>
          <a:noFill/>
          <a:ln/>
        </p:spPr>
        <p:txBody>
          <a:bodyPr wrap="square" lIns="46800" tIns="72000" rIns="90000" bIns="46800" rtlCol="0" anchor="t">
            <a:normAutofit/>
          </a:bodyPr>
          <a:lstStyle/>
          <a:p>
            <a:pPr algn="ctr" indent="0" marL="0">
              <a:buNone/>
            </a:pPr>
            <a:r>
              <a:rPr lang="en-US" sz="1000" b="1" dirty="0">
                <a:solidFill>
                  <a:srgbClr val="00338D"/>
                </a:solidFill>
                <a:latin typeface="Arial" pitchFamily="34" charset="0"/>
                <a:ea typeface="Arial" pitchFamily="34" charset="-122"/>
                <a:cs typeface="Arial" pitchFamily="34" charset="-120"/>
              </a:rPr>
              <a:t>Accelerate now</a:t>
            </a:r>
            <a:endParaRPr lang="en-US" sz="1000" dirty="0"/>
          </a:p>
        </p:txBody>
      </p:sp>
      <p:sp>
        <p:nvSpPr>
          <p:cNvPr id="6" name="Shape 4"/>
          <p:cNvSpPr/>
          <p:nvPr/>
        </p:nvSpPr>
        <p:spPr>
          <a:xfrm>
            <a:off x="2724912" y="2066544"/>
            <a:ext cx="2810256" cy="0"/>
          </a:xfrm>
          <a:prstGeom prst="line">
            <a:avLst/>
          </a:prstGeom>
          <a:noFill/>
          <a:ln w="19050">
            <a:solidFill>
              <a:srgbClr val="00338D"/>
            </a:solidFill>
            <a:prstDash val="solid"/>
          </a:ln>
        </p:spPr>
      </p:sp>
      <p:sp>
        <p:nvSpPr>
          <p:cNvPr id="7" name="Text 5"/>
          <p:cNvSpPr/>
          <p:nvPr/>
        </p:nvSpPr>
        <p:spPr>
          <a:xfrm>
            <a:off x="6816852" y="1481328"/>
            <a:ext cx="320040" cy="320040"/>
          </a:xfrm>
          <a:prstGeom prst="ellipse">
            <a:avLst/>
          </a:prstGeom>
          <a:solidFill>
            <a:srgbClr val="00338D"/>
          </a:solidFill>
          <a:ln/>
        </p:spPr>
        <p:txBody>
          <a:bodyPr wrap="non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B</a:t>
            </a:r>
            <a:endParaRPr lang="en-US" sz="800" dirty="0"/>
          </a:p>
        </p:txBody>
      </p:sp>
      <p:sp>
        <p:nvSpPr>
          <p:cNvPr id="8" name="Text 6"/>
          <p:cNvSpPr/>
          <p:nvPr/>
        </p:nvSpPr>
        <p:spPr>
          <a:xfrm>
            <a:off x="5571744" y="1819656"/>
            <a:ext cx="2810256" cy="292608"/>
          </a:xfrm>
          <a:prstGeom prst="rect">
            <a:avLst/>
          </a:prstGeom>
          <a:noFill/>
          <a:ln/>
        </p:spPr>
        <p:txBody>
          <a:bodyPr wrap="square" lIns="46800" tIns="72000" rIns="90000" bIns="46800" rtlCol="0" anchor="t">
            <a:normAutofit/>
          </a:bodyPr>
          <a:lstStyle/>
          <a:p>
            <a:pPr algn="ctr" indent="0" marL="0">
              <a:buNone/>
            </a:pPr>
            <a:r>
              <a:rPr lang="en-US" sz="1000" b="1" dirty="0">
                <a:solidFill>
                  <a:srgbClr val="00338D"/>
                </a:solidFill>
                <a:latin typeface="Arial" pitchFamily="34" charset="0"/>
                <a:ea typeface="Arial" pitchFamily="34" charset="-122"/>
                <a:cs typeface="Arial" pitchFamily="34" charset="-120"/>
              </a:rPr>
              <a:t>Gated services path</a:t>
            </a:r>
            <a:endParaRPr lang="en-US" sz="1000" dirty="0"/>
          </a:p>
        </p:txBody>
      </p:sp>
      <p:sp>
        <p:nvSpPr>
          <p:cNvPr id="9" name="Shape 7"/>
          <p:cNvSpPr/>
          <p:nvPr/>
        </p:nvSpPr>
        <p:spPr>
          <a:xfrm>
            <a:off x="5571744" y="2066544"/>
            <a:ext cx="2810256" cy="0"/>
          </a:xfrm>
          <a:prstGeom prst="line">
            <a:avLst/>
          </a:prstGeom>
          <a:noFill/>
          <a:ln w="19050">
            <a:solidFill>
              <a:srgbClr val="00338D"/>
            </a:solidFill>
            <a:prstDash val="solid"/>
          </a:ln>
        </p:spPr>
      </p:sp>
      <p:sp>
        <p:nvSpPr>
          <p:cNvPr id="10" name="Text 8"/>
          <p:cNvSpPr/>
          <p:nvPr/>
        </p:nvSpPr>
        <p:spPr>
          <a:xfrm>
            <a:off x="9663684" y="1481328"/>
            <a:ext cx="320040" cy="320040"/>
          </a:xfrm>
          <a:prstGeom prst="ellipse">
            <a:avLst/>
          </a:prstGeom>
          <a:solidFill>
            <a:srgbClr val="00338D"/>
          </a:solidFill>
          <a:ln/>
        </p:spPr>
        <p:txBody>
          <a:bodyPr wrap="non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a:t>
            </a:r>
            <a:endParaRPr lang="en-US" sz="800" dirty="0"/>
          </a:p>
        </p:txBody>
      </p:sp>
      <p:sp>
        <p:nvSpPr>
          <p:cNvPr id="11" name="Text 9"/>
          <p:cNvSpPr/>
          <p:nvPr/>
        </p:nvSpPr>
        <p:spPr>
          <a:xfrm>
            <a:off x="8418576" y="1819656"/>
            <a:ext cx="2810256" cy="292608"/>
          </a:xfrm>
          <a:prstGeom prst="rect">
            <a:avLst/>
          </a:prstGeom>
          <a:noFill/>
          <a:ln/>
        </p:spPr>
        <p:txBody>
          <a:bodyPr wrap="square" lIns="46800" tIns="72000" rIns="90000" bIns="46800" rtlCol="0" anchor="t">
            <a:normAutofit/>
          </a:bodyPr>
          <a:lstStyle/>
          <a:p>
            <a:pPr algn="ctr" indent="0" marL="0">
              <a:buNone/>
            </a:pPr>
            <a:r>
              <a:rPr lang="en-US" sz="1000" b="1" dirty="0">
                <a:solidFill>
                  <a:srgbClr val="00338D"/>
                </a:solidFill>
                <a:latin typeface="Arial" pitchFamily="34" charset="0"/>
                <a:ea typeface="Arial" pitchFamily="34" charset="-122"/>
                <a:cs typeface="Arial" pitchFamily="34" charset="-120"/>
              </a:rPr>
              <a:t>Harvest and defer</a:t>
            </a:r>
            <a:endParaRPr lang="en-US" sz="1000" dirty="0"/>
          </a:p>
        </p:txBody>
      </p:sp>
      <p:sp>
        <p:nvSpPr>
          <p:cNvPr id="12" name="Shape 10"/>
          <p:cNvSpPr/>
          <p:nvPr/>
        </p:nvSpPr>
        <p:spPr>
          <a:xfrm>
            <a:off x="8418576" y="2066544"/>
            <a:ext cx="2810256" cy="0"/>
          </a:xfrm>
          <a:prstGeom prst="line">
            <a:avLst/>
          </a:prstGeom>
          <a:noFill/>
          <a:ln w="19050">
            <a:solidFill>
              <a:srgbClr val="00338D"/>
            </a:solidFill>
            <a:prstDash val="solid"/>
          </a:ln>
        </p:spPr>
      </p:sp>
      <p:sp>
        <p:nvSpPr>
          <p:cNvPr id="13" name="Shape 11"/>
          <p:cNvSpPr/>
          <p:nvPr/>
        </p:nvSpPr>
        <p:spPr>
          <a:xfrm>
            <a:off x="996696" y="2048256"/>
            <a:ext cx="1691640" cy="1097280"/>
          </a:xfrm>
          <a:prstGeom prst="rect">
            <a:avLst/>
          </a:prstGeom>
          <a:solidFill>
            <a:srgbClr val="00338D"/>
          </a:solidFill>
          <a:ln/>
        </p:spPr>
      </p:sp>
      <p:sp>
        <p:nvSpPr>
          <p:cNvPr id="14" name="Text 12"/>
          <p:cNvSpPr/>
          <p:nvPr/>
        </p:nvSpPr>
        <p:spPr>
          <a:xfrm>
            <a:off x="996696" y="2048256"/>
            <a:ext cx="1691640" cy="1097280"/>
          </a:xfrm>
          <a:prstGeom prst="rect">
            <a:avLst/>
          </a:prstGeom>
          <a:noFill/>
          <a:ln/>
        </p:spPr>
        <p:txBody>
          <a:bodyPr wrap="square" lIns="46800" tIns="72000" rIns="90000" bIns="46800" rtlCol="0" anchor="ctr"/>
          <a:lstStyle/>
          <a:p>
            <a:pPr indent="0" marL="0">
              <a:buNone/>
            </a:pPr>
            <a:r>
              <a:rPr lang="en-US" sz="900" b="1" dirty="0">
                <a:solidFill>
                  <a:srgbClr val="FFFFFF"/>
                </a:solidFill>
                <a:latin typeface="Arial" pitchFamily="34" charset="0"/>
                <a:ea typeface="Arial" pitchFamily="34" charset="-122"/>
                <a:cs typeface="Arial" pitchFamily="34" charset="-120"/>
              </a:rPr>
              <a:t>Capital priority</a:t>
            </a:r>
            <a:endParaRPr lang="en-US" sz="900" dirty="0"/>
          </a:p>
        </p:txBody>
      </p:sp>
      <p:sp>
        <p:nvSpPr>
          <p:cNvPr id="15" name="Text 13"/>
          <p:cNvSpPr/>
          <p:nvPr/>
        </p:nvSpPr>
        <p:spPr>
          <a:xfrm>
            <a:off x="2724912" y="2048256"/>
            <a:ext cx="2810256" cy="109728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Pursue additional home-health M&amp;A, continue all redevelopment starts, and build digital in parallel</a:t>
            </a:r>
            <a:endParaRPr lang="en-US" sz="900" dirty="0"/>
          </a:p>
        </p:txBody>
      </p:sp>
      <p:sp>
        <p:nvSpPr>
          <p:cNvPr id="16" name="Text 14"/>
          <p:cNvSpPr/>
          <p:nvPr/>
        </p:nvSpPr>
        <p:spPr>
          <a:xfrm>
            <a:off x="5571744" y="2048256"/>
            <a:ext cx="2810256" cy="109728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Fund committed redevelopments, finish current integrations, and release new growth capital only after scorecard gates are met</a:t>
            </a:r>
            <a:endParaRPr lang="en-US" sz="900" dirty="0"/>
          </a:p>
        </p:txBody>
      </p:sp>
      <p:sp>
        <p:nvSpPr>
          <p:cNvPr id="17" name="Text 15"/>
          <p:cNvSpPr/>
          <p:nvPr/>
        </p:nvSpPr>
        <p:spPr>
          <a:xfrm>
            <a:off x="8418576" y="2048256"/>
            <a:ext cx="2810256" cy="109728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Slow new starts and acquisitions; maximize cash generation from the existing base</a:t>
            </a:r>
            <a:endParaRPr lang="en-US" sz="900" dirty="0"/>
          </a:p>
        </p:txBody>
      </p:sp>
      <p:sp>
        <p:nvSpPr>
          <p:cNvPr id="18" name="Shape 16"/>
          <p:cNvSpPr/>
          <p:nvPr/>
        </p:nvSpPr>
        <p:spPr>
          <a:xfrm>
            <a:off x="996696" y="3182112"/>
            <a:ext cx="1691640" cy="502920"/>
          </a:xfrm>
          <a:prstGeom prst="rect">
            <a:avLst/>
          </a:prstGeom>
          <a:solidFill>
            <a:srgbClr val="00338D"/>
          </a:solidFill>
          <a:ln/>
        </p:spPr>
      </p:sp>
      <p:sp>
        <p:nvSpPr>
          <p:cNvPr id="19" name="Text 17"/>
          <p:cNvSpPr/>
          <p:nvPr/>
        </p:nvSpPr>
        <p:spPr>
          <a:xfrm>
            <a:off x="996696" y="3182112"/>
            <a:ext cx="1691640" cy="502920"/>
          </a:xfrm>
          <a:prstGeom prst="rect">
            <a:avLst/>
          </a:prstGeom>
          <a:noFill/>
          <a:ln/>
        </p:spPr>
        <p:txBody>
          <a:bodyPr wrap="square" lIns="46800" tIns="72000" rIns="90000" bIns="46800" rtlCol="0" anchor="ctr"/>
          <a:lstStyle/>
          <a:p>
            <a:pPr indent="0" marL="0">
              <a:buNone/>
            </a:pPr>
            <a:r>
              <a:rPr lang="en-US" sz="900" b="1" dirty="0">
                <a:solidFill>
                  <a:srgbClr val="FFFFFF"/>
                </a:solidFill>
                <a:latin typeface="Arial" pitchFamily="34" charset="0"/>
                <a:ea typeface="Arial" pitchFamily="34" charset="-122"/>
                <a:cs typeface="Arial" pitchFamily="34" charset="-120"/>
              </a:rPr>
              <a:t>2028 EBITDA view</a:t>
            </a:r>
            <a:endParaRPr lang="en-US" sz="900" dirty="0"/>
          </a:p>
        </p:txBody>
      </p:sp>
      <p:sp>
        <p:nvSpPr>
          <p:cNvPr id="20" name="Shape 18"/>
          <p:cNvSpPr/>
          <p:nvPr/>
        </p:nvSpPr>
        <p:spPr>
          <a:xfrm>
            <a:off x="2724912" y="3182112"/>
            <a:ext cx="2810256" cy="502920"/>
          </a:xfrm>
          <a:prstGeom prst="rect">
            <a:avLst/>
          </a:prstGeom>
          <a:solidFill>
            <a:srgbClr val="E5E5E5"/>
          </a:solidFill>
          <a:ln/>
        </p:spPr>
      </p:sp>
      <p:sp>
        <p:nvSpPr>
          <p:cNvPr id="21" name="Text 19"/>
          <p:cNvSpPr/>
          <p:nvPr/>
        </p:nvSpPr>
        <p:spPr>
          <a:xfrm>
            <a:off x="2724912" y="3182112"/>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Highest headline upside, but margin risk rises if labour or IT execution slips</a:t>
            </a:r>
            <a:endParaRPr lang="en-US" sz="900" dirty="0"/>
          </a:p>
        </p:txBody>
      </p:sp>
      <p:sp>
        <p:nvSpPr>
          <p:cNvPr id="22" name="Shape 20"/>
          <p:cNvSpPr/>
          <p:nvPr/>
        </p:nvSpPr>
        <p:spPr>
          <a:xfrm>
            <a:off x="5571744" y="3182112"/>
            <a:ext cx="2810256" cy="502920"/>
          </a:xfrm>
          <a:prstGeom prst="rect">
            <a:avLst/>
          </a:prstGeom>
          <a:solidFill>
            <a:srgbClr val="E5E5E5"/>
          </a:solidFill>
          <a:ln/>
        </p:spPr>
      </p:sp>
      <p:sp>
        <p:nvSpPr>
          <p:cNvPr id="23" name="Text 21"/>
          <p:cNvSpPr/>
          <p:nvPr/>
        </p:nvSpPr>
        <p:spPr>
          <a:xfrm>
            <a:off x="5571744" y="3182112"/>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C$225M-C$230M is achievable if labour retention, system conversion, and redevelopment returns stay on plan</a:t>
            </a:r>
            <a:endParaRPr lang="en-US" sz="900" dirty="0"/>
          </a:p>
        </p:txBody>
      </p:sp>
      <p:sp>
        <p:nvSpPr>
          <p:cNvPr id="24" name="Shape 22"/>
          <p:cNvSpPr/>
          <p:nvPr/>
        </p:nvSpPr>
        <p:spPr>
          <a:xfrm>
            <a:off x="8418576" y="3182112"/>
            <a:ext cx="2810256" cy="502920"/>
          </a:xfrm>
          <a:prstGeom prst="rect">
            <a:avLst/>
          </a:prstGeom>
          <a:solidFill>
            <a:srgbClr val="E5E5E5"/>
          </a:solidFill>
          <a:ln/>
        </p:spPr>
      </p:sp>
      <p:sp>
        <p:nvSpPr>
          <p:cNvPr id="25" name="Text 23"/>
          <p:cNvSpPr/>
          <p:nvPr/>
        </p:nvSpPr>
        <p:spPr>
          <a:xfrm>
            <a:off x="8418576" y="3182112"/>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C$200M-C$210M is more defensible, but services leadership could weaken and the strategic rerating case would narrow</a:t>
            </a:r>
            <a:endParaRPr lang="en-US" sz="900" dirty="0"/>
          </a:p>
        </p:txBody>
      </p:sp>
      <p:sp>
        <p:nvSpPr>
          <p:cNvPr id="26" name="Shape 24"/>
          <p:cNvSpPr/>
          <p:nvPr/>
        </p:nvSpPr>
        <p:spPr>
          <a:xfrm>
            <a:off x="996696" y="3721608"/>
            <a:ext cx="1691640" cy="502920"/>
          </a:xfrm>
          <a:prstGeom prst="rect">
            <a:avLst/>
          </a:prstGeom>
          <a:solidFill>
            <a:srgbClr val="00338D"/>
          </a:solidFill>
          <a:ln/>
        </p:spPr>
      </p:sp>
      <p:sp>
        <p:nvSpPr>
          <p:cNvPr id="27" name="Text 25"/>
          <p:cNvSpPr/>
          <p:nvPr/>
        </p:nvSpPr>
        <p:spPr>
          <a:xfrm>
            <a:off x="996696" y="3721608"/>
            <a:ext cx="1691640" cy="502920"/>
          </a:xfrm>
          <a:prstGeom prst="rect">
            <a:avLst/>
          </a:prstGeom>
          <a:noFill/>
          <a:ln/>
        </p:spPr>
        <p:txBody>
          <a:bodyPr wrap="square" lIns="46800" tIns="72000" rIns="90000" bIns="46800" rtlCol="0" anchor="ctr"/>
          <a:lstStyle/>
          <a:p>
            <a:pPr indent="0" marL="0">
              <a:buNone/>
            </a:pPr>
            <a:r>
              <a:rPr lang="en-US" sz="900" b="1" dirty="0">
                <a:solidFill>
                  <a:srgbClr val="FFFFFF"/>
                </a:solidFill>
                <a:latin typeface="Arial" pitchFamily="34" charset="0"/>
                <a:ea typeface="Arial" pitchFamily="34" charset="-122"/>
                <a:cs typeface="Arial" pitchFamily="34" charset="-120"/>
              </a:rPr>
              <a:t>Main risk</a:t>
            </a:r>
            <a:endParaRPr lang="en-US" sz="900" dirty="0"/>
          </a:p>
        </p:txBody>
      </p:sp>
      <p:sp>
        <p:nvSpPr>
          <p:cNvPr id="28" name="Text 26"/>
          <p:cNvSpPr/>
          <p:nvPr/>
        </p:nvSpPr>
        <p:spPr>
          <a:xfrm>
            <a:off x="2724912" y="3721608"/>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Integration strain erodes margin just as the thesis is proving itself</a:t>
            </a:r>
            <a:endParaRPr lang="en-US" sz="900" dirty="0"/>
          </a:p>
        </p:txBody>
      </p:sp>
      <p:sp>
        <p:nvSpPr>
          <p:cNvPr id="29" name="Text 27"/>
          <p:cNvSpPr/>
          <p:nvPr/>
        </p:nvSpPr>
        <p:spPr>
          <a:xfrm>
            <a:off x="5571744" y="3721608"/>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Requires disciplined board gating and willingness to slow growth when proof points are missed</a:t>
            </a:r>
            <a:endParaRPr lang="en-US" sz="900" dirty="0"/>
          </a:p>
        </p:txBody>
      </p:sp>
      <p:sp>
        <p:nvSpPr>
          <p:cNvPr id="30" name="Text 28"/>
          <p:cNvSpPr/>
          <p:nvPr/>
        </p:nvSpPr>
        <p:spPr>
          <a:xfrm>
            <a:off x="8418576" y="3721608"/>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Protects near-term control, but underinvests behind the strongest market tailwind in the portfolio</a:t>
            </a:r>
            <a:endParaRPr lang="en-US" sz="900" dirty="0"/>
          </a:p>
        </p:txBody>
      </p:sp>
      <p:sp>
        <p:nvSpPr>
          <p:cNvPr id="31" name="Shape 29"/>
          <p:cNvSpPr/>
          <p:nvPr/>
        </p:nvSpPr>
        <p:spPr>
          <a:xfrm>
            <a:off x="996696" y="4261104"/>
            <a:ext cx="1691640" cy="502920"/>
          </a:xfrm>
          <a:prstGeom prst="rect">
            <a:avLst/>
          </a:prstGeom>
          <a:solidFill>
            <a:srgbClr val="00338D"/>
          </a:solidFill>
          <a:ln/>
        </p:spPr>
      </p:sp>
      <p:sp>
        <p:nvSpPr>
          <p:cNvPr id="32" name="Text 30"/>
          <p:cNvSpPr/>
          <p:nvPr/>
        </p:nvSpPr>
        <p:spPr>
          <a:xfrm>
            <a:off x="996696" y="4261104"/>
            <a:ext cx="1691640" cy="502920"/>
          </a:xfrm>
          <a:prstGeom prst="rect">
            <a:avLst/>
          </a:prstGeom>
          <a:noFill/>
          <a:ln/>
        </p:spPr>
        <p:txBody>
          <a:bodyPr wrap="square" lIns="46800" tIns="72000" rIns="90000" bIns="46800" rtlCol="0" anchor="ctr"/>
          <a:lstStyle/>
          <a:p>
            <a:pPr indent="0" marL="0">
              <a:buNone/>
            </a:pPr>
            <a:r>
              <a:rPr lang="en-US" sz="900" b="1" dirty="0">
                <a:solidFill>
                  <a:srgbClr val="FFFFFF"/>
                </a:solidFill>
                <a:latin typeface="Arial" pitchFamily="34" charset="0"/>
                <a:ea typeface="Arial" pitchFamily="34" charset="-122"/>
                <a:cs typeface="Arial" pitchFamily="34" charset="-120"/>
              </a:rPr>
              <a:t>Board implication</a:t>
            </a:r>
            <a:endParaRPr lang="en-US" sz="900" dirty="0"/>
          </a:p>
        </p:txBody>
      </p:sp>
      <p:sp>
        <p:nvSpPr>
          <p:cNvPr id="33" name="Shape 31"/>
          <p:cNvSpPr/>
          <p:nvPr/>
        </p:nvSpPr>
        <p:spPr>
          <a:xfrm>
            <a:off x="2724912" y="4261104"/>
            <a:ext cx="2810256" cy="502920"/>
          </a:xfrm>
          <a:prstGeom prst="rect">
            <a:avLst/>
          </a:prstGeom>
          <a:solidFill>
            <a:srgbClr val="E5E5E5"/>
          </a:solidFill>
          <a:ln/>
        </p:spPr>
      </p:sp>
      <p:sp>
        <p:nvSpPr>
          <p:cNvPr id="34" name="Text 32"/>
          <p:cNvSpPr/>
          <p:nvPr/>
        </p:nvSpPr>
        <p:spPr>
          <a:xfrm>
            <a:off x="2724912" y="4261104"/>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Board would approve growth first and govern fallout afterward</a:t>
            </a:r>
            <a:endParaRPr lang="en-US" sz="900" dirty="0"/>
          </a:p>
        </p:txBody>
      </p:sp>
      <p:sp>
        <p:nvSpPr>
          <p:cNvPr id="35" name="Shape 33"/>
          <p:cNvSpPr/>
          <p:nvPr/>
        </p:nvSpPr>
        <p:spPr>
          <a:xfrm>
            <a:off x="5571744" y="4261104"/>
            <a:ext cx="2810256" cy="502920"/>
          </a:xfrm>
          <a:prstGeom prst="rect">
            <a:avLst/>
          </a:prstGeom>
          <a:solidFill>
            <a:srgbClr val="E5E5E5"/>
          </a:solidFill>
          <a:ln/>
        </p:spPr>
      </p:sp>
      <p:sp>
        <p:nvSpPr>
          <p:cNvPr id="36" name="Text 34"/>
          <p:cNvSpPr/>
          <p:nvPr/>
        </p:nvSpPr>
        <p:spPr>
          <a:xfrm>
            <a:off x="5571744" y="4261104"/>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Board would govern sequencing first and let growth follow evidence</a:t>
            </a:r>
            <a:endParaRPr lang="en-US" sz="900" dirty="0"/>
          </a:p>
        </p:txBody>
      </p:sp>
      <p:sp>
        <p:nvSpPr>
          <p:cNvPr id="37" name="Shape 35"/>
          <p:cNvSpPr/>
          <p:nvPr/>
        </p:nvSpPr>
        <p:spPr>
          <a:xfrm>
            <a:off x="8418576" y="4261104"/>
            <a:ext cx="2810256" cy="502920"/>
          </a:xfrm>
          <a:prstGeom prst="rect">
            <a:avLst/>
          </a:prstGeom>
          <a:solidFill>
            <a:srgbClr val="E5E5E5"/>
          </a:solidFill>
          <a:ln/>
        </p:spPr>
      </p:sp>
      <p:sp>
        <p:nvSpPr>
          <p:cNvPr id="38" name="Text 36"/>
          <p:cNvSpPr/>
          <p:nvPr/>
        </p:nvSpPr>
        <p:spPr>
          <a:xfrm>
            <a:off x="8418576" y="4261104"/>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Board would prioritize resilience over strategic momentum</a:t>
            </a:r>
            <a:endParaRPr lang="en-US" sz="900" dirty="0"/>
          </a:p>
        </p:txBody>
      </p:sp>
      <p:sp>
        <p:nvSpPr>
          <p:cNvPr id="39" name="Shape 37"/>
          <p:cNvSpPr/>
          <p:nvPr/>
        </p:nvSpPr>
        <p:spPr>
          <a:xfrm>
            <a:off x="996696" y="4800600"/>
            <a:ext cx="1691640" cy="502920"/>
          </a:xfrm>
          <a:prstGeom prst="rect">
            <a:avLst/>
          </a:prstGeom>
          <a:solidFill>
            <a:srgbClr val="00338D"/>
          </a:solidFill>
          <a:ln/>
        </p:spPr>
      </p:sp>
      <p:sp>
        <p:nvSpPr>
          <p:cNvPr id="40" name="Text 38"/>
          <p:cNvSpPr/>
          <p:nvPr/>
        </p:nvSpPr>
        <p:spPr>
          <a:xfrm>
            <a:off x="996696" y="4800600"/>
            <a:ext cx="1691640" cy="502920"/>
          </a:xfrm>
          <a:prstGeom prst="rect">
            <a:avLst/>
          </a:prstGeom>
          <a:noFill/>
          <a:ln/>
        </p:spPr>
        <p:txBody>
          <a:bodyPr wrap="square" lIns="46800" tIns="72000" rIns="90000" bIns="46800" rtlCol="0" anchor="ctr"/>
          <a:lstStyle/>
          <a:p>
            <a:pPr indent="0" marL="0">
              <a:buNone/>
            </a:pPr>
            <a:r>
              <a:rPr lang="en-US" sz="900" b="1" dirty="0">
                <a:solidFill>
                  <a:srgbClr val="FFFFFF"/>
                </a:solidFill>
                <a:latin typeface="Arial" pitchFamily="34" charset="0"/>
                <a:ea typeface="Arial" pitchFamily="34" charset="-122"/>
                <a:cs typeface="Arial" pitchFamily="34" charset="-120"/>
              </a:rPr>
              <a:t>Recommendation</a:t>
            </a:r>
            <a:endParaRPr lang="en-US" sz="900" dirty="0"/>
          </a:p>
        </p:txBody>
      </p:sp>
      <p:sp>
        <p:nvSpPr>
          <p:cNvPr id="41" name="Text 39"/>
          <p:cNvSpPr/>
          <p:nvPr/>
        </p:nvSpPr>
        <p:spPr>
          <a:xfrm>
            <a:off x="2724912" y="4800600"/>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Not preferred</a:t>
            </a:r>
            <a:endParaRPr lang="en-US" sz="900" dirty="0"/>
          </a:p>
        </p:txBody>
      </p:sp>
      <p:sp>
        <p:nvSpPr>
          <p:cNvPr id="42" name="Text 40"/>
          <p:cNvSpPr/>
          <p:nvPr/>
        </p:nvSpPr>
        <p:spPr>
          <a:xfrm>
            <a:off x="5571744" y="4800600"/>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Preferred</a:t>
            </a:r>
            <a:endParaRPr lang="en-US" sz="900" dirty="0"/>
          </a:p>
        </p:txBody>
      </p:sp>
      <p:sp>
        <p:nvSpPr>
          <p:cNvPr id="43" name="Text 41"/>
          <p:cNvSpPr/>
          <p:nvPr/>
        </p:nvSpPr>
        <p:spPr>
          <a:xfrm>
            <a:off x="8418576" y="4800600"/>
            <a:ext cx="2810256" cy="502920"/>
          </a:xfrm>
          <a:prstGeom prst="rect">
            <a:avLst/>
          </a:prstGeom>
          <a:noFill/>
          <a:ln/>
        </p:spPr>
        <p:txBody>
          <a:bodyPr wrap="square" lIns="46800" tIns="72000" rIns="90000" bIns="46800" rtlCol="0" anchor="ctr">
            <a:normAutofit/>
          </a:bodyPr>
          <a:lstStyle/>
          <a:p>
            <a:pPr indent="0" marL="0">
              <a:buNone/>
            </a:pPr>
            <a:r>
              <a:rPr lang="en-US" sz="900" dirty="0">
                <a:solidFill>
                  <a:srgbClr val="00338D"/>
                </a:solidFill>
                <a:latin typeface="Arial" pitchFamily="34" charset="0"/>
                <a:ea typeface="Arial" pitchFamily="34" charset="-122"/>
                <a:cs typeface="Arial" pitchFamily="34" charset="-120"/>
              </a:rPr>
              <a:t>Useful only as a fallback if milestones materially deteriorate</a:t>
            </a:r>
            <a:endParaRPr lang="en-US" sz="900" dirty="0"/>
          </a:p>
        </p:txBody>
      </p:sp>
      <p:sp>
        <p:nvSpPr>
          <p:cNvPr id="44" name="Text 42"/>
          <p:cNvSpPr/>
          <p:nvPr/>
        </p:nvSpPr>
        <p:spPr>
          <a:xfrm>
            <a:off x="996696" y="5953100"/>
            <a:ext cx="10195560" cy="222758"/>
          </a:xfrm>
          <a:prstGeom prst="rect">
            <a:avLst/>
          </a:prstGeom>
          <a:noFill/>
          <a:ln/>
        </p:spPr>
        <p:txBody>
          <a:bodyPr wrap="square" lIns="46800" tIns="72000" rIns="90000" bIns="46800" rtlCol="0" anchor="t"/>
          <a:lstStyle/>
          <a:p>
            <a:pPr indent="0" marL="0">
              <a:buNone/>
            </a:pPr>
            <a:r>
              <a:rPr lang="en-US" sz="700" i="1" dirty="0">
                <a:solidFill>
                  <a:srgbClr val="00338D"/>
                </a:solidFill>
                <a:latin typeface="Arial" pitchFamily="34" charset="0"/>
                <a:ea typeface="Arial" pitchFamily="34" charset="-122"/>
                <a:cs typeface="Arial" pitchFamily="34" charset="-120"/>
              </a:rPr>
              <a:t>Source: Extendicare 2025 Annual Report; Extendicare investor presentation dated September 2025; Extendicare proposed CBI acquisition presentation dated November 2025; Ontario Ministry of Long-Term Care; KPMG analysis. March 2026.</a:t>
            </a:r>
            <a:endParaRPr lang="en-US" sz="700" dirty="0"/>
          </a:p>
        </p:txBody>
      </p:sp>
      <p:sp>
        <p:nvSpPr>
          <p:cNvPr id="45" name="Text 4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6696" y="429768"/>
            <a:ext cx="10195560" cy="5029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Peers confirm Extendicare's strategy is differentiated, but discipline matters more than ambition.</a:t>
            </a:r>
            <a:endParaRPr lang="en-US" sz="3200" dirty="0"/>
          </a:p>
        </p:txBody>
      </p:sp>
      <p:sp>
        <p:nvSpPr>
          <p:cNvPr id="3" name="Text 1"/>
          <p:cNvSpPr/>
          <p:nvPr/>
        </p:nvSpPr>
        <p:spPr>
          <a:xfrm>
            <a:off x="996696" y="5974690"/>
            <a:ext cx="10195560" cy="201168"/>
          </a:xfrm>
          <a:prstGeom prst="rect">
            <a:avLst/>
          </a:prstGeom>
          <a:noFill/>
          <a:ln/>
        </p:spPr>
        <p:txBody>
          <a:bodyPr wrap="square" lIns="0" tIns="0" rIns="0" bIns="0" rtlCol="0" anchor="t"/>
          <a:lstStyle/>
          <a:p>
            <a:pPr indent="0" marL="0">
              <a:buNone/>
            </a:pPr>
            <a:r>
              <a:rPr lang="en-US" sz="700" dirty="0">
                <a:solidFill>
                  <a:srgbClr val="00338D"/>
                </a:solidFill>
                <a:latin typeface="Arial" pitchFamily="34" charset="0"/>
                <a:ea typeface="Arial" pitchFamily="34" charset="-122"/>
                <a:cs typeface="Arial" pitchFamily="34" charset="-120"/>
              </a:rPr>
              <a:t>Source: Sienna Senior Living Q4 2025 results release; Chartwell Q4 2025 results release; CareRx 2025 Annual MD&amp;A and filings; KPMG synthesis. March 2026.</a:t>
            </a:r>
            <a:endParaRPr lang="en-US" sz="700" dirty="0"/>
          </a:p>
        </p:txBody>
      </p:sp>
      <p:sp>
        <p:nvSpPr>
          <p:cNvPr id="4" name="Text 2"/>
          <p:cNvSpPr/>
          <p:nvPr/>
        </p:nvSpPr>
        <p:spPr>
          <a:xfrm>
            <a:off x="1261872" y="1298448"/>
            <a:ext cx="6391656" cy="274320"/>
          </a:xfrm>
          <a:prstGeom prst="rect">
            <a:avLst/>
          </a:prstGeom>
          <a:noFill/>
          <a:ln/>
        </p:spPr>
        <p:txBody>
          <a:bodyPr wrap="square" lIns="0" tIns="0" rIns="0" bIns="0" rtlCol="0" anchor="ctr"/>
          <a:lstStyle/>
          <a:p>
            <a:pPr algn="ctr" indent="0" marL="0">
              <a:buNone/>
            </a:pPr>
            <a:r>
              <a:rPr lang="en-US" sz="1000" b="1" dirty="0">
                <a:solidFill>
                  <a:srgbClr val="0C233C"/>
                </a:solidFill>
                <a:latin typeface="Arial" pitchFamily="34" charset="0"/>
                <a:ea typeface="Arial" pitchFamily="34" charset="-122"/>
                <a:cs typeface="Arial" pitchFamily="34" charset="-120"/>
              </a:rPr>
              <a:t>Peer positioning snapshot</a:t>
            </a:r>
            <a:endParaRPr lang="en-US" sz="1000" dirty="0"/>
          </a:p>
        </p:txBody>
      </p:sp>
      <p:sp>
        <p:nvSpPr>
          <p:cNvPr id="5" name="Shape 3"/>
          <p:cNvSpPr/>
          <p:nvPr/>
        </p:nvSpPr>
        <p:spPr>
          <a:xfrm>
            <a:off x="996696" y="1700784"/>
            <a:ext cx="2497375" cy="771754"/>
          </a:xfrm>
          <a:prstGeom prst="rect">
            <a:avLst/>
          </a:prstGeom>
          <a:solidFill>
            <a:srgbClr val="00338D"/>
          </a:solidFill>
          <a:ln w="7620">
            <a:solidFill>
              <a:srgbClr val="FFFFFF"/>
            </a:solidFill>
            <a:prstDash val="solid"/>
          </a:ln>
        </p:spPr>
      </p:sp>
      <p:sp>
        <p:nvSpPr>
          <p:cNvPr id="6" name="Text 4"/>
          <p:cNvSpPr/>
          <p:nvPr/>
        </p:nvSpPr>
        <p:spPr>
          <a:xfrm>
            <a:off x="1051560" y="1737360"/>
            <a:ext cx="2387647" cy="698602"/>
          </a:xfrm>
          <a:prstGeom prst="rect">
            <a:avLst/>
          </a:prstGeom>
          <a:noFill/>
          <a:ln/>
        </p:spPr>
        <p:txBody>
          <a:bodyPr wrap="square" lIns="0" tIns="0" rIns="0" bIns="0" rtlCol="0" anchor="ctr">
            <a:normAutofit/>
          </a:bodyPr>
          <a:lstStyle/>
          <a:p>
            <a:pPr algn="l" indent="0" marL="0">
              <a:buNone/>
            </a:pPr>
            <a:r>
              <a:rPr lang="en-US" sz="800" b="1" dirty="0">
                <a:solidFill>
                  <a:srgbClr val="FFFFFF"/>
                </a:solidFill>
                <a:latin typeface="Arial" pitchFamily="34" charset="0"/>
                <a:ea typeface="Arial" pitchFamily="34" charset="-122"/>
                <a:cs typeface="Arial" pitchFamily="34" charset="-120"/>
              </a:rPr>
              <a:t>Company</a:t>
            </a:r>
            <a:endParaRPr lang="en-US" sz="800" dirty="0"/>
          </a:p>
        </p:txBody>
      </p:sp>
      <p:sp>
        <p:nvSpPr>
          <p:cNvPr id="7" name="Shape 5"/>
          <p:cNvSpPr/>
          <p:nvPr/>
        </p:nvSpPr>
        <p:spPr>
          <a:xfrm>
            <a:off x="3494071" y="1700784"/>
            <a:ext cx="1404774" cy="771754"/>
          </a:xfrm>
          <a:prstGeom prst="rect">
            <a:avLst/>
          </a:prstGeom>
          <a:solidFill>
            <a:srgbClr val="00338D"/>
          </a:solidFill>
          <a:ln w="7620">
            <a:solidFill>
              <a:srgbClr val="FFFFFF"/>
            </a:solidFill>
            <a:prstDash val="solid"/>
          </a:ln>
        </p:spPr>
      </p:sp>
      <p:sp>
        <p:nvSpPr>
          <p:cNvPr id="8" name="Text 6"/>
          <p:cNvSpPr/>
          <p:nvPr/>
        </p:nvSpPr>
        <p:spPr>
          <a:xfrm>
            <a:off x="3548935" y="1737360"/>
            <a:ext cx="1295046" cy="69860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2025 growth</a:t>
            </a:r>
            <a:endParaRPr lang="en-US" sz="800" dirty="0"/>
          </a:p>
        </p:txBody>
      </p:sp>
      <p:sp>
        <p:nvSpPr>
          <p:cNvPr id="9" name="Shape 7"/>
          <p:cNvSpPr/>
          <p:nvPr/>
        </p:nvSpPr>
        <p:spPr>
          <a:xfrm>
            <a:off x="4898845" y="1700784"/>
            <a:ext cx="1404774" cy="771754"/>
          </a:xfrm>
          <a:prstGeom prst="rect">
            <a:avLst/>
          </a:prstGeom>
          <a:solidFill>
            <a:srgbClr val="00338D"/>
          </a:solidFill>
          <a:ln w="7620">
            <a:solidFill>
              <a:srgbClr val="FFFFFF"/>
            </a:solidFill>
            <a:prstDash val="solid"/>
          </a:ln>
        </p:spPr>
      </p:sp>
      <p:sp>
        <p:nvSpPr>
          <p:cNvPr id="10" name="Text 8"/>
          <p:cNvSpPr/>
          <p:nvPr/>
        </p:nvSpPr>
        <p:spPr>
          <a:xfrm>
            <a:off x="4953709" y="1737360"/>
            <a:ext cx="1295046" cy="69860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Strategic lane</a:t>
            </a:r>
            <a:endParaRPr lang="en-US" sz="800" dirty="0"/>
          </a:p>
        </p:txBody>
      </p:sp>
      <p:sp>
        <p:nvSpPr>
          <p:cNvPr id="11" name="Shape 9"/>
          <p:cNvSpPr/>
          <p:nvPr/>
        </p:nvSpPr>
        <p:spPr>
          <a:xfrm>
            <a:off x="6303618" y="1700784"/>
            <a:ext cx="1404774" cy="771754"/>
          </a:xfrm>
          <a:prstGeom prst="rect">
            <a:avLst/>
          </a:prstGeom>
          <a:solidFill>
            <a:srgbClr val="00338D"/>
          </a:solidFill>
          <a:ln w="7620">
            <a:solidFill>
              <a:srgbClr val="FFFFFF"/>
            </a:solidFill>
            <a:prstDash val="solid"/>
          </a:ln>
        </p:spPr>
      </p:sp>
      <p:sp>
        <p:nvSpPr>
          <p:cNvPr id="12" name="Text 10"/>
          <p:cNvSpPr/>
          <p:nvPr/>
        </p:nvSpPr>
        <p:spPr>
          <a:xfrm>
            <a:off x="6358482" y="1737360"/>
            <a:ext cx="1295046" cy="69860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Board read-through</a:t>
            </a:r>
            <a:endParaRPr lang="en-US" sz="800" dirty="0"/>
          </a:p>
        </p:txBody>
      </p:sp>
      <p:sp>
        <p:nvSpPr>
          <p:cNvPr id="13" name="Shape 11"/>
          <p:cNvSpPr/>
          <p:nvPr/>
        </p:nvSpPr>
        <p:spPr>
          <a:xfrm>
            <a:off x="996696" y="2472538"/>
            <a:ext cx="2497375" cy="771754"/>
          </a:xfrm>
          <a:prstGeom prst="rect">
            <a:avLst/>
          </a:prstGeom>
          <a:solidFill>
            <a:srgbClr val="EAF1F7"/>
          </a:solidFill>
          <a:ln w="7620">
            <a:solidFill>
              <a:srgbClr val="FFFFFF"/>
            </a:solidFill>
            <a:prstDash val="solid"/>
          </a:ln>
        </p:spPr>
      </p:sp>
      <p:sp>
        <p:nvSpPr>
          <p:cNvPr id="14" name="Text 12"/>
          <p:cNvSpPr/>
          <p:nvPr/>
        </p:nvSpPr>
        <p:spPr>
          <a:xfrm>
            <a:off x="1042416" y="2509114"/>
            <a:ext cx="2405935" cy="698602"/>
          </a:xfrm>
          <a:prstGeom prst="rect">
            <a:avLst/>
          </a:prstGeom>
          <a:noFill/>
          <a:ln/>
        </p:spPr>
        <p:txBody>
          <a:bodyPr wrap="square" lIns="0" tIns="0" rIns="0" bIns="0" rtlCol="0" anchor="ctr">
            <a:normAutofit/>
          </a:bodyPr>
          <a:lstStyle/>
          <a:p>
            <a:pPr algn="l" indent="0" marL="0">
              <a:buNone/>
            </a:pPr>
            <a:r>
              <a:rPr lang="en-US" sz="800" b="1" dirty="0">
                <a:solidFill>
                  <a:srgbClr val="0C233C"/>
                </a:solidFill>
                <a:latin typeface="Arial" pitchFamily="34" charset="0"/>
                <a:ea typeface="Arial" pitchFamily="34" charset="-122"/>
                <a:cs typeface="Arial" pitchFamily="34" charset="-120"/>
              </a:rPr>
              <a:t>Extendicare</a:t>
            </a:r>
            <a:endParaRPr lang="en-US" sz="800" dirty="0"/>
          </a:p>
        </p:txBody>
      </p:sp>
      <p:sp>
        <p:nvSpPr>
          <p:cNvPr id="15" name="Shape 13"/>
          <p:cNvSpPr/>
          <p:nvPr/>
        </p:nvSpPr>
        <p:spPr>
          <a:xfrm>
            <a:off x="3494071" y="2472538"/>
            <a:ext cx="1404774" cy="771754"/>
          </a:xfrm>
          <a:prstGeom prst="rect">
            <a:avLst/>
          </a:prstGeom>
          <a:solidFill>
            <a:srgbClr val="F8FBFD"/>
          </a:solidFill>
          <a:ln w="7620">
            <a:solidFill>
              <a:srgbClr val="FFFFFF"/>
            </a:solidFill>
            <a:prstDash val="solid"/>
          </a:ln>
        </p:spPr>
      </p:sp>
      <p:sp>
        <p:nvSpPr>
          <p:cNvPr id="16" name="Text 14"/>
          <p:cNvSpPr/>
          <p:nvPr/>
        </p:nvSpPr>
        <p:spPr>
          <a:xfrm>
            <a:off x="3539791" y="2509114"/>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C$1,660.4M / +13.2%</a:t>
            </a:r>
            <a:endParaRPr lang="en-US" sz="800" dirty="0"/>
          </a:p>
        </p:txBody>
      </p:sp>
      <p:sp>
        <p:nvSpPr>
          <p:cNvPr id="17" name="Shape 15"/>
          <p:cNvSpPr/>
          <p:nvPr/>
        </p:nvSpPr>
        <p:spPr>
          <a:xfrm>
            <a:off x="4898845" y="2472538"/>
            <a:ext cx="1404774" cy="771754"/>
          </a:xfrm>
          <a:prstGeom prst="rect">
            <a:avLst/>
          </a:prstGeom>
          <a:solidFill>
            <a:srgbClr val="F8FBFD"/>
          </a:solidFill>
          <a:ln w="7620">
            <a:solidFill>
              <a:srgbClr val="FFFFFF"/>
            </a:solidFill>
            <a:prstDash val="solid"/>
          </a:ln>
        </p:spPr>
      </p:sp>
      <p:sp>
        <p:nvSpPr>
          <p:cNvPr id="18" name="Text 16"/>
          <p:cNvSpPr/>
          <p:nvPr/>
        </p:nvSpPr>
        <p:spPr>
          <a:xfrm>
            <a:off x="4944565" y="2509114"/>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Services-led care platform with home health, SGP, and redevelopment</a:t>
            </a:r>
            <a:endParaRPr lang="en-US" sz="800" dirty="0"/>
          </a:p>
        </p:txBody>
      </p:sp>
      <p:sp>
        <p:nvSpPr>
          <p:cNvPr id="19" name="Shape 17"/>
          <p:cNvSpPr/>
          <p:nvPr/>
        </p:nvSpPr>
        <p:spPr>
          <a:xfrm>
            <a:off x="6303618" y="2472538"/>
            <a:ext cx="1404774" cy="771754"/>
          </a:xfrm>
          <a:prstGeom prst="rect">
            <a:avLst/>
          </a:prstGeom>
          <a:solidFill>
            <a:srgbClr val="F8FBFD"/>
          </a:solidFill>
          <a:ln w="7620">
            <a:solidFill>
              <a:srgbClr val="FFFFFF"/>
            </a:solidFill>
            <a:prstDash val="solid"/>
          </a:ln>
        </p:spPr>
      </p:sp>
      <p:sp>
        <p:nvSpPr>
          <p:cNvPr id="20" name="Text 18"/>
          <p:cNvSpPr/>
          <p:nvPr/>
        </p:nvSpPr>
        <p:spPr>
          <a:xfrm>
            <a:off x="6349338" y="2509114"/>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Most differentiated strategy, but also the most sequencing-dependent</a:t>
            </a:r>
            <a:endParaRPr lang="en-US" sz="800" dirty="0"/>
          </a:p>
        </p:txBody>
      </p:sp>
      <p:sp>
        <p:nvSpPr>
          <p:cNvPr id="21" name="Shape 19"/>
          <p:cNvSpPr/>
          <p:nvPr/>
        </p:nvSpPr>
        <p:spPr>
          <a:xfrm>
            <a:off x="996696" y="3244291"/>
            <a:ext cx="2497375" cy="771754"/>
          </a:xfrm>
          <a:prstGeom prst="rect">
            <a:avLst/>
          </a:prstGeom>
          <a:solidFill>
            <a:srgbClr val="EAF1F7"/>
          </a:solidFill>
          <a:ln w="7620">
            <a:solidFill>
              <a:srgbClr val="FFFFFF"/>
            </a:solidFill>
            <a:prstDash val="solid"/>
          </a:ln>
        </p:spPr>
      </p:sp>
      <p:sp>
        <p:nvSpPr>
          <p:cNvPr id="22" name="Text 20"/>
          <p:cNvSpPr/>
          <p:nvPr/>
        </p:nvSpPr>
        <p:spPr>
          <a:xfrm>
            <a:off x="1042416" y="3280867"/>
            <a:ext cx="2405935" cy="698602"/>
          </a:xfrm>
          <a:prstGeom prst="rect">
            <a:avLst/>
          </a:prstGeom>
          <a:noFill/>
          <a:ln/>
        </p:spPr>
        <p:txBody>
          <a:bodyPr wrap="square" lIns="0" tIns="0" rIns="0" bIns="0" rtlCol="0" anchor="ctr">
            <a:normAutofit/>
          </a:bodyPr>
          <a:lstStyle/>
          <a:p>
            <a:pPr algn="l" indent="0" marL="0">
              <a:buNone/>
            </a:pPr>
            <a:r>
              <a:rPr lang="en-US" sz="800" b="1" dirty="0">
                <a:solidFill>
                  <a:srgbClr val="0C233C"/>
                </a:solidFill>
                <a:latin typeface="Arial" pitchFamily="34" charset="0"/>
                <a:ea typeface="Arial" pitchFamily="34" charset="-122"/>
                <a:cs typeface="Arial" pitchFamily="34" charset="-120"/>
              </a:rPr>
              <a:t>Sienna Senior Living</a:t>
            </a:r>
            <a:endParaRPr lang="en-US" sz="800" dirty="0"/>
          </a:p>
        </p:txBody>
      </p:sp>
      <p:sp>
        <p:nvSpPr>
          <p:cNvPr id="23" name="Shape 21"/>
          <p:cNvSpPr/>
          <p:nvPr/>
        </p:nvSpPr>
        <p:spPr>
          <a:xfrm>
            <a:off x="3494071" y="3244291"/>
            <a:ext cx="1404774" cy="771754"/>
          </a:xfrm>
          <a:prstGeom prst="rect">
            <a:avLst/>
          </a:prstGeom>
          <a:solidFill>
            <a:srgbClr val="EEF4F9"/>
          </a:solidFill>
          <a:ln w="7620">
            <a:solidFill>
              <a:srgbClr val="FFFFFF"/>
            </a:solidFill>
            <a:prstDash val="solid"/>
          </a:ln>
        </p:spPr>
      </p:sp>
      <p:sp>
        <p:nvSpPr>
          <p:cNvPr id="24" name="Text 22"/>
          <p:cNvSpPr/>
          <p:nvPr/>
        </p:nvSpPr>
        <p:spPr>
          <a:xfrm>
            <a:off x="3539791" y="3280867"/>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C$1,035.6M / +15.0%</a:t>
            </a:r>
            <a:endParaRPr lang="en-US" sz="800" dirty="0"/>
          </a:p>
        </p:txBody>
      </p:sp>
      <p:sp>
        <p:nvSpPr>
          <p:cNvPr id="25" name="Shape 23"/>
          <p:cNvSpPr/>
          <p:nvPr/>
        </p:nvSpPr>
        <p:spPr>
          <a:xfrm>
            <a:off x="4898845" y="3244291"/>
            <a:ext cx="1404774" cy="771754"/>
          </a:xfrm>
          <a:prstGeom prst="rect">
            <a:avLst/>
          </a:prstGeom>
          <a:solidFill>
            <a:srgbClr val="EEF4F9"/>
          </a:solidFill>
          <a:ln w="7620">
            <a:solidFill>
              <a:srgbClr val="FFFFFF"/>
            </a:solidFill>
            <a:prstDash val="solid"/>
          </a:ln>
        </p:spPr>
      </p:sp>
      <p:sp>
        <p:nvSpPr>
          <p:cNvPr id="26" name="Text 24"/>
          <p:cNvSpPr/>
          <p:nvPr/>
        </p:nvSpPr>
        <p:spPr>
          <a:xfrm>
            <a:off x="4944565" y="3280867"/>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Property-heavy expansion with retirement occupancy improvement</a:t>
            </a:r>
            <a:endParaRPr lang="en-US" sz="800" dirty="0"/>
          </a:p>
        </p:txBody>
      </p:sp>
      <p:sp>
        <p:nvSpPr>
          <p:cNvPr id="27" name="Shape 25"/>
          <p:cNvSpPr/>
          <p:nvPr/>
        </p:nvSpPr>
        <p:spPr>
          <a:xfrm>
            <a:off x="6303618" y="3244291"/>
            <a:ext cx="1404774" cy="771754"/>
          </a:xfrm>
          <a:prstGeom prst="rect">
            <a:avLst/>
          </a:prstGeom>
          <a:solidFill>
            <a:srgbClr val="EEF4F9"/>
          </a:solidFill>
          <a:ln w="7620">
            <a:solidFill>
              <a:srgbClr val="FFFFFF"/>
            </a:solidFill>
            <a:prstDash val="solid"/>
          </a:ln>
        </p:spPr>
      </p:sp>
      <p:sp>
        <p:nvSpPr>
          <p:cNvPr id="28" name="Text 26"/>
          <p:cNvSpPr/>
          <p:nvPr/>
        </p:nvSpPr>
        <p:spPr>
          <a:xfrm>
            <a:off x="6349338" y="3280867"/>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Strong growth, but more asset-led and less services-diversified</a:t>
            </a:r>
            <a:endParaRPr lang="en-US" sz="800" dirty="0"/>
          </a:p>
        </p:txBody>
      </p:sp>
      <p:sp>
        <p:nvSpPr>
          <p:cNvPr id="29" name="Shape 27"/>
          <p:cNvSpPr/>
          <p:nvPr/>
        </p:nvSpPr>
        <p:spPr>
          <a:xfrm>
            <a:off x="996696" y="4016045"/>
            <a:ext cx="2497375" cy="771754"/>
          </a:xfrm>
          <a:prstGeom prst="rect">
            <a:avLst/>
          </a:prstGeom>
          <a:solidFill>
            <a:srgbClr val="EAF1F7"/>
          </a:solidFill>
          <a:ln w="7620">
            <a:solidFill>
              <a:srgbClr val="FFFFFF"/>
            </a:solidFill>
            <a:prstDash val="solid"/>
          </a:ln>
        </p:spPr>
      </p:sp>
      <p:sp>
        <p:nvSpPr>
          <p:cNvPr id="30" name="Text 28"/>
          <p:cNvSpPr/>
          <p:nvPr/>
        </p:nvSpPr>
        <p:spPr>
          <a:xfrm>
            <a:off x="1042416" y="4052621"/>
            <a:ext cx="2405935" cy="698602"/>
          </a:xfrm>
          <a:prstGeom prst="rect">
            <a:avLst/>
          </a:prstGeom>
          <a:noFill/>
          <a:ln/>
        </p:spPr>
        <p:txBody>
          <a:bodyPr wrap="square" lIns="0" tIns="0" rIns="0" bIns="0" rtlCol="0" anchor="ctr">
            <a:normAutofit/>
          </a:bodyPr>
          <a:lstStyle/>
          <a:p>
            <a:pPr algn="l" indent="0" marL="0">
              <a:buNone/>
            </a:pPr>
            <a:r>
              <a:rPr lang="en-US" sz="800" b="1" dirty="0">
                <a:solidFill>
                  <a:srgbClr val="0C233C"/>
                </a:solidFill>
                <a:latin typeface="Arial" pitchFamily="34" charset="0"/>
                <a:ea typeface="Arial" pitchFamily="34" charset="-122"/>
                <a:cs typeface="Arial" pitchFamily="34" charset="-120"/>
              </a:rPr>
              <a:t>Chartwell</a:t>
            </a:r>
            <a:endParaRPr lang="en-US" sz="800" dirty="0"/>
          </a:p>
        </p:txBody>
      </p:sp>
      <p:sp>
        <p:nvSpPr>
          <p:cNvPr id="31" name="Shape 29"/>
          <p:cNvSpPr/>
          <p:nvPr/>
        </p:nvSpPr>
        <p:spPr>
          <a:xfrm>
            <a:off x="3494071" y="4016045"/>
            <a:ext cx="1404774" cy="771754"/>
          </a:xfrm>
          <a:prstGeom prst="rect">
            <a:avLst/>
          </a:prstGeom>
          <a:solidFill>
            <a:srgbClr val="F8FBFD"/>
          </a:solidFill>
          <a:ln w="7620">
            <a:solidFill>
              <a:srgbClr val="FFFFFF"/>
            </a:solidFill>
            <a:prstDash val="solid"/>
          </a:ln>
        </p:spPr>
      </p:sp>
      <p:sp>
        <p:nvSpPr>
          <p:cNvPr id="32" name="Text 30"/>
          <p:cNvSpPr/>
          <p:nvPr/>
        </p:nvSpPr>
        <p:spPr>
          <a:xfrm>
            <a:off x="3539791" y="4052621"/>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C$1,079.0M / +34.9%</a:t>
            </a:r>
            <a:endParaRPr lang="en-US" sz="800" dirty="0"/>
          </a:p>
        </p:txBody>
      </p:sp>
      <p:sp>
        <p:nvSpPr>
          <p:cNvPr id="33" name="Shape 31"/>
          <p:cNvSpPr/>
          <p:nvPr/>
        </p:nvSpPr>
        <p:spPr>
          <a:xfrm>
            <a:off x="4898845" y="4016045"/>
            <a:ext cx="1404774" cy="771754"/>
          </a:xfrm>
          <a:prstGeom prst="rect">
            <a:avLst/>
          </a:prstGeom>
          <a:solidFill>
            <a:srgbClr val="F8FBFD"/>
          </a:solidFill>
          <a:ln w="7620">
            <a:solidFill>
              <a:srgbClr val="FFFFFF"/>
            </a:solidFill>
            <a:prstDash val="solid"/>
          </a:ln>
        </p:spPr>
      </p:sp>
      <p:sp>
        <p:nvSpPr>
          <p:cNvPr id="34" name="Text 32"/>
          <p:cNvSpPr/>
          <p:nvPr/>
        </p:nvSpPr>
        <p:spPr>
          <a:xfrm>
            <a:off x="4944565" y="4052621"/>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Residence-led scale-up through acquisitions and occupancy recovery</a:t>
            </a:r>
            <a:endParaRPr lang="en-US" sz="800" dirty="0"/>
          </a:p>
        </p:txBody>
      </p:sp>
      <p:sp>
        <p:nvSpPr>
          <p:cNvPr id="35" name="Shape 33"/>
          <p:cNvSpPr/>
          <p:nvPr/>
        </p:nvSpPr>
        <p:spPr>
          <a:xfrm>
            <a:off x="6303618" y="4016045"/>
            <a:ext cx="1404774" cy="771754"/>
          </a:xfrm>
          <a:prstGeom prst="rect">
            <a:avLst/>
          </a:prstGeom>
          <a:solidFill>
            <a:srgbClr val="F8FBFD"/>
          </a:solidFill>
          <a:ln w="7620">
            <a:solidFill>
              <a:srgbClr val="FFFFFF"/>
            </a:solidFill>
            <a:prstDash val="solid"/>
          </a:ln>
        </p:spPr>
      </p:sp>
      <p:sp>
        <p:nvSpPr>
          <p:cNvPr id="36" name="Text 34"/>
          <p:cNvSpPr/>
          <p:nvPr/>
        </p:nvSpPr>
        <p:spPr>
          <a:xfrm>
            <a:off x="6349338" y="4052621"/>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Fast scale, but strategic logic remains centered on physical footprint</a:t>
            </a:r>
            <a:endParaRPr lang="en-US" sz="800" dirty="0"/>
          </a:p>
        </p:txBody>
      </p:sp>
      <p:sp>
        <p:nvSpPr>
          <p:cNvPr id="37" name="Shape 35"/>
          <p:cNvSpPr/>
          <p:nvPr/>
        </p:nvSpPr>
        <p:spPr>
          <a:xfrm>
            <a:off x="996696" y="4787798"/>
            <a:ext cx="2497375" cy="771754"/>
          </a:xfrm>
          <a:prstGeom prst="rect">
            <a:avLst/>
          </a:prstGeom>
          <a:solidFill>
            <a:srgbClr val="EAF1F7"/>
          </a:solidFill>
          <a:ln w="7620">
            <a:solidFill>
              <a:srgbClr val="FFFFFF"/>
            </a:solidFill>
            <a:prstDash val="solid"/>
          </a:ln>
        </p:spPr>
      </p:sp>
      <p:sp>
        <p:nvSpPr>
          <p:cNvPr id="38" name="Text 36"/>
          <p:cNvSpPr/>
          <p:nvPr/>
        </p:nvSpPr>
        <p:spPr>
          <a:xfrm>
            <a:off x="1042416" y="4824374"/>
            <a:ext cx="2405935" cy="698602"/>
          </a:xfrm>
          <a:prstGeom prst="rect">
            <a:avLst/>
          </a:prstGeom>
          <a:noFill/>
          <a:ln/>
        </p:spPr>
        <p:txBody>
          <a:bodyPr wrap="square" lIns="0" tIns="0" rIns="0" bIns="0" rtlCol="0" anchor="ctr">
            <a:normAutofit/>
          </a:bodyPr>
          <a:lstStyle/>
          <a:p>
            <a:pPr algn="l" indent="0" marL="0">
              <a:buNone/>
            </a:pPr>
            <a:r>
              <a:rPr lang="en-US" sz="800" b="1" dirty="0">
                <a:solidFill>
                  <a:srgbClr val="0C233C"/>
                </a:solidFill>
                <a:latin typeface="Arial" pitchFamily="34" charset="0"/>
                <a:ea typeface="Arial" pitchFamily="34" charset="-122"/>
                <a:cs typeface="Arial" pitchFamily="34" charset="-120"/>
              </a:rPr>
              <a:t>CareRx</a:t>
            </a:r>
            <a:endParaRPr lang="en-US" sz="800" dirty="0"/>
          </a:p>
        </p:txBody>
      </p:sp>
      <p:sp>
        <p:nvSpPr>
          <p:cNvPr id="39" name="Shape 37"/>
          <p:cNvSpPr/>
          <p:nvPr/>
        </p:nvSpPr>
        <p:spPr>
          <a:xfrm>
            <a:off x="3494071" y="4787798"/>
            <a:ext cx="1404774" cy="771754"/>
          </a:xfrm>
          <a:prstGeom prst="rect">
            <a:avLst/>
          </a:prstGeom>
          <a:solidFill>
            <a:srgbClr val="EEF4F9"/>
          </a:solidFill>
          <a:ln w="7620">
            <a:solidFill>
              <a:srgbClr val="FFFFFF"/>
            </a:solidFill>
            <a:prstDash val="solid"/>
          </a:ln>
        </p:spPr>
      </p:sp>
      <p:sp>
        <p:nvSpPr>
          <p:cNvPr id="40" name="Text 38"/>
          <p:cNvSpPr/>
          <p:nvPr/>
        </p:nvSpPr>
        <p:spPr>
          <a:xfrm>
            <a:off x="3539791" y="4824374"/>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C$370.2M / +1.0%</a:t>
            </a:r>
            <a:endParaRPr lang="en-US" sz="800" dirty="0"/>
          </a:p>
        </p:txBody>
      </p:sp>
      <p:sp>
        <p:nvSpPr>
          <p:cNvPr id="41" name="Shape 39"/>
          <p:cNvSpPr/>
          <p:nvPr/>
        </p:nvSpPr>
        <p:spPr>
          <a:xfrm>
            <a:off x="4898845" y="4787798"/>
            <a:ext cx="1404774" cy="771754"/>
          </a:xfrm>
          <a:prstGeom prst="rect">
            <a:avLst/>
          </a:prstGeom>
          <a:solidFill>
            <a:srgbClr val="EEF4F9"/>
          </a:solidFill>
          <a:ln w="7620">
            <a:solidFill>
              <a:srgbClr val="FFFFFF"/>
            </a:solidFill>
            <a:prstDash val="solid"/>
          </a:ln>
        </p:spPr>
      </p:sp>
      <p:sp>
        <p:nvSpPr>
          <p:cNvPr id="42" name="Text 40"/>
          <p:cNvSpPr/>
          <p:nvPr/>
        </p:nvSpPr>
        <p:spPr>
          <a:xfrm>
            <a:off x="4944565" y="4824374"/>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Focused pharmacy-services platform with tighter capital discipline</a:t>
            </a:r>
            <a:endParaRPr lang="en-US" sz="800" dirty="0"/>
          </a:p>
        </p:txBody>
      </p:sp>
      <p:sp>
        <p:nvSpPr>
          <p:cNvPr id="43" name="Shape 41"/>
          <p:cNvSpPr/>
          <p:nvPr/>
        </p:nvSpPr>
        <p:spPr>
          <a:xfrm>
            <a:off x="6303618" y="4787798"/>
            <a:ext cx="1404774" cy="771754"/>
          </a:xfrm>
          <a:prstGeom prst="rect">
            <a:avLst/>
          </a:prstGeom>
          <a:solidFill>
            <a:srgbClr val="EEF4F9"/>
          </a:solidFill>
          <a:ln w="7620">
            <a:solidFill>
              <a:srgbClr val="FFFFFF"/>
            </a:solidFill>
            <a:prstDash val="solid"/>
          </a:ln>
        </p:spPr>
      </p:sp>
      <p:sp>
        <p:nvSpPr>
          <p:cNvPr id="44" name="Text 42"/>
          <p:cNvSpPr/>
          <p:nvPr/>
        </p:nvSpPr>
        <p:spPr>
          <a:xfrm>
            <a:off x="6349338" y="4824374"/>
            <a:ext cx="1313334" cy="698602"/>
          </a:xfrm>
          <a:prstGeom prst="rect">
            <a:avLst/>
          </a:prstGeom>
          <a:noFill/>
          <a:ln/>
        </p:spPr>
        <p:txBody>
          <a:bodyPr wrap="square" lIns="0" tIns="0" rIns="0" bIns="0" rtlCol="0" anchor="ctr">
            <a:normAutofit/>
          </a:bodyPr>
          <a:lstStyle/>
          <a:p>
            <a:pPr algn="ctr" indent="0" marL="0">
              <a:buNone/>
            </a:pPr>
            <a:r>
              <a:rPr lang="en-US" sz="800" dirty="0">
                <a:solidFill>
                  <a:srgbClr val="0C233C"/>
                </a:solidFill>
                <a:latin typeface="Arial" pitchFamily="34" charset="0"/>
                <a:ea typeface="Arial" pitchFamily="34" charset="-122"/>
                <a:cs typeface="Arial" pitchFamily="34" charset="-120"/>
              </a:rPr>
              <a:t>Narrower optionality, but useful benchmark for discipline</a:t>
            </a:r>
            <a:endParaRPr lang="en-US" sz="800" dirty="0"/>
          </a:p>
        </p:txBody>
      </p:sp>
      <p:sp>
        <p:nvSpPr>
          <p:cNvPr id="45" name="Shape 43"/>
          <p:cNvSpPr/>
          <p:nvPr/>
        </p:nvSpPr>
        <p:spPr>
          <a:xfrm>
            <a:off x="7973568" y="1408176"/>
            <a:ext cx="2971800" cy="4151376"/>
          </a:xfrm>
          <a:prstGeom prst="rect">
            <a:avLst/>
          </a:prstGeom>
          <a:solidFill>
            <a:srgbClr val="F7F9FC"/>
          </a:solidFill>
          <a:ln w="6350">
            <a:solidFill>
              <a:srgbClr val="D9D9D9"/>
            </a:solidFill>
            <a:prstDash val="solid"/>
          </a:ln>
        </p:spPr>
      </p:sp>
      <p:sp>
        <p:nvSpPr>
          <p:cNvPr id="46" name="Text 44"/>
          <p:cNvSpPr/>
          <p:nvPr/>
        </p:nvSpPr>
        <p:spPr>
          <a:xfrm>
            <a:off x="8019288" y="1444752"/>
            <a:ext cx="2880360" cy="256032"/>
          </a:xfrm>
          <a:prstGeom prst="rect">
            <a:avLst/>
          </a:prstGeom>
          <a:noFill/>
          <a:ln/>
        </p:spPr>
        <p:txBody>
          <a:bodyPr wrap="square" lIns="0" tIns="0" rIns="0" bIns="0" rtlCol="0" anchor="ctr"/>
          <a:lstStyle/>
          <a:p>
            <a:pPr indent="0" marL="0">
              <a:buNone/>
            </a:pPr>
            <a:r>
              <a:rPr lang="en-US" sz="1000" b="1" dirty="0">
                <a:solidFill>
                  <a:srgbClr val="0C233C"/>
                </a:solidFill>
                <a:latin typeface="Arial" pitchFamily="34" charset="0"/>
                <a:ea typeface="Arial" pitchFamily="34" charset="-122"/>
                <a:cs typeface="Arial" pitchFamily="34" charset="-120"/>
              </a:rPr>
              <a:t>What peer set implies</a:t>
            </a:r>
            <a:endParaRPr lang="en-US" sz="1000" dirty="0"/>
          </a:p>
        </p:txBody>
      </p:sp>
      <p:sp>
        <p:nvSpPr>
          <p:cNvPr id="47" name="Text 45"/>
          <p:cNvSpPr/>
          <p:nvPr/>
        </p:nvSpPr>
        <p:spPr>
          <a:xfrm>
            <a:off x="8019288" y="1810512"/>
            <a:ext cx="2880360" cy="3675888"/>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Extendicare occupies the most attractive strategic lane because it is building recurring care-service adjacency rather than relying only on property-led growth.</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That advantage is valuable only if management prevents the company from becoming an integration-heavy conglomeration story, which is why capital should be ranked on one common return and readiness framework.</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CareRx provides the relevant caution:</a:t>
            </a:r>
            <a:pPr indent="0" marL="0">
              <a:spcAft>
                <a:spcPts val="300"/>
              </a:spcAft>
              <a:buNone/>
            </a:pPr>
            <a:r>
              <a:rPr lang="en-US" sz="1000" dirty="0">
                <a:solidFill>
                  <a:srgbClr val="000000"/>
                </a:solidFill>
                <a:latin typeface="Arial" pitchFamily="34" charset="0"/>
                <a:ea typeface="Arial" pitchFamily="34" charset="-122"/>
                <a:cs typeface="Arial" pitchFamily="34" charset="-120"/>
              </a:rPr>
              <a:t> a narrower services model can preserve discipline even when it sacrifices top-line ambition, so Extendicare should not confuse breadth with value creation.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board should therefore require proof that each additional services asset improves labour leverage, data visibility, and cross-selling economics rather than simply increasing footprint.</a:t>
            </a:r>
            <a:endParaRPr lang="en-US" sz="1000" dirty="0"/>
          </a:p>
        </p:txBody>
      </p:sp>
      <p:sp>
        <p:nvSpPr>
          <p:cNvPr id="48" name="Shape 46"/>
          <p:cNvSpPr/>
          <p:nvPr/>
        </p:nvSpPr>
        <p:spPr>
          <a:xfrm>
            <a:off x="996696" y="5559552"/>
            <a:ext cx="10195560" cy="530352"/>
          </a:xfrm>
          <a:prstGeom prst="rect">
            <a:avLst>
              <a:gd name="adj" fmla="val 13793"/>
            </a:avLst>
          </a:prstGeom>
          <a:solidFill>
            <a:srgbClr val="0C233C"/>
          </a:solidFill>
          <a:ln w="12700">
            <a:solidFill>
              <a:srgbClr val="0C233C"/>
            </a:solidFill>
            <a:prstDash val="solid"/>
          </a:ln>
        </p:spPr>
      </p:sp>
      <p:sp>
        <p:nvSpPr>
          <p:cNvPr id="49" name="Text 47"/>
          <p:cNvSpPr/>
          <p:nvPr/>
        </p:nvSpPr>
        <p:spPr>
          <a:xfrm>
            <a:off x="1161288" y="5605272"/>
            <a:ext cx="9866376"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 peer set supports Extendicare's strategic direction, but it also reinforces that the winning board posture is gated capital deployment rather than unconstrained expansion.</a:t>
            </a:r>
            <a:endParaRPr lang="en-US" sz="1300" dirty="0"/>
          </a:p>
        </p:txBody>
      </p:sp>
      <p:sp>
        <p:nvSpPr>
          <p:cNvPr id="50" name="Text 4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6696" y="429768"/>
            <a:ext cx="10195560" cy="5029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Demand tailwinds support the strategy, but operating maturity still sets the pace.</a:t>
            </a:r>
            <a:endParaRPr lang="en-US" sz="3200" dirty="0"/>
          </a:p>
        </p:txBody>
      </p:sp>
      <p:sp>
        <p:nvSpPr>
          <p:cNvPr id="3" name="Text 1"/>
          <p:cNvSpPr/>
          <p:nvPr/>
        </p:nvSpPr>
        <p:spPr>
          <a:xfrm>
            <a:off x="996696" y="5953100"/>
            <a:ext cx="10195560" cy="222758"/>
          </a:xfrm>
          <a:prstGeom prst="rect">
            <a:avLst/>
          </a:prstGeom>
          <a:noFill/>
          <a:ln/>
        </p:spPr>
        <p:txBody>
          <a:bodyPr wrap="square" lIns="0" tIns="0" rIns="0" bIns="0" rtlCol="0" anchor="t"/>
          <a:lstStyle/>
          <a:p>
            <a:pPr indent="0" marL="0">
              <a:buNone/>
            </a:pPr>
            <a:r>
              <a:rPr lang="en-US" sz="700" dirty="0">
                <a:solidFill>
                  <a:srgbClr val="00338D"/>
                </a:solidFill>
                <a:latin typeface="Arial" pitchFamily="34" charset="0"/>
                <a:ea typeface="Arial" pitchFamily="34" charset="-122"/>
                <a:cs typeface="Arial" pitchFamily="34" charset="-120"/>
              </a:rPr>
              <a:t>Source: Extendicare 2025 Annual Report; Extendicare investor presentation dated September 2025; Extendicare proposed CBI acquisition presentation dated November 2025; Grand View Research Canada Home Healthcare Market report; Statistics Canada; Ontario Ministry of Long-Term Care. March 2026.</a:t>
            </a:r>
            <a:endParaRPr lang="en-US" sz="700" dirty="0"/>
          </a:p>
        </p:txBody>
      </p:sp>
      <p:sp>
        <p:nvSpPr>
          <p:cNvPr id="4" name="Text 2"/>
          <p:cNvSpPr/>
          <p:nvPr/>
        </p:nvSpPr>
        <p:spPr>
          <a:xfrm>
            <a:off x="1389888" y="1261872"/>
            <a:ext cx="6245352" cy="457200"/>
          </a:xfrm>
          <a:prstGeom prst="rect">
            <a:avLst/>
          </a:prstGeom>
          <a:noFill/>
          <a:ln/>
        </p:spPr>
        <p:txBody>
          <a:bodyPr wrap="square" lIns="0" tIns="0" rIns="0" bIns="0" rtlCol="0" anchor="ctr"/>
          <a:lstStyle/>
          <a:p>
            <a:pPr algn="ctr" indent="0" marL="0">
              <a:spcAft>
                <a:spcPts val="600"/>
              </a:spcAft>
              <a:buNone/>
            </a:pPr>
            <a:r>
              <a:rPr lang="en-US" sz="1000" b="1" dirty="0">
                <a:solidFill>
                  <a:srgbClr val="000000"/>
                </a:solidFill>
                <a:latin typeface="Arial" pitchFamily="34" charset="0"/>
                <a:ea typeface="Arial" pitchFamily="34" charset="-122"/>
                <a:cs typeface="Arial" pitchFamily="34" charset="-120"/>
              </a:rPr>
              <a:t>Demand is not the bottleneck; operating maturity is.</a:t>
            </a:r>
            <a:endParaRPr lang="en-US" sz="1000" dirty="0"/>
          </a:p>
        </p:txBody>
      </p:sp>
      <p:sp>
        <p:nvSpPr>
          <p:cNvPr id="5" name="Shape 3"/>
          <p:cNvSpPr/>
          <p:nvPr/>
        </p:nvSpPr>
        <p:spPr>
          <a:xfrm>
            <a:off x="850392" y="1847088"/>
            <a:ext cx="6958584" cy="3310128"/>
          </a:xfrm>
          <a:prstGeom prst="rect">
            <a:avLst/>
          </a:prstGeom>
          <a:solidFill>
            <a:srgbClr val="F8FBFD"/>
          </a:solidFill>
          <a:ln w="10160">
            <a:solidFill>
              <a:srgbClr val="D9D9D9"/>
            </a:solidFill>
            <a:prstDash val="solid"/>
          </a:ln>
        </p:spPr>
      </p:sp>
      <p:sp>
        <p:nvSpPr>
          <p:cNvPr id="6" name="Shape 4"/>
          <p:cNvSpPr/>
          <p:nvPr/>
        </p:nvSpPr>
        <p:spPr>
          <a:xfrm>
            <a:off x="996696" y="1993392"/>
            <a:ext cx="2039112" cy="502920"/>
          </a:xfrm>
          <a:prstGeom prst="rect">
            <a:avLst/>
          </a:prstGeom>
          <a:solidFill>
            <a:srgbClr val="00338D"/>
          </a:solidFill>
          <a:ln w="12700">
            <a:solidFill>
              <a:srgbClr val="00338D"/>
            </a:solidFill>
            <a:prstDash val="solid"/>
          </a:ln>
        </p:spPr>
      </p:sp>
      <p:sp>
        <p:nvSpPr>
          <p:cNvPr id="7" name="Text 5"/>
          <p:cNvSpPr/>
          <p:nvPr/>
        </p:nvSpPr>
        <p:spPr>
          <a:xfrm>
            <a:off x="1069848" y="2066544"/>
            <a:ext cx="1892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Demand support</a:t>
            </a:r>
            <a:endParaRPr lang="en-US" sz="1000" dirty="0"/>
          </a:p>
        </p:txBody>
      </p:sp>
      <p:sp>
        <p:nvSpPr>
          <p:cNvPr id="8" name="Shape 6"/>
          <p:cNvSpPr/>
          <p:nvPr/>
        </p:nvSpPr>
        <p:spPr>
          <a:xfrm>
            <a:off x="1143000" y="2633472"/>
            <a:ext cx="1746504" cy="667146"/>
          </a:xfrm>
          <a:prstGeom prst="rect">
            <a:avLst/>
          </a:prstGeom>
          <a:solidFill>
            <a:srgbClr val="EAF1F7"/>
          </a:solidFill>
          <a:ln w="7620">
            <a:solidFill>
              <a:srgbClr val="FFFFFF"/>
            </a:solidFill>
            <a:prstDash val="solid"/>
          </a:ln>
        </p:spPr>
      </p:sp>
      <p:sp>
        <p:nvSpPr>
          <p:cNvPr id="9" name="Text 7"/>
          <p:cNvSpPr/>
          <p:nvPr/>
        </p:nvSpPr>
        <p:spPr>
          <a:xfrm>
            <a:off x="1216152" y="2670048"/>
            <a:ext cx="1600200" cy="593994"/>
          </a:xfrm>
          <a:prstGeom prst="rect">
            <a:avLst/>
          </a:prstGeom>
          <a:noFill/>
          <a:ln/>
        </p:spPr>
        <p:txBody>
          <a:bodyPr wrap="square" lIns="0" tIns="0" rIns="0" bIns="0" rtlCol="0" anchor="ctr">
            <a:normAutofit/>
          </a:bodyPr>
          <a:lstStyle/>
          <a:p>
            <a:pPr algn="ctr" indent="0" marL="0">
              <a:spcAft>
                <a:spcPts val="600"/>
              </a:spcAft>
              <a:buNone/>
            </a:pPr>
            <a:r>
              <a:rPr lang="en-US" sz="900" b="1" dirty="0">
                <a:solidFill>
                  <a:srgbClr val="000000"/>
                </a:solidFill>
                <a:latin typeface="Arial" pitchFamily="34" charset="0"/>
                <a:ea typeface="Arial" pitchFamily="34" charset="-122"/>
                <a:cs typeface="Arial" pitchFamily="34" charset="-120"/>
              </a:rPr>
              <a:t>Home health care hours reached 13.0M in 2025</a:t>
            </a:r>
            <a:endParaRPr lang="en-US" sz="900" dirty="0"/>
          </a:p>
        </p:txBody>
      </p:sp>
      <p:sp>
        <p:nvSpPr>
          <p:cNvPr id="10" name="Shape 8"/>
          <p:cNvSpPr/>
          <p:nvPr/>
        </p:nvSpPr>
        <p:spPr>
          <a:xfrm>
            <a:off x="1143000" y="3356214"/>
            <a:ext cx="1746504" cy="667146"/>
          </a:xfrm>
          <a:prstGeom prst="rect">
            <a:avLst/>
          </a:prstGeom>
          <a:solidFill>
            <a:srgbClr val="EEF4F9"/>
          </a:solidFill>
          <a:ln w="7620">
            <a:solidFill>
              <a:srgbClr val="FFFFFF"/>
            </a:solidFill>
            <a:prstDash val="solid"/>
          </a:ln>
        </p:spPr>
      </p:sp>
      <p:sp>
        <p:nvSpPr>
          <p:cNvPr id="11" name="Text 9"/>
          <p:cNvSpPr/>
          <p:nvPr/>
        </p:nvSpPr>
        <p:spPr>
          <a:xfrm>
            <a:off x="1216152" y="3392790"/>
            <a:ext cx="1600200" cy="593994"/>
          </a:xfrm>
          <a:prstGeom prst="rect">
            <a:avLst/>
          </a:prstGeom>
          <a:noFill/>
          <a:ln/>
        </p:spPr>
        <p:txBody>
          <a:bodyPr wrap="square" lIns="0" tIns="0" rIns="0" bIns="0" rtlCol="0" anchor="ctr">
            <a:normAutofit/>
          </a:bodyPr>
          <a:lstStyle/>
          <a:p>
            <a:pPr algn="ctr" indent="0" marL="0">
              <a:spcAft>
                <a:spcPts val="600"/>
              </a:spcAft>
              <a:buNone/>
            </a:pPr>
            <a:r>
              <a:rPr lang="en-US" sz="900" b="1" dirty="0">
                <a:solidFill>
                  <a:srgbClr val="000000"/>
                </a:solidFill>
                <a:latin typeface="Arial" pitchFamily="34" charset="0"/>
                <a:ea typeface="Arial" pitchFamily="34" charset="-122"/>
                <a:cs typeface="Arial" pitchFamily="34" charset="-120"/>
              </a:rPr>
              <a:t>Ageing population and home-care demand remain structural tailwinds</a:t>
            </a:r>
            <a:endParaRPr lang="en-US" sz="900" dirty="0"/>
          </a:p>
        </p:txBody>
      </p:sp>
      <p:sp>
        <p:nvSpPr>
          <p:cNvPr id="12" name="Shape 10"/>
          <p:cNvSpPr/>
          <p:nvPr/>
        </p:nvSpPr>
        <p:spPr>
          <a:xfrm>
            <a:off x="3310128" y="1993392"/>
            <a:ext cx="2039112" cy="502920"/>
          </a:xfrm>
          <a:prstGeom prst="rect">
            <a:avLst/>
          </a:prstGeom>
          <a:solidFill>
            <a:srgbClr val="00338D"/>
          </a:solidFill>
          <a:ln w="12700">
            <a:solidFill>
              <a:srgbClr val="00338D"/>
            </a:solidFill>
            <a:prstDash val="solid"/>
          </a:ln>
        </p:spPr>
      </p:sp>
      <p:sp>
        <p:nvSpPr>
          <p:cNvPr id="13" name="Text 11"/>
          <p:cNvSpPr/>
          <p:nvPr/>
        </p:nvSpPr>
        <p:spPr>
          <a:xfrm>
            <a:off x="3383280" y="2066544"/>
            <a:ext cx="1892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Execution constraints</a:t>
            </a:r>
            <a:endParaRPr lang="en-US" sz="1000" dirty="0"/>
          </a:p>
        </p:txBody>
      </p:sp>
      <p:sp>
        <p:nvSpPr>
          <p:cNvPr id="14" name="Shape 12"/>
          <p:cNvSpPr/>
          <p:nvPr/>
        </p:nvSpPr>
        <p:spPr>
          <a:xfrm>
            <a:off x="3456432" y="2633472"/>
            <a:ext cx="1746504" cy="667146"/>
          </a:xfrm>
          <a:prstGeom prst="rect">
            <a:avLst/>
          </a:prstGeom>
          <a:solidFill>
            <a:srgbClr val="EAF1F7"/>
          </a:solidFill>
          <a:ln w="7620">
            <a:solidFill>
              <a:srgbClr val="FFFFFF"/>
            </a:solidFill>
            <a:prstDash val="solid"/>
          </a:ln>
        </p:spPr>
      </p:sp>
      <p:sp>
        <p:nvSpPr>
          <p:cNvPr id="15" name="Text 13"/>
          <p:cNvSpPr/>
          <p:nvPr/>
        </p:nvSpPr>
        <p:spPr>
          <a:xfrm>
            <a:off x="3529584" y="2670048"/>
            <a:ext cx="1600200" cy="593994"/>
          </a:xfrm>
          <a:prstGeom prst="rect">
            <a:avLst/>
          </a:prstGeom>
          <a:noFill/>
          <a:ln/>
        </p:spPr>
        <p:txBody>
          <a:bodyPr wrap="square" lIns="0" tIns="0" rIns="0" bIns="0" rtlCol="0" anchor="ctr">
            <a:normAutofit/>
          </a:bodyPr>
          <a:lstStyle/>
          <a:p>
            <a:pPr algn="ctr" indent="0" marL="0">
              <a:spcAft>
                <a:spcPts val="600"/>
              </a:spcAft>
              <a:buNone/>
            </a:pPr>
            <a:r>
              <a:rPr lang="en-US" sz="900" b="1" dirty="0">
                <a:solidFill>
                  <a:srgbClr val="000000"/>
                </a:solidFill>
                <a:latin typeface="Arial" pitchFamily="34" charset="0"/>
                <a:ea typeface="Arial" pitchFamily="34" charset="-122"/>
                <a:cs typeface="Arial" pitchFamily="34" charset="-120"/>
              </a:rPr>
              <a:t>Labour retention and scheduling remain the key scaling bottlenecks</a:t>
            </a:r>
            <a:endParaRPr lang="en-US" sz="900" dirty="0"/>
          </a:p>
        </p:txBody>
      </p:sp>
      <p:sp>
        <p:nvSpPr>
          <p:cNvPr id="16" name="Shape 14"/>
          <p:cNvSpPr/>
          <p:nvPr/>
        </p:nvSpPr>
        <p:spPr>
          <a:xfrm>
            <a:off x="3456432" y="3356214"/>
            <a:ext cx="1746504" cy="667146"/>
          </a:xfrm>
          <a:prstGeom prst="rect">
            <a:avLst/>
          </a:prstGeom>
          <a:solidFill>
            <a:srgbClr val="EEF4F9"/>
          </a:solidFill>
          <a:ln w="7620">
            <a:solidFill>
              <a:srgbClr val="FFFFFF"/>
            </a:solidFill>
            <a:prstDash val="solid"/>
          </a:ln>
        </p:spPr>
      </p:sp>
      <p:sp>
        <p:nvSpPr>
          <p:cNvPr id="17" name="Text 15"/>
          <p:cNvSpPr/>
          <p:nvPr/>
        </p:nvSpPr>
        <p:spPr>
          <a:xfrm>
            <a:off x="3529584" y="3392790"/>
            <a:ext cx="1600200" cy="593994"/>
          </a:xfrm>
          <a:prstGeom prst="rect">
            <a:avLst/>
          </a:prstGeom>
          <a:noFill/>
          <a:ln/>
        </p:spPr>
        <p:txBody>
          <a:bodyPr wrap="square" lIns="0" tIns="0" rIns="0" bIns="0" rtlCol="0" anchor="ctr">
            <a:normAutofit/>
          </a:bodyPr>
          <a:lstStyle/>
          <a:p>
            <a:pPr algn="ctr" indent="0" marL="0">
              <a:spcAft>
                <a:spcPts val="600"/>
              </a:spcAft>
              <a:buNone/>
            </a:pPr>
            <a:r>
              <a:rPr lang="en-US" sz="900" b="1" dirty="0">
                <a:solidFill>
                  <a:srgbClr val="000000"/>
                </a:solidFill>
                <a:latin typeface="Arial" pitchFamily="34" charset="0"/>
                <a:ea typeface="Arial" pitchFamily="34" charset="-122"/>
                <a:cs typeface="Arial" pitchFamily="34" charset="-120"/>
              </a:rPr>
              <a:t>Comparable productivity and control data are still not fully visible</a:t>
            </a:r>
            <a:endParaRPr lang="en-US" sz="900" dirty="0"/>
          </a:p>
        </p:txBody>
      </p:sp>
      <p:sp>
        <p:nvSpPr>
          <p:cNvPr id="18" name="Shape 16"/>
          <p:cNvSpPr/>
          <p:nvPr/>
        </p:nvSpPr>
        <p:spPr>
          <a:xfrm>
            <a:off x="5623560" y="1993392"/>
            <a:ext cx="2039112" cy="502920"/>
          </a:xfrm>
          <a:prstGeom prst="rect">
            <a:avLst/>
          </a:prstGeom>
          <a:solidFill>
            <a:srgbClr val="00338D"/>
          </a:solidFill>
          <a:ln w="12700">
            <a:solidFill>
              <a:srgbClr val="00338D"/>
            </a:solidFill>
            <a:prstDash val="solid"/>
          </a:ln>
        </p:spPr>
      </p:sp>
      <p:sp>
        <p:nvSpPr>
          <p:cNvPr id="19" name="Text 17"/>
          <p:cNvSpPr/>
          <p:nvPr/>
        </p:nvSpPr>
        <p:spPr>
          <a:xfrm>
            <a:off x="5696712" y="2066544"/>
            <a:ext cx="189280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Capital reality</a:t>
            </a:r>
            <a:endParaRPr lang="en-US" sz="1000" dirty="0"/>
          </a:p>
        </p:txBody>
      </p:sp>
      <p:sp>
        <p:nvSpPr>
          <p:cNvPr id="20" name="Shape 18"/>
          <p:cNvSpPr/>
          <p:nvPr/>
        </p:nvSpPr>
        <p:spPr>
          <a:xfrm>
            <a:off x="5769864" y="2633472"/>
            <a:ext cx="1746504" cy="667146"/>
          </a:xfrm>
          <a:prstGeom prst="rect">
            <a:avLst/>
          </a:prstGeom>
          <a:solidFill>
            <a:srgbClr val="EAF1F7"/>
          </a:solidFill>
          <a:ln w="7620">
            <a:solidFill>
              <a:srgbClr val="FFFFFF"/>
            </a:solidFill>
            <a:prstDash val="solid"/>
          </a:ln>
        </p:spPr>
      </p:sp>
      <p:sp>
        <p:nvSpPr>
          <p:cNvPr id="21" name="Text 19"/>
          <p:cNvSpPr/>
          <p:nvPr/>
        </p:nvSpPr>
        <p:spPr>
          <a:xfrm>
            <a:off x="5843016" y="2670048"/>
            <a:ext cx="1600200" cy="593994"/>
          </a:xfrm>
          <a:prstGeom prst="rect">
            <a:avLst/>
          </a:prstGeom>
          <a:noFill/>
          <a:ln/>
        </p:spPr>
        <p:txBody>
          <a:bodyPr wrap="square" lIns="0" tIns="0" rIns="0" bIns="0" rtlCol="0" anchor="ctr">
            <a:normAutofit/>
          </a:bodyPr>
          <a:lstStyle/>
          <a:p>
            <a:pPr algn="ctr" indent="0" marL="0">
              <a:spcAft>
                <a:spcPts val="600"/>
              </a:spcAft>
              <a:buNone/>
            </a:pPr>
            <a:r>
              <a:rPr lang="en-US" sz="900" b="1" dirty="0">
                <a:solidFill>
                  <a:srgbClr val="000000"/>
                </a:solidFill>
                <a:latin typeface="Arial" pitchFamily="34" charset="0"/>
                <a:ea typeface="Arial" pitchFamily="34" charset="-122"/>
                <a:cs typeface="Arial" pitchFamily="34" charset="-120"/>
              </a:rPr>
              <a:t>Seven redevelopment projects are under construction and 17 more remain in the pipeline</a:t>
            </a:r>
            <a:endParaRPr lang="en-US" sz="900" dirty="0"/>
          </a:p>
        </p:txBody>
      </p:sp>
      <p:sp>
        <p:nvSpPr>
          <p:cNvPr id="22" name="Shape 20"/>
          <p:cNvSpPr/>
          <p:nvPr/>
        </p:nvSpPr>
        <p:spPr>
          <a:xfrm>
            <a:off x="5769864" y="3356214"/>
            <a:ext cx="1746504" cy="667146"/>
          </a:xfrm>
          <a:prstGeom prst="rect">
            <a:avLst/>
          </a:prstGeom>
          <a:solidFill>
            <a:srgbClr val="EEF4F9"/>
          </a:solidFill>
          <a:ln w="7620">
            <a:solidFill>
              <a:srgbClr val="FFFFFF"/>
            </a:solidFill>
            <a:prstDash val="solid"/>
          </a:ln>
        </p:spPr>
      </p:sp>
      <p:sp>
        <p:nvSpPr>
          <p:cNvPr id="23" name="Text 21"/>
          <p:cNvSpPr/>
          <p:nvPr/>
        </p:nvSpPr>
        <p:spPr>
          <a:xfrm>
            <a:off x="5843016" y="3392790"/>
            <a:ext cx="1600200" cy="593994"/>
          </a:xfrm>
          <a:prstGeom prst="rect">
            <a:avLst/>
          </a:prstGeom>
          <a:noFill/>
          <a:ln/>
        </p:spPr>
        <p:txBody>
          <a:bodyPr wrap="square" lIns="0" tIns="0" rIns="0" bIns="0" rtlCol="0" anchor="ctr">
            <a:normAutofit/>
          </a:bodyPr>
          <a:lstStyle/>
          <a:p>
            <a:pPr algn="ctr" indent="0" marL="0">
              <a:spcAft>
                <a:spcPts val="600"/>
              </a:spcAft>
              <a:buNone/>
            </a:pPr>
            <a:r>
              <a:rPr lang="en-US" sz="900" b="1" dirty="0">
                <a:solidFill>
                  <a:srgbClr val="000000"/>
                </a:solidFill>
                <a:latin typeface="Arial" pitchFamily="34" charset="0"/>
                <a:ea typeface="Arial" pitchFamily="34" charset="-122"/>
                <a:cs typeface="Arial" pitchFamily="34" charset="-120"/>
              </a:rPr>
              <a:t>Axium reduces funding intensity, but project selection still constrains pace</a:t>
            </a:r>
            <a:endParaRPr lang="en-US" sz="900" dirty="0"/>
          </a:p>
        </p:txBody>
      </p:sp>
      <p:sp>
        <p:nvSpPr>
          <p:cNvPr id="24" name="Shape 22"/>
          <p:cNvSpPr/>
          <p:nvPr/>
        </p:nvSpPr>
        <p:spPr>
          <a:xfrm>
            <a:off x="996696" y="4544568"/>
            <a:ext cx="6665976" cy="256032"/>
          </a:xfrm>
          <a:prstGeom prst="rect">
            <a:avLst>
              <a:gd name="adj" fmla="val 17857"/>
            </a:avLst>
          </a:prstGeom>
          <a:solidFill>
            <a:srgbClr val="1E49E2"/>
          </a:solidFill>
          <a:ln w="12700">
            <a:solidFill>
              <a:srgbClr val="1E49E2"/>
            </a:solidFill>
            <a:prstDash val="solid"/>
          </a:ln>
        </p:spPr>
      </p:sp>
      <p:sp>
        <p:nvSpPr>
          <p:cNvPr id="25" name="Text 23"/>
          <p:cNvSpPr/>
          <p:nvPr/>
        </p:nvSpPr>
        <p:spPr>
          <a:xfrm>
            <a:off x="1106424" y="4581144"/>
            <a:ext cx="6446520" cy="1828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Scaling conditions</a:t>
            </a:r>
            <a:endParaRPr lang="en-US" sz="1300" dirty="0"/>
          </a:p>
        </p:txBody>
      </p:sp>
      <p:sp>
        <p:nvSpPr>
          <p:cNvPr id="26" name="Shape 24"/>
          <p:cNvSpPr/>
          <p:nvPr/>
        </p:nvSpPr>
        <p:spPr>
          <a:xfrm>
            <a:off x="7973568" y="1362456"/>
            <a:ext cx="3118104" cy="3895344"/>
          </a:xfrm>
          <a:prstGeom prst="rect">
            <a:avLst/>
          </a:prstGeom>
          <a:solidFill>
            <a:srgbClr val="F7F9FC"/>
          </a:solidFill>
          <a:ln w="6350">
            <a:solidFill>
              <a:srgbClr val="D9D9D9"/>
            </a:solidFill>
            <a:prstDash val="solid"/>
          </a:ln>
        </p:spPr>
      </p:sp>
      <p:sp>
        <p:nvSpPr>
          <p:cNvPr id="27" name="Text 25"/>
          <p:cNvSpPr/>
          <p:nvPr/>
        </p:nvSpPr>
        <p:spPr>
          <a:xfrm>
            <a:off x="8019288" y="1408176"/>
            <a:ext cx="3026664" cy="274320"/>
          </a:xfrm>
          <a:prstGeom prst="rect">
            <a:avLst/>
          </a:prstGeom>
          <a:noFill/>
          <a:ln/>
        </p:spPr>
        <p:txBody>
          <a:bodyPr wrap="square" lIns="0" tIns="0" rIns="0" bIns="0" rtlCol="0" anchor="ctr"/>
          <a:lstStyle/>
          <a:p>
            <a:pPr indent="0" marL="0">
              <a:buNone/>
            </a:pPr>
            <a:r>
              <a:rPr lang="en-US" sz="1000" b="1" dirty="0">
                <a:solidFill>
                  <a:srgbClr val="0C233C"/>
                </a:solidFill>
                <a:latin typeface="Arial" pitchFamily="34" charset="0"/>
                <a:ea typeface="Arial" pitchFamily="34" charset="-122"/>
                <a:cs typeface="Arial" pitchFamily="34" charset="-120"/>
              </a:rPr>
              <a:t>Board read</a:t>
            </a:r>
            <a:endParaRPr lang="en-US" sz="1000" dirty="0"/>
          </a:p>
        </p:txBody>
      </p:sp>
      <p:sp>
        <p:nvSpPr>
          <p:cNvPr id="28" name="Text 26"/>
          <p:cNvSpPr/>
          <p:nvPr/>
        </p:nvSpPr>
        <p:spPr>
          <a:xfrm>
            <a:off x="8019288" y="1792224"/>
            <a:ext cx="3026664" cy="3730752"/>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market is not the limiting factor. Extendicare has already shown that community-services demand and utilisation can support the strategy.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real question is whether labour stability, integration quality, and data visibility can improve quickly enough to justify another acceleration step.</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board should therefore treat growth capital as conditional on operating maturity rather than as the default response to favourable demand.</a:t>
            </a:r>
            <a:endParaRPr lang="en-US" sz="1000" dirty="0"/>
          </a:p>
        </p:txBody>
      </p:sp>
      <p:sp>
        <p:nvSpPr>
          <p:cNvPr id="29" name="Shape 27"/>
          <p:cNvSpPr/>
          <p:nvPr/>
        </p:nvSpPr>
        <p:spPr>
          <a:xfrm>
            <a:off x="996696" y="5596128"/>
            <a:ext cx="10195560" cy="530352"/>
          </a:xfrm>
          <a:prstGeom prst="rect">
            <a:avLst>
              <a:gd name="adj" fmla="val 8621"/>
            </a:avLst>
          </a:prstGeom>
          <a:solidFill>
            <a:srgbClr val="0C233C"/>
          </a:solidFill>
          <a:ln w="12700">
            <a:solidFill>
              <a:srgbClr val="0C233C"/>
            </a:solidFill>
            <a:prstDash val="solid"/>
          </a:ln>
        </p:spPr>
      </p:sp>
      <p:sp>
        <p:nvSpPr>
          <p:cNvPr id="30" name="Text 28"/>
          <p:cNvSpPr/>
          <p:nvPr/>
        </p:nvSpPr>
        <p:spPr>
          <a:xfrm>
            <a:off x="1106424" y="5632704"/>
            <a:ext cx="99761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Demand tailwinds justify staying in the strategy, but the board should pace expansion according to operating maturity, not market enthusiasm.</a:t>
            </a:r>
            <a:endParaRPr lang="en-US" sz="1300" dirty="0"/>
          </a:p>
        </p:txBody>
      </p:sp>
      <p:sp>
        <p:nvSpPr>
          <p:cNvPr id="31" name="Text 2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6696" y="429768"/>
            <a:ext cx="10195560" cy="7315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Four milestones can prove the strategy before the board commits more capital.</a:t>
            </a:r>
            <a:endParaRPr lang="en-US" sz="3200" dirty="0"/>
          </a:p>
        </p:txBody>
      </p:sp>
      <p:sp>
        <p:nvSpPr>
          <p:cNvPr id="3" name="Text 1"/>
          <p:cNvSpPr/>
          <p:nvPr/>
        </p:nvSpPr>
        <p:spPr>
          <a:xfrm>
            <a:off x="996696" y="1124712"/>
            <a:ext cx="10195560" cy="27432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milestones are sequenced so that management proves integration and operating quality before it scales the next wave of investment. Each gate is measurable, time bound, and directly tied to the board's decision on whether to keep accelerating the services strategy.</a:t>
            </a:r>
            <a:endParaRPr lang="en-US" sz="1000" dirty="0"/>
          </a:p>
        </p:txBody>
      </p:sp>
      <p:sp>
        <p:nvSpPr>
          <p:cNvPr id="4" name="Shape 2"/>
          <p:cNvSpPr/>
          <p:nvPr/>
        </p:nvSpPr>
        <p:spPr>
          <a:xfrm>
            <a:off x="2194560" y="1956816"/>
            <a:ext cx="7644384" cy="0"/>
          </a:xfrm>
          <a:prstGeom prst="line">
            <a:avLst/>
          </a:prstGeom>
          <a:noFill/>
          <a:ln w="25400">
            <a:solidFill>
              <a:srgbClr val="D9D9D9"/>
            </a:solidFill>
            <a:prstDash val="solid"/>
          </a:ln>
        </p:spPr>
      </p:sp>
      <p:sp>
        <p:nvSpPr>
          <p:cNvPr id="5" name="Shape 3"/>
          <p:cNvSpPr/>
          <p:nvPr/>
        </p:nvSpPr>
        <p:spPr>
          <a:xfrm>
            <a:off x="996696" y="2395728"/>
            <a:ext cx="2395728" cy="3502152"/>
          </a:xfrm>
          <a:prstGeom prst="rect">
            <a:avLst/>
          </a:prstGeom>
          <a:solidFill>
            <a:srgbClr val="E5E5E5"/>
          </a:solidFill>
          <a:ln/>
        </p:spPr>
      </p:sp>
      <p:sp>
        <p:nvSpPr>
          <p:cNvPr id="6" name="Text 4"/>
          <p:cNvSpPr/>
          <p:nvPr/>
        </p:nvSpPr>
        <p:spPr>
          <a:xfrm>
            <a:off x="2020824" y="1783080"/>
            <a:ext cx="347472" cy="347472"/>
          </a:xfrm>
          <a:prstGeom prst="ellipse">
            <a:avLst/>
          </a:prstGeom>
          <a:solidFill>
            <a:srgbClr val="7213EA"/>
          </a:solidFill>
          <a:ln/>
        </p:spPr>
        <p:txBody>
          <a:bodyPr wrap="non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996696" y="2103120"/>
            <a:ext cx="2395728" cy="201168"/>
          </a:xfrm>
          <a:prstGeom prst="rect">
            <a:avLst/>
          </a:prstGeom>
          <a:noFill/>
          <a:ln/>
        </p:spPr>
        <p:txBody>
          <a:bodyPr wrap="square" lIns="46800" tIns="72000" rIns="90000" bIns="46800" rtlCol="0" anchor="t"/>
          <a:lstStyle/>
          <a:p>
            <a:pPr algn="ctr" indent="0" marL="0">
              <a:buNone/>
            </a:pPr>
            <a:r>
              <a:rPr lang="en-US" sz="1100" b="1" dirty="0">
                <a:solidFill>
                  <a:srgbClr val="00338D"/>
                </a:solidFill>
                <a:latin typeface="Arial" pitchFamily="34" charset="0"/>
                <a:ea typeface="Arial" pitchFamily="34" charset="-122"/>
                <a:cs typeface="Arial" pitchFamily="34" charset="-120"/>
              </a:rPr>
              <a:t>Stabilize the base (Q2-Q3 2026)</a:t>
            </a:r>
            <a:endParaRPr lang="en-US" sz="1100" dirty="0"/>
          </a:p>
        </p:txBody>
      </p:sp>
      <p:sp>
        <p:nvSpPr>
          <p:cNvPr id="8" name="Text 6"/>
          <p:cNvSpPr/>
          <p:nvPr/>
        </p:nvSpPr>
        <p:spPr>
          <a:xfrm>
            <a:off x="996696" y="2331720"/>
            <a:ext cx="2395728" cy="35661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Publish one scorecard covering home-care growth, labour retention, agency usage, redevelopment milestones, and system-conversion status.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Lock named owners for the top workforce, integration, and capital-allocation metrics and escalate any missed threshold to the board each quarter.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Require management to evidence no material service slippage as recent acquisitions are absorbed.</a:t>
            </a:r>
            <a:endParaRPr lang="en-US" sz="1000" dirty="0"/>
          </a:p>
        </p:txBody>
      </p:sp>
      <p:sp>
        <p:nvSpPr>
          <p:cNvPr id="9" name="Shape 7"/>
          <p:cNvSpPr/>
          <p:nvPr/>
        </p:nvSpPr>
        <p:spPr>
          <a:xfrm>
            <a:off x="3547872" y="2395728"/>
            <a:ext cx="2395728" cy="3502152"/>
          </a:xfrm>
          <a:prstGeom prst="rect">
            <a:avLst/>
          </a:prstGeom>
          <a:solidFill>
            <a:srgbClr val="E5E5E5"/>
          </a:solidFill>
          <a:ln/>
        </p:spPr>
      </p:sp>
      <p:sp>
        <p:nvSpPr>
          <p:cNvPr id="10" name="Text 8"/>
          <p:cNvSpPr/>
          <p:nvPr/>
        </p:nvSpPr>
        <p:spPr>
          <a:xfrm>
            <a:off x="4572000" y="1783080"/>
            <a:ext cx="347472" cy="347472"/>
          </a:xfrm>
          <a:prstGeom prst="ellipse">
            <a:avLst/>
          </a:prstGeom>
          <a:solidFill>
            <a:srgbClr val="7213EA"/>
          </a:solidFill>
          <a:ln/>
        </p:spPr>
        <p:txBody>
          <a:bodyPr wrap="non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3547872" y="2103120"/>
            <a:ext cx="2395728" cy="201168"/>
          </a:xfrm>
          <a:prstGeom prst="rect">
            <a:avLst/>
          </a:prstGeom>
          <a:noFill/>
          <a:ln/>
        </p:spPr>
        <p:txBody>
          <a:bodyPr wrap="square" lIns="46800" tIns="72000" rIns="90000" bIns="46800" rtlCol="0" anchor="t"/>
          <a:lstStyle/>
          <a:p>
            <a:pPr algn="ctr" indent="0" marL="0">
              <a:buNone/>
            </a:pPr>
            <a:r>
              <a:rPr lang="en-US" sz="1100" b="1" dirty="0">
                <a:solidFill>
                  <a:srgbClr val="00338D"/>
                </a:solidFill>
                <a:latin typeface="Arial" pitchFamily="34" charset="0"/>
                <a:ea typeface="Arial" pitchFamily="34" charset="-122"/>
                <a:cs typeface="Arial" pitchFamily="34" charset="-120"/>
              </a:rPr>
              <a:t>Prove integration quality (Q4 2026)</a:t>
            </a:r>
            <a:endParaRPr lang="en-US" sz="1100" dirty="0"/>
          </a:p>
        </p:txBody>
      </p:sp>
      <p:sp>
        <p:nvSpPr>
          <p:cNvPr id="12" name="Text 10"/>
          <p:cNvSpPr/>
          <p:nvPr/>
        </p:nvSpPr>
        <p:spPr>
          <a:xfrm>
            <a:off x="3547872" y="2331720"/>
            <a:ext cx="2395728" cy="35661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Show that acquired home-care capacity has held labour retention, scheduling productivity, and margin at or above the acquisition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Demonstrate that IT integration, internal controls, and synergy milestones on the current portfolio are on plan before a new major transaction is approved.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Confirm that data visibility is sufficient to compare productivity and quality across the legacy and acquired platforms.</a:t>
            </a:r>
            <a:endParaRPr lang="en-US" sz="1000" dirty="0"/>
          </a:p>
        </p:txBody>
      </p:sp>
      <p:sp>
        <p:nvSpPr>
          <p:cNvPr id="13" name="Shape 11"/>
          <p:cNvSpPr/>
          <p:nvPr/>
        </p:nvSpPr>
        <p:spPr>
          <a:xfrm>
            <a:off x="6099048" y="2395728"/>
            <a:ext cx="2395728" cy="3502152"/>
          </a:xfrm>
          <a:prstGeom prst="rect">
            <a:avLst/>
          </a:prstGeom>
          <a:solidFill>
            <a:srgbClr val="E5E5E5"/>
          </a:solidFill>
          <a:ln/>
        </p:spPr>
      </p:sp>
      <p:sp>
        <p:nvSpPr>
          <p:cNvPr id="14" name="Text 12"/>
          <p:cNvSpPr/>
          <p:nvPr/>
        </p:nvSpPr>
        <p:spPr>
          <a:xfrm>
            <a:off x="7123176" y="1783080"/>
            <a:ext cx="347472" cy="347472"/>
          </a:xfrm>
          <a:prstGeom prst="ellipse">
            <a:avLst/>
          </a:prstGeom>
          <a:solidFill>
            <a:srgbClr val="7213EA"/>
          </a:solidFill>
          <a:ln/>
        </p:spPr>
        <p:txBody>
          <a:bodyPr wrap="non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p:nvPr/>
        </p:nvSpPr>
        <p:spPr>
          <a:xfrm>
            <a:off x="6099048" y="2103120"/>
            <a:ext cx="2395728" cy="201168"/>
          </a:xfrm>
          <a:prstGeom prst="rect">
            <a:avLst/>
          </a:prstGeom>
          <a:noFill/>
          <a:ln/>
        </p:spPr>
        <p:txBody>
          <a:bodyPr wrap="square" lIns="46800" tIns="72000" rIns="90000" bIns="46800" rtlCol="0" anchor="t"/>
          <a:lstStyle/>
          <a:p>
            <a:pPr algn="ctr" indent="0" marL="0">
              <a:buNone/>
            </a:pPr>
            <a:r>
              <a:rPr lang="en-US" sz="1100" b="1" dirty="0">
                <a:solidFill>
                  <a:srgbClr val="00338D"/>
                </a:solidFill>
                <a:latin typeface="Arial" pitchFamily="34" charset="0"/>
                <a:ea typeface="Arial" pitchFamily="34" charset="-122"/>
                <a:cs typeface="Arial" pitchFamily="34" charset="-120"/>
              </a:rPr>
              <a:t>Re-rank capital uses (H1 2027)</a:t>
            </a:r>
            <a:endParaRPr lang="en-US" sz="1100" dirty="0"/>
          </a:p>
        </p:txBody>
      </p:sp>
      <p:sp>
        <p:nvSpPr>
          <p:cNvPr id="16" name="Text 14"/>
          <p:cNvSpPr/>
          <p:nvPr/>
        </p:nvSpPr>
        <p:spPr>
          <a:xfrm>
            <a:off x="6099048" y="2331720"/>
            <a:ext cx="2395728" cy="35661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Apply one hurdle-rate framework to redevelopment starts, home-care expansion, managed-services opportunities, and digital investments.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Advance only the projects that beat the services-led base case on return, timing, and execution readiness rather than defaulting to legacy capital patterns.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the framework to decide whether any of the 17 pipeline redevelopment opportunities should move forward.</a:t>
            </a:r>
            <a:endParaRPr lang="en-US" sz="1000" dirty="0"/>
          </a:p>
        </p:txBody>
      </p:sp>
      <p:sp>
        <p:nvSpPr>
          <p:cNvPr id="17" name="Shape 15"/>
          <p:cNvSpPr/>
          <p:nvPr/>
        </p:nvSpPr>
        <p:spPr>
          <a:xfrm>
            <a:off x="8641080" y="2395728"/>
            <a:ext cx="2395728" cy="3502152"/>
          </a:xfrm>
          <a:prstGeom prst="rect">
            <a:avLst/>
          </a:prstGeom>
          <a:solidFill>
            <a:srgbClr val="E5E5E5"/>
          </a:solidFill>
          <a:ln/>
        </p:spPr>
      </p:sp>
      <p:sp>
        <p:nvSpPr>
          <p:cNvPr id="18" name="Text 16"/>
          <p:cNvSpPr/>
          <p:nvPr/>
        </p:nvSpPr>
        <p:spPr>
          <a:xfrm>
            <a:off x="9665208" y="1783080"/>
            <a:ext cx="347472" cy="347472"/>
          </a:xfrm>
          <a:prstGeom prst="ellipse">
            <a:avLst/>
          </a:prstGeom>
          <a:solidFill>
            <a:srgbClr val="7213EA"/>
          </a:solidFill>
          <a:ln/>
        </p:spPr>
        <p:txBody>
          <a:bodyPr wrap="non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Text 17"/>
          <p:cNvSpPr/>
          <p:nvPr/>
        </p:nvSpPr>
        <p:spPr>
          <a:xfrm>
            <a:off x="8641080" y="2103120"/>
            <a:ext cx="2395728" cy="201168"/>
          </a:xfrm>
          <a:prstGeom prst="rect">
            <a:avLst/>
          </a:prstGeom>
          <a:noFill/>
          <a:ln/>
        </p:spPr>
        <p:txBody>
          <a:bodyPr wrap="square" lIns="46800" tIns="72000" rIns="90000" bIns="46800" rtlCol="0" anchor="t"/>
          <a:lstStyle/>
          <a:p>
            <a:pPr algn="ctr" indent="0" marL="0">
              <a:buNone/>
            </a:pPr>
            <a:r>
              <a:rPr lang="en-US" sz="1100" b="1" dirty="0">
                <a:solidFill>
                  <a:srgbClr val="00338D"/>
                </a:solidFill>
                <a:latin typeface="Arial" pitchFamily="34" charset="0"/>
                <a:ea typeface="Arial" pitchFamily="34" charset="-122"/>
                <a:cs typeface="Arial" pitchFamily="34" charset="-120"/>
              </a:rPr>
              <a:t>Release the next wave (H2 2027 onward)</a:t>
            </a:r>
            <a:endParaRPr lang="en-US" sz="1100" dirty="0"/>
          </a:p>
        </p:txBody>
      </p:sp>
      <p:sp>
        <p:nvSpPr>
          <p:cNvPr id="20" name="Text 18"/>
          <p:cNvSpPr/>
          <p:nvPr/>
        </p:nvSpPr>
        <p:spPr>
          <a:xfrm>
            <a:off x="8641080" y="2331720"/>
            <a:ext cx="2395728" cy="35661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Approve additional acquisitions or redevelopment starts only if margin, retention, and control milestones stay within board-approved bands for two consecutive quarters.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Refresh the EBITDA bridge and strategic option set with actual delivery data rather than with a narrative-only update.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Keep the board's default posture as gated growth until the company proves it can operate as a scaled services platform.</a:t>
            </a:r>
            <a:endParaRPr lang="en-US" sz="1000" dirty="0"/>
          </a:p>
        </p:txBody>
      </p:sp>
      <p:sp>
        <p:nvSpPr>
          <p:cNvPr id="21" name="Text 19"/>
          <p:cNvSpPr/>
          <p:nvPr/>
        </p:nvSpPr>
        <p:spPr>
          <a:xfrm>
            <a:off x="996696" y="5992978"/>
            <a:ext cx="10195560" cy="182880"/>
          </a:xfrm>
          <a:prstGeom prst="rect">
            <a:avLst/>
          </a:prstGeom>
          <a:noFill/>
          <a:ln/>
        </p:spPr>
        <p:txBody>
          <a:bodyPr wrap="square" lIns="46800" tIns="72000" rIns="90000" bIns="46800" rtlCol="0" anchor="t"/>
          <a:lstStyle/>
          <a:p>
            <a:pPr indent="0" marL="0">
              <a:buNone/>
            </a:pPr>
            <a:r>
              <a:rPr lang="en-US" sz="700" i="1" dirty="0">
                <a:solidFill>
                  <a:srgbClr val="00338D"/>
                </a:solidFill>
                <a:latin typeface="Arial" pitchFamily="34" charset="0"/>
                <a:ea typeface="Arial" pitchFamily="34" charset="-122"/>
                <a:cs typeface="Arial" pitchFamily="34" charset="-120"/>
              </a:rPr>
              <a:t>Source: Extendicare 2025 Annual Report; Extendicare proposed CBI acquisition presentation dated November 2025; Ontario Ministry of Long-Term Care; KPMG analysis. March 2026.</a:t>
            </a:r>
            <a:endParaRPr lang="en-US" sz="700" dirty="0"/>
          </a:p>
        </p:txBody>
      </p:sp>
      <p:sp>
        <p:nvSpPr>
          <p:cNvPr id="22" name="Text 2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6696" y="429768"/>
            <a:ext cx="10195560" cy="7315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The next 12 months should focus on integration, capital discipline, and data.</a:t>
            </a:r>
            <a:endParaRPr lang="en-US" sz="3200" dirty="0"/>
          </a:p>
        </p:txBody>
      </p:sp>
      <p:sp>
        <p:nvSpPr>
          <p:cNvPr id="3" name="Text 1"/>
          <p:cNvSpPr/>
          <p:nvPr/>
        </p:nvSpPr>
        <p:spPr>
          <a:xfrm>
            <a:off x="996696" y="1124712"/>
            <a:ext cx="10195560" cy="27432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Each workstream is active today, but none should be judged by activity alone. The board should monitor whether the workstreams are creating a more controllable platform, because that is the condition required for the services pivot to keep compounding value.</a:t>
            </a:r>
            <a:endParaRPr lang="en-US" sz="1000" dirty="0"/>
          </a:p>
        </p:txBody>
      </p:sp>
      <p:sp>
        <p:nvSpPr>
          <p:cNvPr id="4" name="Shape 2"/>
          <p:cNvSpPr/>
          <p:nvPr/>
        </p:nvSpPr>
        <p:spPr>
          <a:xfrm>
            <a:off x="996696" y="1499616"/>
            <a:ext cx="2916936" cy="4434840"/>
          </a:xfrm>
          <a:prstGeom prst="rect">
            <a:avLst/>
          </a:prstGeom>
          <a:noFill/>
          <a:ln w="9525">
            <a:solidFill>
              <a:srgbClr val="D9D9D9"/>
            </a:solidFill>
            <a:prstDash val="solid"/>
          </a:ln>
        </p:spPr>
      </p:sp>
      <p:sp>
        <p:nvSpPr>
          <p:cNvPr id="5" name="Shape 3"/>
          <p:cNvSpPr/>
          <p:nvPr/>
        </p:nvSpPr>
        <p:spPr>
          <a:xfrm>
            <a:off x="996696" y="1499616"/>
            <a:ext cx="2916936" cy="502920"/>
          </a:xfrm>
          <a:prstGeom prst="rect">
            <a:avLst/>
          </a:prstGeom>
          <a:solidFill>
            <a:srgbClr val="00338D"/>
          </a:solidFill>
          <a:ln/>
        </p:spPr>
      </p:sp>
      <p:sp>
        <p:nvSpPr>
          <p:cNvPr id="6" name="Text 4"/>
          <p:cNvSpPr/>
          <p:nvPr/>
        </p:nvSpPr>
        <p:spPr>
          <a:xfrm>
            <a:off x="996696" y="1499616"/>
            <a:ext cx="2916936" cy="502920"/>
          </a:xfrm>
          <a:prstGeom prst="rect">
            <a:avLst/>
          </a:prstGeom>
          <a:noFill/>
          <a:ln/>
        </p:spPr>
        <p:txBody>
          <a:bodyPr wrap="square" lIns="46800" tIns="72000" rIns="90000" bIns="4680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Integrate home health and managed services</a:t>
            </a:r>
            <a:endParaRPr lang="en-US" sz="1100" dirty="0"/>
          </a:p>
        </p:txBody>
      </p:sp>
      <p:sp>
        <p:nvSpPr>
          <p:cNvPr id="7" name="Text 5"/>
          <p:cNvSpPr/>
          <p:nvPr/>
        </p:nvSpPr>
        <p:spPr>
          <a:xfrm>
            <a:off x="1815084" y="2642616"/>
            <a:ext cx="1280160" cy="1280160"/>
          </a:xfrm>
          <a:prstGeom prst="ellipse">
            <a:avLst/>
          </a:prstGeom>
          <a:solidFill>
            <a:srgbClr val="00B8F5"/>
          </a:solidFill>
          <a:ln/>
        </p:spPr>
        <p:txBody>
          <a:bodyPr wrap="none" rtlCol="0" anchor="ctr"/>
          <a:lstStyle/>
          <a:p>
            <a:pPr algn="ctr" indent="0" marL="0">
              <a:buNone/>
            </a:pPr>
            <a:r>
              <a:rPr lang="en-US" sz="2400" b="1" dirty="0">
                <a:solidFill>
                  <a:srgbClr val="00338D"/>
                </a:solidFill>
                <a:latin typeface="Arial" pitchFamily="34" charset="0"/>
                <a:ea typeface="Arial" pitchFamily="34" charset="-122"/>
                <a:cs typeface="Arial" pitchFamily="34" charset="-120"/>
              </a:rPr>
              <a:t>72%</a:t>
            </a:r>
            <a:endParaRPr lang="en-US" sz="2400" dirty="0"/>
          </a:p>
        </p:txBody>
      </p:sp>
      <p:sp>
        <p:nvSpPr>
          <p:cNvPr id="8" name="Shape 6"/>
          <p:cNvSpPr/>
          <p:nvPr/>
        </p:nvSpPr>
        <p:spPr>
          <a:xfrm>
            <a:off x="1088136" y="4059936"/>
            <a:ext cx="2734056" cy="0"/>
          </a:xfrm>
          <a:prstGeom prst="line">
            <a:avLst/>
          </a:prstGeom>
          <a:noFill/>
          <a:ln w="9525">
            <a:solidFill>
              <a:srgbClr val="D9D9D9"/>
            </a:solidFill>
            <a:prstDash val="dash"/>
          </a:ln>
        </p:spPr>
      </p:sp>
      <p:sp>
        <p:nvSpPr>
          <p:cNvPr id="9" name="Text 7"/>
          <p:cNvSpPr/>
          <p:nvPr/>
        </p:nvSpPr>
        <p:spPr>
          <a:xfrm>
            <a:off x="996696" y="3877056"/>
            <a:ext cx="2916936" cy="274320"/>
          </a:xfrm>
          <a:prstGeom prst="rect">
            <a:avLst/>
          </a:prstGeom>
          <a:noFill/>
          <a:ln/>
        </p:spPr>
        <p:txBody>
          <a:bodyPr wrap="square" lIns="46800" tIns="72000" rIns="90000" bIns="46800" rtlCol="0" anchor="b"/>
          <a:lstStyle/>
          <a:p>
            <a:pPr algn="ctr" indent="0" marL="0">
              <a:buNone/>
            </a:pPr>
            <a:r>
              <a:rPr lang="en-US" sz="900" b="1" dirty="0">
                <a:solidFill>
                  <a:srgbClr val="00338D"/>
                </a:solidFill>
                <a:latin typeface="Arial" pitchFamily="34" charset="0"/>
                <a:ea typeface="Arial" pitchFamily="34" charset="-122"/>
                <a:cs typeface="Arial" pitchFamily="34" charset="-120"/>
              </a:rPr>
              <a:t>Potential roadblocks</a:t>
            </a:r>
            <a:endParaRPr lang="en-US" sz="900" dirty="0"/>
          </a:p>
        </p:txBody>
      </p:sp>
      <p:sp>
        <p:nvSpPr>
          <p:cNvPr id="10" name="Text 8"/>
          <p:cNvSpPr/>
          <p:nvPr/>
        </p:nvSpPr>
        <p:spPr>
          <a:xfrm>
            <a:off x="1088136" y="4151376"/>
            <a:ext cx="2734056" cy="178308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Closing the Gap closed on July 1, 2025 and Q4 home health ADV increased 27.3% year over year, confirming the scale case is real.</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Board focus should now shift to labour retention, IT harmonization, and synergy capture before another major services transaction is approved.</a:t>
            </a:r>
            <a:endParaRPr lang="en-US" sz="1000" dirty="0"/>
          </a:p>
        </p:txBody>
      </p:sp>
      <p:sp>
        <p:nvSpPr>
          <p:cNvPr id="11" name="Shape 9"/>
          <p:cNvSpPr/>
          <p:nvPr/>
        </p:nvSpPr>
        <p:spPr>
          <a:xfrm>
            <a:off x="4626864" y="1499616"/>
            <a:ext cx="2916936" cy="4434840"/>
          </a:xfrm>
          <a:prstGeom prst="rect">
            <a:avLst/>
          </a:prstGeom>
          <a:noFill/>
          <a:ln w="9525">
            <a:solidFill>
              <a:srgbClr val="D9D9D9"/>
            </a:solidFill>
            <a:prstDash val="solid"/>
          </a:ln>
        </p:spPr>
      </p:sp>
      <p:sp>
        <p:nvSpPr>
          <p:cNvPr id="12" name="Shape 10"/>
          <p:cNvSpPr/>
          <p:nvPr/>
        </p:nvSpPr>
        <p:spPr>
          <a:xfrm>
            <a:off x="4626864" y="1499616"/>
            <a:ext cx="2916936" cy="502920"/>
          </a:xfrm>
          <a:prstGeom prst="rect">
            <a:avLst/>
          </a:prstGeom>
          <a:solidFill>
            <a:srgbClr val="00338D"/>
          </a:solidFill>
          <a:ln/>
        </p:spPr>
      </p:sp>
      <p:sp>
        <p:nvSpPr>
          <p:cNvPr id="13" name="Text 11"/>
          <p:cNvSpPr/>
          <p:nvPr/>
        </p:nvSpPr>
        <p:spPr>
          <a:xfrm>
            <a:off x="4626864" y="1499616"/>
            <a:ext cx="2916936" cy="502920"/>
          </a:xfrm>
          <a:prstGeom prst="rect">
            <a:avLst/>
          </a:prstGeom>
          <a:noFill/>
          <a:ln/>
        </p:spPr>
        <p:txBody>
          <a:bodyPr wrap="square" lIns="46800" tIns="72000" rIns="90000" bIns="4680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Keep redevelopment selective</a:t>
            </a:r>
            <a:endParaRPr lang="en-US" sz="1100" dirty="0"/>
          </a:p>
        </p:txBody>
      </p:sp>
      <p:sp>
        <p:nvSpPr>
          <p:cNvPr id="14" name="Text 12"/>
          <p:cNvSpPr/>
          <p:nvPr/>
        </p:nvSpPr>
        <p:spPr>
          <a:xfrm>
            <a:off x="5445252" y="2642616"/>
            <a:ext cx="1280160" cy="1280160"/>
          </a:xfrm>
          <a:prstGeom prst="ellipse">
            <a:avLst/>
          </a:prstGeom>
          <a:solidFill>
            <a:srgbClr val="00B8F5"/>
          </a:solidFill>
          <a:ln/>
        </p:spPr>
        <p:txBody>
          <a:bodyPr wrap="none" rtlCol="0" anchor="ctr"/>
          <a:lstStyle/>
          <a:p>
            <a:pPr algn="ctr" indent="0" marL="0">
              <a:buNone/>
            </a:pPr>
            <a:r>
              <a:rPr lang="en-US" sz="2400" b="1" dirty="0">
                <a:solidFill>
                  <a:srgbClr val="00338D"/>
                </a:solidFill>
                <a:latin typeface="Arial" pitchFamily="34" charset="0"/>
                <a:ea typeface="Arial" pitchFamily="34" charset="-122"/>
                <a:cs typeface="Arial" pitchFamily="34" charset="-120"/>
              </a:rPr>
              <a:t>64%</a:t>
            </a:r>
            <a:endParaRPr lang="en-US" sz="2400" dirty="0"/>
          </a:p>
        </p:txBody>
      </p:sp>
      <p:sp>
        <p:nvSpPr>
          <p:cNvPr id="15" name="Shape 13"/>
          <p:cNvSpPr/>
          <p:nvPr/>
        </p:nvSpPr>
        <p:spPr>
          <a:xfrm>
            <a:off x="4718304" y="4059936"/>
            <a:ext cx="2734056" cy="0"/>
          </a:xfrm>
          <a:prstGeom prst="line">
            <a:avLst/>
          </a:prstGeom>
          <a:noFill/>
          <a:ln w="9525">
            <a:solidFill>
              <a:srgbClr val="D9D9D9"/>
            </a:solidFill>
            <a:prstDash val="dash"/>
          </a:ln>
        </p:spPr>
      </p:sp>
      <p:sp>
        <p:nvSpPr>
          <p:cNvPr id="16" name="Text 14"/>
          <p:cNvSpPr/>
          <p:nvPr/>
        </p:nvSpPr>
        <p:spPr>
          <a:xfrm>
            <a:off x="4626864" y="3877056"/>
            <a:ext cx="2916936" cy="274320"/>
          </a:xfrm>
          <a:prstGeom prst="rect">
            <a:avLst/>
          </a:prstGeom>
          <a:noFill/>
          <a:ln/>
        </p:spPr>
        <p:txBody>
          <a:bodyPr wrap="square" lIns="46800" tIns="72000" rIns="90000" bIns="46800" rtlCol="0" anchor="b"/>
          <a:lstStyle/>
          <a:p>
            <a:pPr algn="ctr" indent="0" marL="0">
              <a:buNone/>
            </a:pPr>
            <a:r>
              <a:rPr lang="en-US" sz="900" b="1" dirty="0">
                <a:solidFill>
                  <a:srgbClr val="00338D"/>
                </a:solidFill>
                <a:latin typeface="Arial" pitchFamily="34" charset="0"/>
                <a:ea typeface="Arial" pitchFamily="34" charset="-122"/>
                <a:cs typeface="Arial" pitchFamily="34" charset="-120"/>
              </a:rPr>
              <a:t>Potential roadblocks</a:t>
            </a:r>
            <a:endParaRPr lang="en-US" sz="900" dirty="0"/>
          </a:p>
        </p:txBody>
      </p:sp>
      <p:sp>
        <p:nvSpPr>
          <p:cNvPr id="17" name="Text 15"/>
          <p:cNvSpPr/>
          <p:nvPr/>
        </p:nvSpPr>
        <p:spPr>
          <a:xfrm>
            <a:off x="4718304" y="4151376"/>
            <a:ext cx="2734056" cy="178308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Seven projects are under construction replacing 1,375 Class C beds with 1,728 new beds, and 17 more remain in the pipeline.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Committed projects should continue, but each incremental start should beat the home-care and managed-services case on return and complexity.</a:t>
            </a:r>
            <a:endParaRPr lang="en-US" sz="1000" dirty="0"/>
          </a:p>
        </p:txBody>
      </p:sp>
      <p:sp>
        <p:nvSpPr>
          <p:cNvPr id="18" name="Shape 16"/>
          <p:cNvSpPr/>
          <p:nvPr/>
        </p:nvSpPr>
        <p:spPr>
          <a:xfrm>
            <a:off x="8275320" y="1499616"/>
            <a:ext cx="2916936" cy="4434840"/>
          </a:xfrm>
          <a:prstGeom prst="rect">
            <a:avLst/>
          </a:prstGeom>
          <a:noFill/>
          <a:ln w="9525">
            <a:solidFill>
              <a:srgbClr val="D9D9D9"/>
            </a:solidFill>
            <a:prstDash val="solid"/>
          </a:ln>
        </p:spPr>
      </p:sp>
      <p:sp>
        <p:nvSpPr>
          <p:cNvPr id="19" name="Shape 17"/>
          <p:cNvSpPr/>
          <p:nvPr/>
        </p:nvSpPr>
        <p:spPr>
          <a:xfrm>
            <a:off x="8275320" y="1499616"/>
            <a:ext cx="2916936" cy="502920"/>
          </a:xfrm>
          <a:prstGeom prst="rect">
            <a:avLst/>
          </a:prstGeom>
          <a:solidFill>
            <a:srgbClr val="00338D"/>
          </a:solidFill>
          <a:ln/>
        </p:spPr>
      </p:sp>
      <p:sp>
        <p:nvSpPr>
          <p:cNvPr id="20" name="Text 18"/>
          <p:cNvSpPr/>
          <p:nvPr/>
        </p:nvSpPr>
        <p:spPr>
          <a:xfrm>
            <a:off x="8275320" y="1499616"/>
            <a:ext cx="2916936" cy="502920"/>
          </a:xfrm>
          <a:prstGeom prst="rect">
            <a:avLst/>
          </a:prstGeom>
          <a:noFill/>
          <a:ln/>
        </p:spPr>
        <p:txBody>
          <a:bodyPr wrap="square" lIns="46800" tIns="72000" rIns="90000" bIns="4680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Build data and control maturity</a:t>
            </a:r>
            <a:endParaRPr lang="en-US" sz="1100" dirty="0"/>
          </a:p>
        </p:txBody>
      </p:sp>
      <p:sp>
        <p:nvSpPr>
          <p:cNvPr id="21" name="Text 19"/>
          <p:cNvSpPr/>
          <p:nvPr/>
        </p:nvSpPr>
        <p:spPr>
          <a:xfrm>
            <a:off x="9093708" y="2642616"/>
            <a:ext cx="1280160" cy="1280160"/>
          </a:xfrm>
          <a:prstGeom prst="ellipse">
            <a:avLst/>
          </a:prstGeom>
          <a:solidFill>
            <a:srgbClr val="00B8F5"/>
          </a:solidFill>
          <a:ln/>
        </p:spPr>
        <p:txBody>
          <a:bodyPr wrap="none" rtlCol="0" anchor="ctr"/>
          <a:lstStyle/>
          <a:p>
            <a:pPr algn="ctr" indent="0" marL="0">
              <a:buNone/>
            </a:pPr>
            <a:r>
              <a:rPr lang="en-US" sz="2400" b="1" dirty="0">
                <a:solidFill>
                  <a:srgbClr val="00338D"/>
                </a:solidFill>
                <a:latin typeface="Arial" pitchFamily="34" charset="0"/>
                <a:ea typeface="Arial" pitchFamily="34" charset="-122"/>
                <a:cs typeface="Arial" pitchFamily="34" charset="-120"/>
              </a:rPr>
              <a:t>52%</a:t>
            </a:r>
            <a:endParaRPr lang="en-US" sz="2400" dirty="0"/>
          </a:p>
        </p:txBody>
      </p:sp>
      <p:sp>
        <p:nvSpPr>
          <p:cNvPr id="22" name="Shape 20"/>
          <p:cNvSpPr/>
          <p:nvPr/>
        </p:nvSpPr>
        <p:spPr>
          <a:xfrm>
            <a:off x="8366760" y="4059936"/>
            <a:ext cx="2734056" cy="0"/>
          </a:xfrm>
          <a:prstGeom prst="line">
            <a:avLst/>
          </a:prstGeom>
          <a:noFill/>
          <a:ln w="9525">
            <a:solidFill>
              <a:srgbClr val="D9D9D9"/>
            </a:solidFill>
            <a:prstDash val="dash"/>
          </a:ln>
        </p:spPr>
      </p:sp>
      <p:sp>
        <p:nvSpPr>
          <p:cNvPr id="23" name="Text 21"/>
          <p:cNvSpPr/>
          <p:nvPr/>
        </p:nvSpPr>
        <p:spPr>
          <a:xfrm>
            <a:off x="8275320" y="3877056"/>
            <a:ext cx="2916936" cy="274320"/>
          </a:xfrm>
          <a:prstGeom prst="rect">
            <a:avLst/>
          </a:prstGeom>
          <a:noFill/>
          <a:ln/>
        </p:spPr>
        <p:txBody>
          <a:bodyPr wrap="square" lIns="46800" tIns="72000" rIns="90000" bIns="46800" rtlCol="0" anchor="b"/>
          <a:lstStyle/>
          <a:p>
            <a:pPr algn="ctr" indent="0" marL="0">
              <a:buNone/>
            </a:pPr>
            <a:r>
              <a:rPr lang="en-US" sz="900" b="1" dirty="0">
                <a:solidFill>
                  <a:srgbClr val="00338D"/>
                </a:solidFill>
                <a:latin typeface="Arial" pitchFamily="34" charset="0"/>
                <a:ea typeface="Arial" pitchFamily="34" charset="-122"/>
                <a:cs typeface="Arial" pitchFamily="34" charset="-120"/>
              </a:rPr>
              <a:t>Potential roadblocks</a:t>
            </a:r>
            <a:endParaRPr lang="en-US" sz="900" dirty="0"/>
          </a:p>
        </p:txBody>
      </p:sp>
      <p:sp>
        <p:nvSpPr>
          <p:cNvPr id="24" name="Text 22"/>
          <p:cNvSpPr/>
          <p:nvPr/>
        </p:nvSpPr>
        <p:spPr>
          <a:xfrm>
            <a:off x="8366760" y="4151376"/>
            <a:ext cx="2734056" cy="178308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SGP served approximately 154,000 beds in 2025, and the company continues to invest in analytics leadership and cloud-based systems.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Before another major growth step, the board needs comparable productivity, documentation, and control data across the platform.</a:t>
            </a:r>
            <a:endParaRPr lang="en-US" sz="1000" dirty="0"/>
          </a:p>
        </p:txBody>
      </p:sp>
      <p:sp>
        <p:nvSpPr>
          <p:cNvPr id="25" name="Text 23"/>
          <p:cNvSpPr/>
          <p:nvPr/>
        </p:nvSpPr>
        <p:spPr>
          <a:xfrm>
            <a:off x="996696" y="5953100"/>
            <a:ext cx="10195560" cy="222758"/>
          </a:xfrm>
          <a:prstGeom prst="rect">
            <a:avLst/>
          </a:prstGeom>
          <a:noFill/>
          <a:ln/>
        </p:spPr>
        <p:txBody>
          <a:bodyPr wrap="square" lIns="46800" tIns="72000" rIns="90000" bIns="46800" rtlCol="0" anchor="t"/>
          <a:lstStyle/>
          <a:p>
            <a:pPr indent="0" marL="0">
              <a:buNone/>
            </a:pPr>
            <a:r>
              <a:rPr lang="en-US" sz="700" i="1" dirty="0">
                <a:solidFill>
                  <a:srgbClr val="00338D"/>
                </a:solidFill>
                <a:latin typeface="Arial" pitchFamily="34" charset="0"/>
                <a:ea typeface="Arial" pitchFamily="34" charset="-122"/>
                <a:cs typeface="Arial" pitchFamily="34" charset="-120"/>
              </a:rPr>
              <a:t>Source: Extendicare 2025 Annual Report; Q4 2025 conference call slides; Extendicare proposed CBI acquisition presentation dated November 2025; Extendicare investor presentation dated September 2025; KPMG analysis. March 2026.</a:t>
            </a:r>
            <a:endParaRPr lang="en-US" sz="700" dirty="0"/>
          </a:p>
        </p:txBody>
      </p:sp>
      <p:sp>
        <p:nvSpPr>
          <p:cNvPr id="26" name="Text 2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6696" y="429768"/>
            <a:ext cx="10195560" cy="502920"/>
          </a:xfrm>
          <a:prstGeom prst="rect">
            <a:avLst/>
          </a:prstGeom>
          <a:noFill/>
          <a:ln/>
        </p:spPr>
        <p:txBody>
          <a:bodyPr wrap="square" lIns="46800" tIns="72000" rIns="90000" bIns="46800" rtlCol="0" anchor="t">
            <a:normAutofit/>
          </a:bodyPr>
          <a:lstStyle/>
          <a:p>
            <a:pPr indent="0" marL="0">
              <a:buNone/>
            </a:pPr>
            <a:r>
              <a:rPr lang="en-US" sz="3200" b="1" dirty="0">
                <a:solidFill>
                  <a:srgbClr val="00338D"/>
                </a:solidFill>
                <a:latin typeface="KPMG Bold" pitchFamily="34" charset="0"/>
                <a:ea typeface="KPMG Bold" pitchFamily="34" charset="-122"/>
                <a:cs typeface="KPMG Bold" pitchFamily="34" charset="-120"/>
              </a:rPr>
              <a:t>Approve the strategy, but govern the next leg through gates and one scorecard.</a:t>
            </a:r>
            <a:endParaRPr lang="en-US" sz="3200" dirty="0"/>
          </a:p>
        </p:txBody>
      </p:sp>
      <p:sp>
        <p:nvSpPr>
          <p:cNvPr id="3" name="Text 1"/>
          <p:cNvSpPr/>
          <p:nvPr/>
        </p:nvSpPr>
        <p:spPr>
          <a:xfrm>
            <a:off x="996696" y="5953100"/>
            <a:ext cx="10195560" cy="222758"/>
          </a:xfrm>
          <a:prstGeom prst="rect">
            <a:avLst/>
          </a:prstGeom>
          <a:noFill/>
          <a:ln/>
        </p:spPr>
        <p:txBody>
          <a:bodyPr wrap="square" lIns="0" tIns="0" rIns="0" bIns="0" rtlCol="0" anchor="t"/>
          <a:lstStyle/>
          <a:p>
            <a:pPr indent="0" marL="0">
              <a:buNone/>
            </a:pPr>
            <a:r>
              <a:rPr lang="en-US" sz="700" dirty="0">
                <a:solidFill>
                  <a:srgbClr val="00338D"/>
                </a:solidFill>
                <a:latin typeface="Arial" pitchFamily="34" charset="0"/>
                <a:ea typeface="Arial" pitchFamily="34" charset="-122"/>
                <a:cs typeface="Arial" pitchFamily="34" charset="-120"/>
              </a:rPr>
              <a:t>Source: Extendicare 2025 Annual Report; Q4 2025 conference call slides; Extendicare investor presentation dated September 2025; Extendicare proposed CBI acquisition presentation dated November 2025; KPMG analysis. March 2026.</a:t>
            </a:r>
            <a:endParaRPr lang="en-US" sz="700" dirty="0"/>
          </a:p>
        </p:txBody>
      </p:sp>
      <p:sp>
        <p:nvSpPr>
          <p:cNvPr id="4" name="Shape 2"/>
          <p:cNvSpPr/>
          <p:nvPr/>
        </p:nvSpPr>
        <p:spPr>
          <a:xfrm>
            <a:off x="996696" y="1280160"/>
            <a:ext cx="10195560" cy="2423160"/>
          </a:xfrm>
          <a:prstGeom prst="rect">
            <a:avLst/>
          </a:prstGeom>
          <a:solidFill>
            <a:srgbClr val="F8FBFD"/>
          </a:solidFill>
          <a:ln w="10160">
            <a:solidFill>
              <a:srgbClr val="D9D9D9"/>
            </a:solidFill>
            <a:prstDash val="solid"/>
          </a:ln>
        </p:spPr>
      </p:sp>
      <p:sp>
        <p:nvSpPr>
          <p:cNvPr id="5" name="Shape 3"/>
          <p:cNvSpPr/>
          <p:nvPr/>
        </p:nvSpPr>
        <p:spPr>
          <a:xfrm>
            <a:off x="996696" y="1280160"/>
            <a:ext cx="73152" cy="2423160"/>
          </a:xfrm>
          <a:prstGeom prst="rect">
            <a:avLst/>
          </a:prstGeom>
          <a:solidFill>
            <a:srgbClr val="1E49E2"/>
          </a:solidFill>
          <a:ln w="12700">
            <a:solidFill>
              <a:srgbClr val="1E49E2"/>
            </a:solidFill>
            <a:prstDash val="solid"/>
          </a:ln>
        </p:spPr>
      </p:sp>
      <p:sp>
        <p:nvSpPr>
          <p:cNvPr id="6" name="Text 4"/>
          <p:cNvSpPr/>
          <p:nvPr/>
        </p:nvSpPr>
        <p:spPr>
          <a:xfrm>
            <a:off x="1161288" y="1353312"/>
            <a:ext cx="9939528" cy="219456"/>
          </a:xfrm>
          <a:prstGeom prst="rect">
            <a:avLst/>
          </a:prstGeom>
          <a:noFill/>
          <a:ln/>
        </p:spPr>
        <p:txBody>
          <a:bodyPr wrap="square" lIns="0" tIns="0" rIns="0" bIns="0" rtlCol="0" anchor="ctr"/>
          <a:lstStyle/>
          <a:p>
            <a:pPr indent="0" marL="0">
              <a:buNone/>
            </a:pPr>
            <a:r>
              <a:rPr lang="en-US" sz="1000" b="1" dirty="0">
                <a:solidFill>
                  <a:srgbClr val="0C233C"/>
                </a:solidFill>
                <a:latin typeface="Arial" pitchFamily="34" charset="0"/>
                <a:ea typeface="Arial" pitchFamily="34" charset="-122"/>
                <a:cs typeface="Arial" pitchFamily="34" charset="-120"/>
              </a:rPr>
              <a:t>Approve now</a:t>
            </a:r>
            <a:endParaRPr lang="en-US" sz="1000" dirty="0"/>
          </a:p>
        </p:txBody>
      </p:sp>
      <p:sp>
        <p:nvSpPr>
          <p:cNvPr id="7" name="Text 5"/>
          <p:cNvSpPr/>
          <p:nvPr/>
        </p:nvSpPr>
        <p:spPr>
          <a:xfrm>
            <a:off x="1161288" y="1664208"/>
            <a:ext cx="9939528" cy="1947672"/>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Endorse the services-led direction because FY2025 results, home-care growth, and peer positioning together show that Extendicare's best route is broader care-services leadership rather than a return to a property-led identity.</a:t>
            </a:r>
            <a:endParaRPr lang="en-US" sz="900" dirty="0"/>
          </a:p>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Continue redevelopments already under construction and complete current acquisition integration, because reversing committed work would destroy momentum without solving the sequencing issue.</a:t>
            </a:r>
            <a:endParaRPr lang="en-US" sz="900" dirty="0"/>
          </a:p>
        </p:txBody>
      </p:sp>
      <p:sp>
        <p:nvSpPr>
          <p:cNvPr id="8" name="Shape 6"/>
          <p:cNvSpPr/>
          <p:nvPr/>
        </p:nvSpPr>
        <p:spPr>
          <a:xfrm>
            <a:off x="996696" y="3776472"/>
            <a:ext cx="10195560" cy="1709928"/>
          </a:xfrm>
          <a:prstGeom prst="rect">
            <a:avLst/>
          </a:prstGeom>
          <a:solidFill>
            <a:srgbClr val="F8FBFD"/>
          </a:solidFill>
          <a:ln w="10160">
            <a:solidFill>
              <a:srgbClr val="D9D9D9"/>
            </a:solidFill>
            <a:prstDash val="solid"/>
          </a:ln>
        </p:spPr>
      </p:sp>
      <p:sp>
        <p:nvSpPr>
          <p:cNvPr id="9" name="Shape 7"/>
          <p:cNvSpPr/>
          <p:nvPr/>
        </p:nvSpPr>
        <p:spPr>
          <a:xfrm>
            <a:off x="996696" y="3776472"/>
            <a:ext cx="73152" cy="1709928"/>
          </a:xfrm>
          <a:prstGeom prst="rect">
            <a:avLst/>
          </a:prstGeom>
          <a:solidFill>
            <a:srgbClr val="00338D"/>
          </a:solidFill>
          <a:ln w="12700">
            <a:solidFill>
              <a:srgbClr val="00338D"/>
            </a:solidFill>
            <a:prstDash val="solid"/>
          </a:ln>
        </p:spPr>
      </p:sp>
      <p:sp>
        <p:nvSpPr>
          <p:cNvPr id="10" name="Text 8"/>
          <p:cNvSpPr/>
          <p:nvPr/>
        </p:nvSpPr>
        <p:spPr>
          <a:xfrm>
            <a:off x="1161288" y="3849624"/>
            <a:ext cx="9939528" cy="219456"/>
          </a:xfrm>
          <a:prstGeom prst="rect">
            <a:avLst/>
          </a:prstGeom>
          <a:noFill/>
          <a:ln/>
        </p:spPr>
        <p:txBody>
          <a:bodyPr wrap="square" lIns="0" tIns="0" rIns="0" bIns="0" rtlCol="0" anchor="ctr"/>
          <a:lstStyle/>
          <a:p>
            <a:pPr indent="0" marL="0">
              <a:buNone/>
            </a:pPr>
            <a:r>
              <a:rPr lang="en-US" sz="1000" b="1" dirty="0">
                <a:solidFill>
                  <a:srgbClr val="0C233C"/>
                </a:solidFill>
                <a:latin typeface="Arial" pitchFamily="34" charset="0"/>
                <a:ea typeface="Arial" pitchFamily="34" charset="-122"/>
                <a:cs typeface="Arial" pitchFamily="34" charset="-120"/>
              </a:rPr>
              <a:t>Govern differently</a:t>
            </a:r>
            <a:endParaRPr lang="en-US" sz="1000" dirty="0"/>
          </a:p>
        </p:txBody>
      </p:sp>
      <p:sp>
        <p:nvSpPr>
          <p:cNvPr id="11" name="Text 9"/>
          <p:cNvSpPr/>
          <p:nvPr/>
        </p:nvSpPr>
        <p:spPr>
          <a:xfrm>
            <a:off x="1161288" y="4160520"/>
            <a:ext cx="9939528" cy="1234440"/>
          </a:xfrm>
          <a:prstGeom prst="rect">
            <a:avLst/>
          </a:prstGeom>
          <a:noFill/>
          <a:ln/>
        </p:spPr>
        <p:txBody>
          <a:bodyPr wrap="square" lIns="0" tIns="0" rIns="0" bIns="0" rtlCol="0" anchor="t"/>
          <a:lstStyle/>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Require explicit thresholds on labour retention, agency usage, system integration, and margin protection before authorizing another major acquisition or a new wave of redevelopment starts.</a:t>
            </a:r>
            <a:endParaRPr lang="en-US" sz="900" dirty="0"/>
          </a:p>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Ask for one quarterly scorecard combining home-care growth, redevelopment milestones, workforce stability, data readiness, and realized economics, because separate updates obscure the real trade-offs in the strategy.</a:t>
            </a:r>
            <a:endParaRPr lang="en-US" sz="900" dirty="0"/>
          </a:p>
          <a:p>
            <a:pPr marL="226800" indent="-226800">
              <a:lnSpc>
                <a:spcPts val="1200"/>
              </a:lnSpc>
              <a:spcAft>
                <a:spcPts val="600"/>
              </a:spcAft>
              <a:buSzPct val="100000"/>
              <a:buChar char="•"/>
            </a:pPr>
            <a:r>
              <a:rPr lang="en-US" sz="900" dirty="0">
                <a:solidFill>
                  <a:srgbClr val="000000"/>
                </a:solidFill>
                <a:latin typeface="Arial" pitchFamily="34" charset="0"/>
                <a:ea typeface="Arial" pitchFamily="34" charset="-122"/>
                <a:cs typeface="Arial" pitchFamily="34" charset="-120"/>
              </a:rPr>
              <a:t>Use 2026 and early 2027 as the proof window; if metrics slip, slow the pace rather than protect reported growth at the expense of operating quality.</a:t>
            </a:r>
            <a:endParaRPr lang="en-US" sz="900" dirty="0"/>
          </a:p>
        </p:txBody>
      </p:sp>
      <p:sp>
        <p:nvSpPr>
          <p:cNvPr id="12" name="Shape 10"/>
          <p:cNvSpPr/>
          <p:nvPr/>
        </p:nvSpPr>
        <p:spPr>
          <a:xfrm>
            <a:off x="996696" y="5596128"/>
            <a:ext cx="10195560" cy="530352"/>
          </a:xfrm>
          <a:prstGeom prst="rect">
            <a:avLst>
              <a:gd name="adj" fmla="val 13793"/>
            </a:avLst>
          </a:prstGeom>
          <a:solidFill>
            <a:srgbClr val="0C233C"/>
          </a:solidFill>
          <a:ln w="12700">
            <a:solidFill>
              <a:srgbClr val="0C233C"/>
            </a:solidFill>
            <a:prstDash val="solid"/>
          </a:ln>
        </p:spPr>
      </p:sp>
      <p:sp>
        <p:nvSpPr>
          <p:cNvPr id="13" name="Text 11"/>
          <p:cNvSpPr/>
          <p:nvPr/>
        </p:nvSpPr>
        <p:spPr>
          <a:xfrm>
            <a:off x="1161288" y="5650992"/>
            <a:ext cx="986637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Board ask: approve the services-led strategy, but release future capital only when retention, systems integration, redevelopment returns, and margin preservation stay within board-approved gates.</a:t>
            </a:r>
            <a:endParaRPr lang="en-US" sz="1300" dirty="0"/>
          </a:p>
        </p:txBody>
      </p:sp>
      <p:sp>
        <p:nvSpPr>
          <p:cNvPr id="14" name="Text 1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6696" y="374904"/>
            <a:ext cx="914400" cy="365760"/>
          </a:xfrm>
          <a:prstGeom prst="rect">
            <a:avLst/>
          </a:prstGeom>
        </p:spPr>
      </p:pic>
      <p:pic>
        <p:nvPicPr>
          <p:cNvPr id="3"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4"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5"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6"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7"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8" name="Text 0"/>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9" name="Text 1"/>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0" name="Text 2"/>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1" name="Text 3"/>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KPMG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 Strategy Update - Extendicare Inc.</dc:title>
  <dc:subject>Board-ready strategy update on Extendicare's portfolio shift, value-creation options, and board decisions</dc:subject>
  <dc:creator>KPMG LLP</dc:creator>
  <cp:lastModifiedBy>KPMG LLP</cp:lastModifiedBy>
  <cp:revision>1</cp:revision>
  <dcterms:created xsi:type="dcterms:W3CDTF">2026-03-24T00:26:06Z</dcterms:created>
  <dcterms:modified xsi:type="dcterms:W3CDTF">2026-03-24T00:26:06Z</dcterms:modified>
</cp:coreProperties>
</file>