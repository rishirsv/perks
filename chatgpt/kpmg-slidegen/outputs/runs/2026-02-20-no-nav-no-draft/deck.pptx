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2.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4.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5.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ong-Form Text and Layout Stress Test" id="{b44cd4d6-e1d2-fb2a-c990-aa9c1977b549}">
          <p14:sldIdLst/>
        </p14:section>
        <p14:section name="Default-1" id="{7514b40c-6e2d-99e8-f614-d950509db9e3}">
          <p14:sldIdLst>
            <p14:sldId id="259"/>
            <p14:sldId id="260"/>
            <p14:sldId id="261"/>
            <p14:sldId id="262"/>
            <p14:sldId id="263"/>
            <p14:sldId id="264"/>
            <p14:sldId id="265"/>
            <p14:sldId id="266"/>
            <p14:sldId id="267"/>
            <p14:sldId id="268"/>
            <p14:sldId id="269"/>
          </p14:sldIdLst>
        </p14:section>
        <p14:section name="Quality of Earnings and Summary Scaffold" id="{86696d78-b38a-7617-04a8-bd9119d4d0ed}">
          <p14:sldIdLst/>
        </p14:section>
        <p14:section name="Default-2" id="{ce53294e-e2d5-829f-7ebe-54ea90bdf8f8}">
          <p14:sldIdLst>
            <p14:sldId id="270"/>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Summary</c:v>
                </c:pt>
              </c:strCache>
            </c:strRef>
          </c:tx>
          <c:spPr>
            <a:solidFill>
              <a:srgbClr val="00338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Q1</c:v>
                  </c:pt>
                  <c:pt idx="1">
                    <c:v>Q2</c:v>
                  </c:pt>
                  <c:pt idx="2">
                    <c:v>Q3</c:v>
                  </c:pt>
                  <c:pt idx="3">
                    <c:v>Q4</c:v>
                  </c:pt>
                </c:lvl>
              </c:multiLvlStrCache>
            </c:multiLvlStrRef>
          </c:cat>
          <c:val>
            <c:numRef>
              <c:f>Sheet1!$B$2:$B$5</c:f>
              <c:numCache>
                <c:formatCode>General</c:formatCode>
                <c:ptCount val="4"/>
                <c:pt idx="0">
                  <c:v>11</c:v>
                </c:pt>
                <c:pt idx="1">
                  <c:v>16</c:v>
                </c:pt>
                <c:pt idx="2">
                  <c:v>21</c:v>
                </c:pt>
                <c:pt idx="3">
                  <c:v>28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Series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10</c:v>
                </c:pt>
                <c:pt idx="1">
                  <c:v>14</c:v>
                </c:pt>
                <c:pt idx="2">
                  <c:v>19</c:v>
                </c:pt>
                <c:pt idx="3">
                  <c:v>27</c:v>
                </c:pt>
                <c:pt idx="4">
                  <c:v>35</c:v>
                </c:pt>
              </c:numCache>
            </c:numRef>
          </c:val>
        </c:ser>
        <c:ser>
          <c:idx val="1"/>
          <c:order val="1"/>
          <c:tx>
            <c:strRef>
              <c:f>Sheet1!$C$1</c:f>
              <c:strCache>
                <c:ptCount val="1"/>
                <c:pt idx="0">
                  <c:v>Series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Sheet1!$C$2:$C$6</c:f>
              <c:numCache>
                <c:formatCode>General</c:formatCode>
                <c:ptCount val="5"/>
                <c:pt idx="0">
                  <c:v>8</c:v>
                </c:pt>
                <c:pt idx="1">
                  <c:v>11</c:v>
                </c:pt>
                <c:pt idx="2">
                  <c:v>15</c:v>
                </c:pt>
                <c:pt idx="3">
                  <c:v>21</c:v>
                </c:pt>
                <c:pt idx="4">
                  <c:v>28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Series A</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Sheet1!$B$2:$B$6</c:f>
              <c:numCache>
                <c:formatCode>General</c:formatCode>
                <c:ptCount val="5"/>
                <c:pt idx="0">
                  <c:v>10</c:v>
                </c:pt>
                <c:pt idx="1">
                  <c:v>14</c:v>
                </c:pt>
                <c:pt idx="2">
                  <c:v>19</c:v>
                </c:pt>
                <c:pt idx="3">
                  <c:v>27</c:v>
                </c:pt>
                <c:pt idx="4">
                  <c:v>35</c:v>
                </c:pt>
              </c:numCache>
            </c:numRef>
          </c:val>
        </c:ser>
        <c:ser>
          <c:idx val="1"/>
          <c:order val="1"/>
          <c:tx>
            <c:strRef>
              <c:f>Sheet1!$C$1</c:f>
              <c:strCache>
                <c:ptCount val="1"/>
                <c:pt idx="0">
                  <c:v>Series B</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cat>
            <c:multiLvlStrRef>
              <c:f>Sheet1!$A$2:$A$6</c:f>
              <c:multiLvlStrCache>
                <c:ptCount val="5"/>
                <c:lvl>
                  <c:pt idx="0">
                    <c:v>Y1</c:v>
                  </c:pt>
                  <c:pt idx="1">
                    <c:v>Y2</c:v>
                  </c:pt>
                  <c:pt idx="2">
                    <c:v>Y3</c:v>
                  </c:pt>
                  <c:pt idx="3">
                    <c:v>Y4</c:v>
                  </c:pt>
                  <c:pt idx="4">
                    <c:v>Y5</c:v>
                  </c:pt>
                </c:lvl>
              </c:multiLvlStrCache>
            </c:multiLvlStrRef>
          </c:cat>
          <c:val>
            <c:numRef>
              <c:f>Sheet1!$C$2:$C$6</c:f>
              <c:numCache>
                <c:formatCode>General</c:formatCode>
                <c:ptCount val="5"/>
                <c:pt idx="0">
                  <c:v>8</c:v>
                </c:pt>
                <c:pt idx="1">
                  <c:v>11</c:v>
                </c:pt>
                <c:pt idx="2">
                  <c:v>15</c:v>
                </c:pt>
                <c:pt idx="3">
                  <c:v>21</c:v>
                </c:pt>
                <c:pt idx="4">
                  <c:v>28</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Scenario Base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Sheet1!$B$2:$B$7</c:f>
              <c:numCache>
                <c:formatCode>General</c:formatCode>
                <c:ptCount val="6"/>
                <c:pt idx="0">
                  <c:v>5</c:v>
                </c:pt>
                <c:pt idx="1">
                  <c:v>9</c:v>
                </c:pt>
                <c:pt idx="2">
                  <c:v>11</c:v>
                </c:pt>
                <c:pt idx="3">
                  <c:v>13</c:v>
                </c:pt>
                <c:pt idx="4">
                  <c:v>16</c:v>
                </c:pt>
                <c:pt idx="5">
                  <c:v>18</c:v>
                </c:pt>
              </c:numCache>
            </c:numRef>
          </c:val>
        </c:ser>
        <c:ser>
          <c:idx val="1"/>
          <c:order val="1"/>
          <c:tx>
            <c:strRef>
              <c:f>Sheet1!$C$1</c:f>
              <c:strCache>
                <c:ptCount val="1"/>
                <c:pt idx="0">
                  <c:v>Scenario Upside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Sheet1!$C$2:$C$7</c:f>
              <c:numCache>
                <c:formatCode>General</c:formatCode>
                <c:ptCount val="6"/>
                <c:pt idx="0">
                  <c:v>6</c:v>
                </c:pt>
                <c:pt idx="1">
                  <c:v>10</c:v>
                </c:pt>
                <c:pt idx="2">
                  <c:v>13</c:v>
                </c:pt>
                <c:pt idx="3">
                  <c:v>16</c:v>
                </c:pt>
                <c:pt idx="4">
                  <c:v>20</c:v>
                </c:pt>
                <c:pt idx="5">
                  <c:v>24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Scenario Base</c:v>
                </c:pt>
              </c:strCache>
            </c:strRef>
          </c:tx>
          <c:spPr>
            <a:solidFill>
              <a:srgbClr val="00338D"/>
            </a:solidFill>
            <a:ln w="6350" cap="flat">
              <a:solidFill>
                <a:srgbClr val="FFFFFF"/>
              </a:solidFill>
              <a:prstDash val="solid"/>
              <a:round/>
            </a:ln>
            <a:effectLst/>
          </c:spPr>
          <c:invertIfNegative val="0"/>
          <c:dLbls>
            <c:numFmt formatCode="#,##0" sourceLinked="0"/>
            <c:spPr>
              <a:solidFill>
                <a:srgbClr val="00338D"/>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Sheet1!$B$2:$B$7</c:f>
              <c:numCache>
                <c:formatCode>General</c:formatCode>
                <c:ptCount val="6"/>
                <c:pt idx="0">
                  <c:v>5</c:v>
                </c:pt>
                <c:pt idx="1">
                  <c:v>9</c:v>
                </c:pt>
                <c:pt idx="2">
                  <c:v>11</c:v>
                </c:pt>
                <c:pt idx="3">
                  <c:v>13</c:v>
                </c:pt>
                <c:pt idx="4">
                  <c:v>16</c:v>
                </c:pt>
                <c:pt idx="5">
                  <c:v>18</c:v>
                </c:pt>
              </c:numCache>
            </c:numRef>
          </c:val>
        </c:ser>
        <c:ser>
          <c:idx val="1"/>
          <c:order val="1"/>
          <c:tx>
            <c:strRef>
              <c:f>Sheet1!$C$1</c:f>
              <c:strCache>
                <c:ptCount val="1"/>
                <c:pt idx="0">
                  <c:v>Scenario Upside</c:v>
                </c:pt>
              </c:strCache>
            </c:strRef>
          </c:tx>
          <c:spPr>
            <a:solidFill>
              <a:srgbClr val="1E49E2"/>
            </a:solidFill>
            <a:ln w="6350" cap="flat">
              <a:solidFill>
                <a:srgbClr val="FFFFFF"/>
              </a:solidFill>
              <a:prstDash val="solid"/>
              <a:round/>
            </a:ln>
            <a:effectLst/>
          </c:spPr>
          <c:invertIfNegative val="0"/>
          <c:dLbls>
            <c:numFmt formatCode="#,##0" sourceLinked="0"/>
            <c:spPr>
              <a:solidFill>
                <a:srgbClr val="1E49E2"/>
              </a:solidFill>
            </c:spPr>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cat>
            <c:multiLvlStrRef>
              <c:f>Sheet1!$A$2:$A$7</c:f>
              <c:multiLvlStrCache>
                <c:ptCount val="6"/>
                <c:lvl>
                  <c:pt idx="0">
                    <c:v>M1</c:v>
                  </c:pt>
                  <c:pt idx="1">
                    <c:v>M2</c:v>
                  </c:pt>
                  <c:pt idx="2">
                    <c:v>M3</c:v>
                  </c:pt>
                  <c:pt idx="3">
                    <c:v>M4</c:v>
                  </c:pt>
                  <c:pt idx="4">
                    <c:v>M5</c:v>
                  </c:pt>
                  <c:pt idx="5">
                    <c:v>M6</c:v>
                  </c:pt>
                </c:lvl>
              </c:multiLvlStrCache>
            </c:multiLvlStrRef>
          </c:cat>
          <c:val>
            <c:numRef>
              <c:f>Sheet1!$C$2:$C$7</c:f>
              <c:numCache>
                <c:formatCode>General</c:formatCode>
                <c:ptCount val="6"/>
                <c:pt idx="0">
                  <c:v>6</c:v>
                </c:pt>
                <c:pt idx="1">
                  <c:v>10</c:v>
                </c:pt>
                <c:pt idx="2">
                  <c:v>13</c:v>
                </c:pt>
                <c:pt idx="3">
                  <c:v>16</c:v>
                </c:pt>
                <c:pt idx="4">
                  <c:v>20</c:v>
                </c:pt>
                <c:pt idx="5">
                  <c:v>24</c:v>
                </c:pt>
              </c:numCache>
            </c:numRef>
          </c:val>
        </c:ser>
        <c:dLbls>
          <c:numFmt formatCode="#,##0" sourceLinked="0"/>
          <c:txPr>
            <a:bodyPr/>
            <a:lstStyle/>
            <a:p>
              <a:pPr>
                <a:defRPr b="0" i="0" strike="noStrike" sz="700" u="none">
                  <a:solidFill>
                    <a:srgbClr val="FFFFFF"/>
                  </a:solidFill>
                  <a:latin typeface="Arial"/>
                </a:defRPr>
              </a:pPr>
            </a:p>
          </c:txPr>
          <c:dLblPos val="inEnd"/>
          <c:showLegendKey val="0"/>
          <c:showVal val="0"/>
          <c:showCatName val="0"/>
          <c:showSerName val="0"/>
          <c:showPercent val="0"/>
          <c:showBubbleSize val="0"/>
          <c:showLeaderLines val="0"/>
        </c:dLbls>
        <c:gapWidth val="50"/>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scaling>
        <c:delete val="0"/>
        <c:axPos val="l"/>
        <c:numFmt formatCode="General" sourceLinked="0"/>
        <c:majorTickMark val="out"/>
        <c:minorTickMark val="none"/>
        <c:tickLblPos val="nextTo"/>
        <c:spPr>
          <a:ln w="12700" cap="flat">
            <a:solidFill>
              <a:srgbClr val="888888"/>
            </a:solidFill>
            <a:prstDash val="solid"/>
            <a:round/>
          </a:ln>
        </c:spPr>
        <c:txPr>
          <a:bodyPr/>
          <a:lstStyle/>
          <a:p>
            <a:pPr>
              <a:defRPr sz="700" b="0" i="0" u="none" strike="noStrike">
                <a:solidFill>
                  <a:srgbClr val="000000"/>
                </a:solidFill>
                <a:latin typeface="Arial"/>
              </a:defRPr>
            </a:pPr>
            <a:endParaRPr lang="en-US"/>
          </a:p>
        </c:txPr>
        <c:crossAx val="2094734554"/>
        <c:crosses val="autoZero"/>
        <c:crossBetween val="between"/>
      </c:valAx>
      <c:spPr>
        <a:solidFill>
          <a:srgbClr val="FFFFFF"/>
        </a:solidFill>
        <a:ln>
          <a:noFill/>
        </a:ln>
        <a:effectLst/>
      </c:spPr>
    </c:plotArea>
    <c:legend>
      <c:legendPos val="b"/>
      <c:overlay val="0"/>
      <c:txPr>
        <a:bodyPr/>
        <a:lstStyle/>
        <a:p>
          <a:pPr>
            <a:defRPr sz="700">
              <a:latin typeface="Arial"/>
              <a:cs typeface="Arial"/>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image-1002-2.sv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image" Target="../media/image-1003-2.png"/><Relationship Id="rId3" Type="http://schemas.openxmlformats.org/officeDocument/2006/relationships/image" Target="../media/image-1003-3.svg"/><Relationship Id="rId4"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KPMG_WHITE">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kpmg-logo.sv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003097" y="6267298"/>
            <a:ext cx="483718" cy="196596"/>
          </a:xfrm>
          <a:prstGeom prst="rect">
            <a:avLst/>
          </a:prstGeom>
        </p:spPr>
      </p:pic>
      <p:sp>
        <p:nvSpPr>
          <p:cNvPr id="3"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4"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5" name="Shape 2"/>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KPMG_SUMMARY">
    <p:bg>
      <p:bgPr>
        <a:solidFill>
          <a:srgbClr val="FFFFFF"/>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accent_chip_300dpi.png">    </p:cNvPr>
          <p:cNvPicPr>
            <a:picLocks noChangeAspect="1"/>
          </p:cNvPicPr>
          <p:nvPr/>
        </p:nvPicPr>
        <p:blipFill>
          <a:blip r:embed="rId1"/>
          <a:stretch>
            <a:fillRect/>
          </a:stretch>
        </p:blipFill>
        <p:spPr>
          <a:xfrm>
            <a:off x="11534242" y="103327"/>
            <a:ext cx="222199" cy="222199"/>
          </a:xfrm>
          <a:prstGeom prst="rect">
            <a:avLst/>
          </a:prstGeom>
        </p:spPr>
      </p:pic>
      <p:pic>
        <p:nvPicPr>
          <p:cNvPr id="3" name="Image 1" descr="/Users/rishi/Code/ai-tools/chatgpt/kpmg-slidegen/templates/kpmg-diligence/assets/kpmg-logo.sv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003097" y="6267298"/>
            <a:ext cx="483718" cy="196596"/>
          </a:xfrm>
          <a:prstGeom prst="rect">
            <a:avLst/>
          </a:prstGeom>
        </p:spPr>
      </p:pic>
      <p:sp>
        <p:nvSpPr>
          <p:cNvPr id="4" name="Text 0"/>
          <p:cNvSpPr/>
          <p:nvPr/>
        </p:nvSpPr>
        <p:spPr>
          <a:xfrm>
            <a:off x="1885493" y="6267298"/>
            <a:ext cx="6343193" cy="184709"/>
          </a:xfrm>
          <a:prstGeom prst="rect">
            <a:avLst/>
          </a:prstGeom>
          <a:noFill/>
          <a:ln/>
        </p:spPr>
        <p:txBody>
          <a:bodyPr wrap="square" rtlCol="0" anchor="ctr"/>
          <a:lstStyle/>
          <a:p>
            <a:pPr indent="0" marL="0">
              <a:buNone/>
            </a:pPr>
            <a:r>
              <a:rPr lang="en-US" sz="600" dirty="0">
                <a:solidFill>
                  <a:srgbClr val="666666"/>
                </a:solidFill>
                <a:latin typeface="Arial" pitchFamily="34" charset="0"/>
                <a:ea typeface="Arial" pitchFamily="34" charset="-122"/>
                <a:cs typeface="Arial" pitchFamily="34" charset="-120"/>
              </a:rPr>
              <a:t>© [year] [legal member firm name], a [jurisdiction] [legal structure] and a member firm of the KPMG global organization of independent member firms affiliated with KPMG International Limited, a private English company limited by guarantee. All rights reserved.</a:t>
            </a:r>
            <a:endParaRPr lang="en-US" sz="600" dirty="0"/>
          </a:p>
        </p:txBody>
      </p:sp>
      <p:sp>
        <p:nvSpPr>
          <p:cNvPr id="5" name="Text 1"/>
          <p:cNvSpPr/>
          <p:nvPr/>
        </p:nvSpPr>
        <p:spPr>
          <a:xfrm>
            <a:off x="8967521" y="6267298"/>
            <a:ext cx="1866290" cy="92354"/>
          </a:xfrm>
          <a:prstGeom prst="rect">
            <a:avLst/>
          </a:prstGeom>
          <a:noFill/>
          <a:ln/>
        </p:spPr>
        <p:txBody>
          <a:bodyPr wrap="square" rtlCol="0" anchor="ctr"/>
          <a:lstStyle/>
          <a:p>
            <a:pPr algn="r" indent="0" marL="0">
              <a:buNone/>
            </a:pPr>
            <a:r>
              <a:rPr lang="en-US" sz="600" dirty="0">
                <a:solidFill>
                  <a:srgbClr val="666666"/>
                </a:solidFill>
                <a:latin typeface="Arial" pitchFamily="34" charset="0"/>
                <a:ea typeface="Arial" pitchFamily="34" charset="-122"/>
                <a:cs typeface="Arial" pitchFamily="34" charset="-120"/>
              </a:rPr>
              <a:t>Document Classification: KPMG Confidential</a:t>
            </a:r>
            <a:endParaRPr lang="en-US" sz="600" dirty="0"/>
          </a:p>
        </p:txBody>
      </p:sp>
      <p:sp>
        <p:nvSpPr>
          <p:cNvPr id="6" name="Shape 2"/>
          <p:cNvSpPr/>
          <p:nvPr/>
        </p:nvSpPr>
        <p:spPr>
          <a:xfrm>
            <a:off x="10874045" y="6267298"/>
            <a:ext cx="0" cy="149047"/>
          </a:xfrm>
          <a:prstGeom prst="line">
            <a:avLst/>
          </a:prstGeom>
          <a:noFill/>
          <a:ln w="12700">
            <a:solidFill>
              <a:srgbClr val="1E49E2"/>
            </a:solidFill>
            <a:prstDash val="solid"/>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KPMG_COVER">
    <p:bg>
      <p:bgPr>
        <a:solidFill>
          <a:srgbClr val="1E49E2"/>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KPMG_SECTION_DARK">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KPMG_SECTION">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divider_window_300dpi.png">    </p:cNvPr>
          <p:cNvPicPr>
            <a:picLocks noChangeAspect="1"/>
          </p:cNvPicPr>
          <p:nvPr/>
        </p:nvPicPr>
        <p:blipFill>
          <a:blip r:embed="rId1"/>
          <a:stretch>
            <a:fillRect/>
          </a:stretch>
        </p:blipFill>
        <p:spPr>
          <a:xfrm>
            <a:off x="998525" y="975665"/>
            <a:ext cx="7061911" cy="4905756"/>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KPMG_SECTION_LIGH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KPMG_CLOSING">
    <p:bg>
      <p:bgPr>
        <a:solidFill>
          <a:srgbClr val="1E49E2"/>
        </a:solidFill>
      </p:bgPr>
    </p:bg>
    <p:spTree>
      <p:nvGrpSpPr>
        <p:cNvPr id="1" name=""/>
        <p:cNvGrpSpPr/>
        <p:nvPr/>
      </p:nvGrpSpPr>
      <p:grpSpPr>
        <a:xfrm>
          <a:off x="0" y="0"/>
          <a:ext cx="0" cy="0"/>
          <a:chOff x="0" y="0"/>
          <a:chExt cx="0" cy="0"/>
        </a:xfrm>
      </p:grpSpPr>
      <p:pic>
        <p:nvPicPr>
          <p:cNvPr id="2" name="Image 0" descr="/Users/rishi/Code/ai-tools/chatgpt/kpmg-slidegen/templates/kpmg-diligence/assets/gradient_back_cover_300dpi.png">    </p:cNvPr>
          <p:cNvPicPr>
            <a:picLocks noChangeAspect="1"/>
          </p:cNvPicPr>
          <p:nvPr/>
        </p:nvPicPr>
        <p:blipFill>
          <a:blip r:embed="rId1"/>
          <a:stretch>
            <a:fillRect/>
          </a:stretch>
        </p:blipFill>
        <p:spPr>
          <a:xfrm>
            <a:off x="0" y="0"/>
            <a:ext cx="12191695" cy="68580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eg"/><Relationship Id="rId3" Type="http://schemas.openxmlformats.org/officeDocument/2006/relationships/slideLayout" Target="../slideLayouts/slideLayout4.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https://kpmg.com" TargetMode="External"/><Relationship Id="rId2" Type="http://schemas.openxmlformats.org/officeDocument/2006/relationships/slideLayout" Target="../slideLayouts/slideLayout8.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KPMG logo">    </p:cNvPr>
          <p:cNvPicPr>
            <a:picLocks noChangeAspect="1"/>
          </p:cNvPicPr>
          <p:nvPr/>
        </p:nvPicPr>
        <p:blipFill>
          <a:blip r:embed="rId1"/>
          <a:stretch>
            <a:fillRect/>
          </a:stretch>
        </p:blipFill>
        <p:spPr>
          <a:xfrm>
            <a:off x="998476" y="371311"/>
            <a:ext cx="914400" cy="368346"/>
          </a:xfrm>
          <a:prstGeom prst="rect">
            <a:avLst/>
          </a:prstGeom>
        </p:spPr>
      </p:pic>
      <p:sp>
        <p:nvSpPr>
          <p:cNvPr id="3" name="Text 0"/>
          <p:cNvSpPr/>
          <p:nvPr/>
        </p:nvSpPr>
        <p:spPr>
          <a:xfrm>
            <a:off x="998478" y="1456388"/>
            <a:ext cx="3697810" cy="3427743"/>
          </a:xfrm>
          <a:prstGeom prst="rect">
            <a:avLst/>
          </a:prstGeom>
          <a:noFill/>
          <a:ln/>
        </p:spPr>
        <p:txBody>
          <a:bodyPr wrap="square" lIns="0" tIns="0" rIns="0" bIns="0" rtlCol="0" anchor="t"/>
          <a:lstStyle/>
          <a:p>
            <a:pPr algn="l" indent="0" marL="0">
              <a:buNone/>
            </a:pPr>
            <a:r>
              <a:rPr lang="en-US" sz="4000" b="1" dirty="0">
                <a:solidFill>
                  <a:srgbClr val="FFFFFF"/>
                </a:solidFill>
                <a:latin typeface="Arial" pitchFamily="34" charset="0"/>
                <a:ea typeface="Arial" pitchFamily="34" charset="-122"/>
                <a:cs typeface="Arial" pitchFamily="34" charset="-120"/>
              </a:rPr>
              <a:t>Lorem Ipsum Generator Stress Test</a:t>
            </a:r>
            <a:endParaRPr lang="en-US" sz="4000" dirty="0"/>
          </a:p>
        </p:txBody>
      </p:sp>
      <p:sp>
        <p:nvSpPr>
          <p:cNvPr id="4" name="Text 1"/>
          <p:cNvSpPr/>
          <p:nvPr/>
        </p:nvSpPr>
        <p:spPr>
          <a:xfrm>
            <a:off x="998433" y="5005883"/>
            <a:ext cx="3697834" cy="809976"/>
          </a:xfrm>
          <a:prstGeom prst="rect">
            <a:avLst/>
          </a:prstGeom>
          <a:noFill/>
          <a:ln/>
        </p:spPr>
        <p:txBody>
          <a:bodyPr wrap="square" lIns="0" tIns="0" rIns="0" bIns="0" rtlCol="0" anchor="t"/>
          <a:lstStyle/>
          <a:p>
            <a:pPr algn="l" indent="0" marL="0">
              <a:buNone/>
            </a:pPr>
            <a:r>
              <a:rPr lang="en-US" sz="1400" dirty="0">
                <a:solidFill>
                  <a:srgbClr val="FFFFFF"/>
                </a:solidFill>
                <a:latin typeface="Arial" pitchFamily="34" charset="0"/>
                <a:ea typeface="Arial" pitchFamily="34" charset="-122"/>
                <a:cs typeface="Arial" pitchFamily="34" charset="-120"/>
              </a:rPr>
              <a:t>Comprehensive placeholder-content run February 2026</a:t>
            </a:r>
            <a:endParaRPr lang="en-US" sz="1400" dirty="0"/>
          </a:p>
        </p:txBody>
      </p:sp>
      <p:pic>
        <p:nvPicPr>
          <p:cNvPr id="5" name="Image 1" descr="Cover photograph">    </p:cNvPr>
          <p:cNvPicPr>
            <a:picLocks noChangeAspect="1"/>
          </p:cNvPicPr>
          <p:nvPr/>
        </p:nvPicPr>
        <p:blipFill>
          <a:blip r:embed="rId2"/>
          <a:srcRect l="4986" r="4986" t="0" b="0"/>
          <a:stretch/>
        </p:blipFill>
        <p:spPr>
          <a:xfrm>
            <a:off x="4915965" y="1456388"/>
            <a:ext cx="6283848" cy="436499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995782" y="431597"/>
            <a:ext cx="2743200" cy="566928"/>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Contents</a:t>
            </a:r>
            <a:endParaRPr lang="en-US" sz="3200" dirty="0"/>
          </a:p>
        </p:txBody>
      </p:sp>
      <p:sp>
        <p:nvSpPr>
          <p:cNvPr id="3" name="Text 1"/>
          <p:cNvSpPr/>
          <p:nvPr/>
        </p:nvSpPr>
        <p:spPr>
          <a:xfrm>
            <a:off x="995782"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01</a:t>
            </a:r>
            <a:endParaRPr lang="en-US" sz="3400" dirty="0"/>
          </a:p>
        </p:txBody>
      </p:sp>
      <p:sp>
        <p:nvSpPr>
          <p:cNvPr id="4" name="Shape 2"/>
          <p:cNvSpPr/>
          <p:nvPr/>
        </p:nvSpPr>
        <p:spPr>
          <a:xfrm>
            <a:off x="995782" y="1737360"/>
            <a:ext cx="502920" cy="0"/>
          </a:xfrm>
          <a:prstGeom prst="line">
            <a:avLst/>
          </a:prstGeom>
          <a:noFill/>
          <a:ln w="12700">
            <a:solidFill>
              <a:srgbClr val="00338D"/>
            </a:solidFill>
            <a:prstDash val="solid"/>
          </a:ln>
        </p:spPr>
      </p:sp>
      <p:sp>
        <p:nvSpPr>
          <p:cNvPr id="5" name="Text 3"/>
          <p:cNvSpPr/>
          <p:nvPr/>
        </p:nvSpPr>
        <p:spPr>
          <a:xfrm>
            <a:off x="995782"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Executive summary</a:t>
            </a:r>
            <a:endParaRPr lang="en-US" sz="1200" dirty="0"/>
          </a:p>
        </p:txBody>
      </p:sp>
      <p:sp>
        <p:nvSpPr>
          <p:cNvPr id="6" name="Text 4"/>
          <p:cNvSpPr/>
          <p:nvPr/>
        </p:nvSpPr>
        <p:spPr>
          <a:xfrm>
            <a:off x="995782"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3-25)</a:t>
            </a:r>
            <a:endParaRPr lang="en-US" sz="1000" dirty="0"/>
          </a:p>
        </p:txBody>
      </p:sp>
      <p:sp>
        <p:nvSpPr>
          <p:cNvPr id="7" name="Text 5"/>
          <p:cNvSpPr/>
          <p:nvPr/>
        </p:nvSpPr>
        <p:spPr>
          <a:xfrm>
            <a:off x="995782"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Business overview</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Summary financials</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Key findings</a:t>
            </a:r>
            <a:endParaRPr lang="en-US" sz="1000" dirty="0"/>
          </a:p>
        </p:txBody>
      </p:sp>
      <p:sp>
        <p:nvSpPr>
          <p:cNvPr id="8" name="Text 6"/>
          <p:cNvSpPr/>
          <p:nvPr/>
        </p:nvSpPr>
        <p:spPr>
          <a:xfrm>
            <a:off x="3068361"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02</a:t>
            </a:r>
            <a:endParaRPr lang="en-US" sz="3400" dirty="0"/>
          </a:p>
        </p:txBody>
      </p:sp>
      <p:sp>
        <p:nvSpPr>
          <p:cNvPr id="9" name="Shape 7"/>
          <p:cNvSpPr/>
          <p:nvPr/>
        </p:nvSpPr>
        <p:spPr>
          <a:xfrm>
            <a:off x="3068361" y="1737360"/>
            <a:ext cx="502920" cy="0"/>
          </a:xfrm>
          <a:prstGeom prst="line">
            <a:avLst/>
          </a:prstGeom>
          <a:noFill/>
          <a:ln w="12700">
            <a:solidFill>
              <a:srgbClr val="00338D"/>
            </a:solidFill>
            <a:prstDash val="solid"/>
          </a:ln>
        </p:spPr>
      </p:sp>
      <p:sp>
        <p:nvSpPr>
          <p:cNvPr id="10" name="Text 8"/>
          <p:cNvSpPr/>
          <p:nvPr/>
        </p:nvSpPr>
        <p:spPr>
          <a:xfrm>
            <a:off x="3068361"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Historical trading</a:t>
            </a:r>
            <a:endParaRPr lang="en-US" sz="1200" dirty="0"/>
          </a:p>
        </p:txBody>
      </p:sp>
      <p:sp>
        <p:nvSpPr>
          <p:cNvPr id="11" name="Text 9"/>
          <p:cNvSpPr/>
          <p:nvPr/>
        </p:nvSpPr>
        <p:spPr>
          <a:xfrm>
            <a:off x="3068361"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26-35)</a:t>
            </a:r>
            <a:endParaRPr lang="en-US" sz="1000" dirty="0"/>
          </a:p>
        </p:txBody>
      </p:sp>
      <p:sp>
        <p:nvSpPr>
          <p:cNvPr id="12" name="Text 10"/>
          <p:cNvSpPr/>
          <p:nvPr/>
        </p:nvSpPr>
        <p:spPr>
          <a:xfrm>
            <a:off x="3068361"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Profit &amp; loss overview</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Quality of earnings</a:t>
            </a:r>
            <a:endParaRPr lang="en-US" sz="1000" dirty="0"/>
          </a:p>
        </p:txBody>
      </p:sp>
      <p:sp>
        <p:nvSpPr>
          <p:cNvPr id="13" name="Text 11"/>
          <p:cNvSpPr/>
          <p:nvPr/>
        </p:nvSpPr>
        <p:spPr>
          <a:xfrm>
            <a:off x="5140940"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03</a:t>
            </a:r>
            <a:endParaRPr lang="en-US" sz="3400" dirty="0"/>
          </a:p>
        </p:txBody>
      </p:sp>
      <p:sp>
        <p:nvSpPr>
          <p:cNvPr id="14" name="Shape 12"/>
          <p:cNvSpPr/>
          <p:nvPr/>
        </p:nvSpPr>
        <p:spPr>
          <a:xfrm>
            <a:off x="5140940" y="1737360"/>
            <a:ext cx="502920" cy="0"/>
          </a:xfrm>
          <a:prstGeom prst="line">
            <a:avLst/>
          </a:prstGeom>
          <a:noFill/>
          <a:ln w="12700">
            <a:solidFill>
              <a:srgbClr val="00338D"/>
            </a:solidFill>
            <a:prstDash val="solid"/>
          </a:ln>
        </p:spPr>
      </p:sp>
      <p:sp>
        <p:nvSpPr>
          <p:cNvPr id="15" name="Text 13"/>
          <p:cNvSpPr/>
          <p:nvPr/>
        </p:nvSpPr>
        <p:spPr>
          <a:xfrm>
            <a:off x="5140940"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Forecast trading</a:t>
            </a:r>
            <a:endParaRPr lang="en-US" sz="1200" dirty="0"/>
          </a:p>
        </p:txBody>
      </p:sp>
      <p:sp>
        <p:nvSpPr>
          <p:cNvPr id="16" name="Text 14"/>
          <p:cNvSpPr/>
          <p:nvPr/>
        </p:nvSpPr>
        <p:spPr>
          <a:xfrm>
            <a:off x="5140940"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36-43)</a:t>
            </a:r>
            <a:endParaRPr lang="en-US" sz="1000" dirty="0"/>
          </a:p>
        </p:txBody>
      </p:sp>
      <p:sp>
        <p:nvSpPr>
          <p:cNvPr id="17" name="Text 15"/>
          <p:cNvSpPr/>
          <p:nvPr/>
        </p:nvSpPr>
        <p:spPr>
          <a:xfrm>
            <a:off x="5140940"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Forecast overview</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Forecast assumptions</a:t>
            </a:r>
            <a:endParaRPr lang="en-US" sz="1000" dirty="0"/>
          </a:p>
        </p:txBody>
      </p:sp>
      <p:sp>
        <p:nvSpPr>
          <p:cNvPr id="18" name="Text 16"/>
          <p:cNvSpPr/>
          <p:nvPr/>
        </p:nvSpPr>
        <p:spPr>
          <a:xfrm>
            <a:off x="7213519"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04</a:t>
            </a:r>
            <a:endParaRPr lang="en-US" sz="3400" dirty="0"/>
          </a:p>
        </p:txBody>
      </p:sp>
      <p:sp>
        <p:nvSpPr>
          <p:cNvPr id="19" name="Shape 17"/>
          <p:cNvSpPr/>
          <p:nvPr/>
        </p:nvSpPr>
        <p:spPr>
          <a:xfrm>
            <a:off x="7213519" y="1737360"/>
            <a:ext cx="502920" cy="0"/>
          </a:xfrm>
          <a:prstGeom prst="line">
            <a:avLst/>
          </a:prstGeom>
          <a:noFill/>
          <a:ln w="12700">
            <a:solidFill>
              <a:srgbClr val="00338D"/>
            </a:solidFill>
            <a:prstDash val="solid"/>
          </a:ln>
        </p:spPr>
      </p:sp>
      <p:sp>
        <p:nvSpPr>
          <p:cNvPr id="20" name="Text 18"/>
          <p:cNvSpPr/>
          <p:nvPr/>
        </p:nvSpPr>
        <p:spPr>
          <a:xfrm>
            <a:off x="7213519"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Balance sheet</a:t>
            </a:r>
            <a:endParaRPr lang="en-US" sz="1200" dirty="0"/>
          </a:p>
        </p:txBody>
      </p:sp>
      <p:sp>
        <p:nvSpPr>
          <p:cNvPr id="21" name="Text 19"/>
          <p:cNvSpPr/>
          <p:nvPr/>
        </p:nvSpPr>
        <p:spPr>
          <a:xfrm>
            <a:off x="7213519"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44-48)</a:t>
            </a:r>
            <a:endParaRPr lang="en-US" sz="1000" dirty="0"/>
          </a:p>
        </p:txBody>
      </p:sp>
      <p:sp>
        <p:nvSpPr>
          <p:cNvPr id="22" name="Text 20"/>
          <p:cNvSpPr/>
          <p:nvPr/>
        </p:nvSpPr>
        <p:spPr>
          <a:xfrm>
            <a:off x="7213519"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Balance sheet overview</a:t>
            </a:r>
            <a:endParaRPr lang="en-US" sz="1000" dirty="0"/>
          </a:p>
          <a:p>
            <a:pPr indent="0" marL="0">
              <a:buNone/>
            </a:pPr>
            <a:r>
              <a:rPr lang="en-US" sz="1000" dirty="0">
                <a:solidFill>
                  <a:srgbClr val="000000"/>
                </a:solidFill>
                <a:latin typeface="Arial" pitchFamily="34" charset="0"/>
                <a:ea typeface="Arial" pitchFamily="34" charset="-122"/>
                <a:cs typeface="Arial" pitchFamily="34" charset="-120"/>
              </a:rPr>
              <a:t>Net debt</a:t>
            </a:r>
            <a:endParaRPr lang="en-US" sz="1000" dirty="0"/>
          </a:p>
        </p:txBody>
      </p:sp>
      <p:sp>
        <p:nvSpPr>
          <p:cNvPr id="23" name="Text 21"/>
          <p:cNvSpPr/>
          <p:nvPr/>
        </p:nvSpPr>
        <p:spPr>
          <a:xfrm>
            <a:off x="9286098" y="1261872"/>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05</a:t>
            </a:r>
            <a:endParaRPr lang="en-US" sz="3400" dirty="0"/>
          </a:p>
        </p:txBody>
      </p:sp>
      <p:sp>
        <p:nvSpPr>
          <p:cNvPr id="24" name="Shape 22"/>
          <p:cNvSpPr/>
          <p:nvPr/>
        </p:nvSpPr>
        <p:spPr>
          <a:xfrm>
            <a:off x="9286098" y="1737360"/>
            <a:ext cx="502920" cy="0"/>
          </a:xfrm>
          <a:prstGeom prst="line">
            <a:avLst/>
          </a:prstGeom>
          <a:noFill/>
          <a:ln w="12700">
            <a:solidFill>
              <a:srgbClr val="00338D"/>
            </a:solidFill>
            <a:prstDash val="solid"/>
          </a:ln>
        </p:spPr>
      </p:sp>
      <p:sp>
        <p:nvSpPr>
          <p:cNvPr id="25" name="Text 23"/>
          <p:cNvSpPr/>
          <p:nvPr/>
        </p:nvSpPr>
        <p:spPr>
          <a:xfrm>
            <a:off x="9286098" y="1783080"/>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Cash flows</a:t>
            </a:r>
            <a:endParaRPr lang="en-US" sz="1200" dirty="0"/>
          </a:p>
        </p:txBody>
      </p:sp>
      <p:sp>
        <p:nvSpPr>
          <p:cNvPr id="26" name="Text 24"/>
          <p:cNvSpPr/>
          <p:nvPr/>
        </p:nvSpPr>
        <p:spPr>
          <a:xfrm>
            <a:off x="9286098" y="2020824"/>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49-50)</a:t>
            </a:r>
            <a:endParaRPr lang="en-US" sz="1000" dirty="0"/>
          </a:p>
        </p:txBody>
      </p:sp>
      <p:sp>
        <p:nvSpPr>
          <p:cNvPr id="27" name="Text 25"/>
          <p:cNvSpPr/>
          <p:nvPr/>
        </p:nvSpPr>
        <p:spPr>
          <a:xfrm>
            <a:off x="9286098" y="2286000"/>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Operating cash flows</a:t>
            </a:r>
            <a:endParaRPr lang="en-US" sz="1000" dirty="0"/>
          </a:p>
        </p:txBody>
      </p:sp>
      <p:sp>
        <p:nvSpPr>
          <p:cNvPr id="28" name="Text 26"/>
          <p:cNvSpPr/>
          <p:nvPr/>
        </p:nvSpPr>
        <p:spPr>
          <a:xfrm>
            <a:off x="995782"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06</a:t>
            </a:r>
            <a:endParaRPr lang="en-US" sz="3400" dirty="0"/>
          </a:p>
        </p:txBody>
      </p:sp>
      <p:sp>
        <p:nvSpPr>
          <p:cNvPr id="29" name="Shape 27"/>
          <p:cNvSpPr/>
          <p:nvPr/>
        </p:nvSpPr>
        <p:spPr>
          <a:xfrm>
            <a:off x="995782" y="4169664"/>
            <a:ext cx="502920" cy="0"/>
          </a:xfrm>
          <a:prstGeom prst="line">
            <a:avLst/>
          </a:prstGeom>
          <a:noFill/>
          <a:ln w="12700">
            <a:solidFill>
              <a:srgbClr val="00338D"/>
            </a:solidFill>
            <a:prstDash val="solid"/>
          </a:ln>
        </p:spPr>
      </p:sp>
      <p:sp>
        <p:nvSpPr>
          <p:cNvPr id="30" name="Text 28"/>
          <p:cNvSpPr/>
          <p:nvPr/>
        </p:nvSpPr>
        <p:spPr>
          <a:xfrm>
            <a:off x="995782"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Reporting</a:t>
            </a:r>
            <a:endParaRPr lang="en-US" sz="1200" dirty="0"/>
          </a:p>
        </p:txBody>
      </p:sp>
      <p:sp>
        <p:nvSpPr>
          <p:cNvPr id="31" name="Text 29"/>
          <p:cNvSpPr/>
          <p:nvPr/>
        </p:nvSpPr>
        <p:spPr>
          <a:xfrm>
            <a:off x="995782"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51-53)</a:t>
            </a:r>
            <a:endParaRPr lang="en-US" sz="1000" dirty="0"/>
          </a:p>
        </p:txBody>
      </p:sp>
      <p:sp>
        <p:nvSpPr>
          <p:cNvPr id="32" name="Text 30"/>
          <p:cNvSpPr/>
          <p:nvPr/>
        </p:nvSpPr>
        <p:spPr>
          <a:xfrm>
            <a:off x="995782"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Reporting environment</a:t>
            </a:r>
            <a:endParaRPr lang="en-US" sz="1000" dirty="0"/>
          </a:p>
        </p:txBody>
      </p:sp>
      <p:sp>
        <p:nvSpPr>
          <p:cNvPr id="33" name="Text 31"/>
          <p:cNvSpPr/>
          <p:nvPr/>
        </p:nvSpPr>
        <p:spPr>
          <a:xfrm>
            <a:off x="3068361"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07</a:t>
            </a:r>
            <a:endParaRPr lang="en-US" sz="3400" dirty="0"/>
          </a:p>
        </p:txBody>
      </p:sp>
      <p:sp>
        <p:nvSpPr>
          <p:cNvPr id="34" name="Shape 32"/>
          <p:cNvSpPr/>
          <p:nvPr/>
        </p:nvSpPr>
        <p:spPr>
          <a:xfrm>
            <a:off x="3068361" y="4169664"/>
            <a:ext cx="502920" cy="0"/>
          </a:xfrm>
          <a:prstGeom prst="line">
            <a:avLst/>
          </a:prstGeom>
          <a:noFill/>
          <a:ln w="12700">
            <a:solidFill>
              <a:srgbClr val="00338D"/>
            </a:solidFill>
            <a:prstDash val="solid"/>
          </a:ln>
        </p:spPr>
      </p:sp>
      <p:sp>
        <p:nvSpPr>
          <p:cNvPr id="35" name="Text 33"/>
          <p:cNvSpPr/>
          <p:nvPr/>
        </p:nvSpPr>
        <p:spPr>
          <a:xfrm>
            <a:off x="3068361"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Value creation</a:t>
            </a:r>
            <a:endParaRPr lang="en-US" sz="1200" dirty="0"/>
          </a:p>
        </p:txBody>
      </p:sp>
      <p:sp>
        <p:nvSpPr>
          <p:cNvPr id="36" name="Text 34"/>
          <p:cNvSpPr/>
          <p:nvPr/>
        </p:nvSpPr>
        <p:spPr>
          <a:xfrm>
            <a:off x="3068361"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54-60)</a:t>
            </a:r>
            <a:endParaRPr lang="en-US" sz="1000" dirty="0"/>
          </a:p>
        </p:txBody>
      </p:sp>
      <p:sp>
        <p:nvSpPr>
          <p:cNvPr id="37" name="Text 35"/>
          <p:cNvSpPr/>
          <p:nvPr/>
        </p:nvSpPr>
        <p:spPr>
          <a:xfrm>
            <a:off x="3068361"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Financial benchmarking</a:t>
            </a:r>
            <a:endParaRPr lang="en-US" sz="1000" dirty="0"/>
          </a:p>
        </p:txBody>
      </p:sp>
      <p:sp>
        <p:nvSpPr>
          <p:cNvPr id="38" name="Text 36"/>
          <p:cNvSpPr/>
          <p:nvPr/>
        </p:nvSpPr>
        <p:spPr>
          <a:xfrm>
            <a:off x="5140940"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08</a:t>
            </a:r>
            <a:endParaRPr lang="en-US" sz="3400" dirty="0"/>
          </a:p>
        </p:txBody>
      </p:sp>
      <p:sp>
        <p:nvSpPr>
          <p:cNvPr id="39" name="Shape 37"/>
          <p:cNvSpPr/>
          <p:nvPr/>
        </p:nvSpPr>
        <p:spPr>
          <a:xfrm>
            <a:off x="5140940" y="4169664"/>
            <a:ext cx="502920" cy="0"/>
          </a:xfrm>
          <a:prstGeom prst="line">
            <a:avLst/>
          </a:prstGeom>
          <a:noFill/>
          <a:ln w="12700">
            <a:solidFill>
              <a:srgbClr val="00338D"/>
            </a:solidFill>
            <a:prstDash val="solid"/>
          </a:ln>
        </p:spPr>
      </p:sp>
      <p:sp>
        <p:nvSpPr>
          <p:cNvPr id="40" name="Text 38"/>
          <p:cNvSpPr/>
          <p:nvPr/>
        </p:nvSpPr>
        <p:spPr>
          <a:xfrm>
            <a:off x="5140940"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Pre-Deal PPA</a:t>
            </a:r>
            <a:endParaRPr lang="en-US" sz="1200" dirty="0"/>
          </a:p>
        </p:txBody>
      </p:sp>
      <p:sp>
        <p:nvSpPr>
          <p:cNvPr id="41" name="Text 39"/>
          <p:cNvSpPr/>
          <p:nvPr/>
        </p:nvSpPr>
        <p:spPr>
          <a:xfrm>
            <a:off x="5140940"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61-65)</a:t>
            </a:r>
            <a:endParaRPr lang="en-US" sz="1000" dirty="0"/>
          </a:p>
        </p:txBody>
      </p:sp>
      <p:sp>
        <p:nvSpPr>
          <p:cNvPr id="42" name="Text 40"/>
          <p:cNvSpPr/>
          <p:nvPr/>
        </p:nvSpPr>
        <p:spPr>
          <a:xfrm>
            <a:off x="5140940"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Methodology &amp; procedures</a:t>
            </a:r>
            <a:endParaRPr lang="en-US" sz="1000" dirty="0"/>
          </a:p>
        </p:txBody>
      </p:sp>
      <p:sp>
        <p:nvSpPr>
          <p:cNvPr id="43" name="Text 41"/>
          <p:cNvSpPr/>
          <p:nvPr/>
        </p:nvSpPr>
        <p:spPr>
          <a:xfrm>
            <a:off x="7213519"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09</a:t>
            </a:r>
            <a:endParaRPr lang="en-US" sz="3400" dirty="0"/>
          </a:p>
        </p:txBody>
      </p:sp>
      <p:sp>
        <p:nvSpPr>
          <p:cNvPr id="44" name="Shape 42"/>
          <p:cNvSpPr/>
          <p:nvPr/>
        </p:nvSpPr>
        <p:spPr>
          <a:xfrm>
            <a:off x="7213519" y="4169664"/>
            <a:ext cx="502920" cy="0"/>
          </a:xfrm>
          <a:prstGeom prst="line">
            <a:avLst/>
          </a:prstGeom>
          <a:noFill/>
          <a:ln w="12700">
            <a:solidFill>
              <a:srgbClr val="00338D"/>
            </a:solidFill>
            <a:prstDash val="solid"/>
          </a:ln>
        </p:spPr>
      </p:sp>
      <p:sp>
        <p:nvSpPr>
          <p:cNvPr id="45" name="Text 43"/>
          <p:cNvSpPr/>
          <p:nvPr/>
        </p:nvSpPr>
        <p:spPr>
          <a:xfrm>
            <a:off x="7213519"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Taxation</a:t>
            </a:r>
            <a:endParaRPr lang="en-US" sz="1200" dirty="0"/>
          </a:p>
        </p:txBody>
      </p:sp>
      <p:sp>
        <p:nvSpPr>
          <p:cNvPr id="46" name="Text 44"/>
          <p:cNvSpPr/>
          <p:nvPr/>
        </p:nvSpPr>
        <p:spPr>
          <a:xfrm>
            <a:off x="7213519"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66-68)</a:t>
            </a:r>
            <a:endParaRPr lang="en-US" sz="1000" dirty="0"/>
          </a:p>
        </p:txBody>
      </p:sp>
      <p:sp>
        <p:nvSpPr>
          <p:cNvPr id="47" name="Text 45"/>
          <p:cNvSpPr/>
          <p:nvPr/>
        </p:nvSpPr>
        <p:spPr>
          <a:xfrm>
            <a:off x="7213519"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Add title</a:t>
            </a:r>
            <a:endParaRPr lang="en-US" sz="1000" dirty="0"/>
          </a:p>
        </p:txBody>
      </p:sp>
      <p:sp>
        <p:nvSpPr>
          <p:cNvPr id="48" name="Text 46"/>
          <p:cNvSpPr/>
          <p:nvPr/>
        </p:nvSpPr>
        <p:spPr>
          <a:xfrm>
            <a:off x="9286098" y="3694176"/>
            <a:ext cx="1907987" cy="475488"/>
          </a:xfrm>
          <a:prstGeom prst="rect">
            <a:avLst/>
          </a:prstGeom>
          <a:noFill/>
          <a:ln/>
        </p:spPr>
        <p:txBody>
          <a:bodyPr wrap="square" lIns="0" tIns="0" rIns="0" bIns="0" rtlCol="0" anchor="t"/>
          <a:lstStyle/>
          <a:p>
            <a:pPr indent="0" marL="0">
              <a:buNone/>
            </a:pPr>
            <a:r>
              <a:rPr lang="en-US" sz="3400" b="1" dirty="0">
                <a:solidFill>
                  <a:srgbClr val="00338D"/>
                </a:solidFill>
                <a:latin typeface="Arial" pitchFamily="34" charset="0"/>
                <a:ea typeface="Arial" pitchFamily="34" charset="-122"/>
                <a:cs typeface="Arial" pitchFamily="34" charset="-120"/>
              </a:rPr>
              <a:t>10</a:t>
            </a:r>
            <a:endParaRPr lang="en-US" sz="3400" dirty="0"/>
          </a:p>
        </p:txBody>
      </p:sp>
      <p:sp>
        <p:nvSpPr>
          <p:cNvPr id="49" name="Shape 47"/>
          <p:cNvSpPr/>
          <p:nvPr/>
        </p:nvSpPr>
        <p:spPr>
          <a:xfrm>
            <a:off x="9286098" y="4169664"/>
            <a:ext cx="502920" cy="0"/>
          </a:xfrm>
          <a:prstGeom prst="line">
            <a:avLst/>
          </a:prstGeom>
          <a:noFill/>
          <a:ln w="12700">
            <a:solidFill>
              <a:srgbClr val="00338D"/>
            </a:solidFill>
            <a:prstDash val="solid"/>
          </a:ln>
        </p:spPr>
      </p:sp>
      <p:sp>
        <p:nvSpPr>
          <p:cNvPr id="50" name="Text 48"/>
          <p:cNvSpPr/>
          <p:nvPr/>
        </p:nvSpPr>
        <p:spPr>
          <a:xfrm>
            <a:off x="9286098" y="4215384"/>
            <a:ext cx="1907987" cy="210312"/>
          </a:xfrm>
          <a:prstGeom prst="rect">
            <a:avLst/>
          </a:prstGeom>
          <a:noFill/>
          <a:ln/>
        </p:spPr>
        <p:txBody>
          <a:bodyPr wrap="square" lIns="0" tIns="0" rIns="0" bIns="0" rtlCol="0" anchor="t"/>
          <a:lstStyle/>
          <a:p>
            <a:pPr indent="0" marL="0">
              <a:buNone/>
            </a:pPr>
            <a:r>
              <a:rPr lang="en-US" sz="1200" b="1" dirty="0">
                <a:solidFill>
                  <a:srgbClr val="00338D"/>
                </a:solidFill>
                <a:latin typeface="Arial" pitchFamily="34" charset="0"/>
                <a:ea typeface="Arial" pitchFamily="34" charset="-122"/>
                <a:cs typeface="Arial" pitchFamily="34" charset="-120"/>
              </a:rPr>
              <a:t>Appendices</a:t>
            </a:r>
            <a:endParaRPr lang="en-US" sz="1200" dirty="0"/>
          </a:p>
        </p:txBody>
      </p:sp>
      <p:sp>
        <p:nvSpPr>
          <p:cNvPr id="51" name="Text 49"/>
          <p:cNvSpPr/>
          <p:nvPr/>
        </p:nvSpPr>
        <p:spPr>
          <a:xfrm>
            <a:off x="9286098" y="4453128"/>
            <a:ext cx="1907987" cy="182880"/>
          </a:xfrm>
          <a:prstGeom prst="rect">
            <a:avLst/>
          </a:prstGeom>
          <a:noFill/>
          <a:ln/>
        </p:spPr>
        <p:txBody>
          <a:bodyPr wrap="square" lIns="0" tIns="0" rIns="0" bIns="0" rtlCol="0" anchor="t"/>
          <a:lstStyle/>
          <a:p>
            <a:pPr indent="0" marL="0">
              <a:buNone/>
            </a:pPr>
            <a:r>
              <a:rPr lang="en-US" sz="1000" b="1" dirty="0">
                <a:solidFill>
                  <a:srgbClr val="00338D"/>
                </a:solidFill>
                <a:latin typeface="Arial" pitchFamily="34" charset="0"/>
                <a:ea typeface="Arial" pitchFamily="34" charset="-122"/>
                <a:cs typeface="Arial" pitchFamily="34" charset="-120"/>
              </a:rPr>
              <a:t>(p. 69-77)</a:t>
            </a:r>
            <a:endParaRPr lang="en-US" sz="1000" dirty="0"/>
          </a:p>
        </p:txBody>
      </p:sp>
      <p:sp>
        <p:nvSpPr>
          <p:cNvPr id="52" name="Text 50"/>
          <p:cNvSpPr/>
          <p:nvPr/>
        </p:nvSpPr>
        <p:spPr>
          <a:xfrm>
            <a:off x="9286098" y="4718304"/>
            <a:ext cx="1907987" cy="1124712"/>
          </a:xfrm>
          <a:prstGeom prst="rect">
            <a:avLst/>
          </a:prstGeom>
          <a:noFill/>
          <a:ln/>
        </p:spPr>
        <p:txBody>
          <a:bodyPr wrap="square" lIns="46800" tIns="72000" rIns="90000" bIns="46800" rtlCol="0" anchor="t"/>
          <a:lstStyle/>
          <a:p>
            <a:pPr indent="0" marL="0">
              <a:buNone/>
            </a:pPr>
            <a:r>
              <a:rPr lang="en-US" sz="1000" dirty="0">
                <a:solidFill>
                  <a:srgbClr val="000000"/>
                </a:solidFill>
                <a:latin typeface="Arial" pitchFamily="34" charset="0"/>
                <a:ea typeface="Arial" pitchFamily="34" charset="-122"/>
                <a:cs typeface="Arial" pitchFamily="34" charset="-120"/>
              </a:rPr>
              <a:t>Engagement appendices</a:t>
            </a:r>
            <a:endParaRPr lang="en-US" sz="1000" dirty="0"/>
          </a:p>
        </p:txBody>
      </p:sp>
      <p:sp>
        <p:nvSpPr>
          <p:cNvPr id="53" name="Text 51"/>
          <p:cNvSpPr/>
          <p:nvPr/>
        </p:nvSpPr>
        <p:spPr>
          <a:xfrm>
            <a:off x="10607040" y="475488"/>
            <a:ext cx="640080" cy="164592"/>
          </a:xfrm>
          <a:prstGeom prst="rect">
            <a:avLst/>
          </a:prstGeom>
          <a:noFill/>
          <a:ln/>
        </p:spPr>
        <p:txBody>
          <a:bodyPr wrap="square" lIns="0" tIns="0" rIns="0" bIns="0" rtlCol="0" anchor="t"/>
          <a:lstStyle/>
          <a:p>
            <a:pPr algn="r" indent="0" marL="0">
              <a:buNone/>
            </a:pPr>
            <a:r>
              <a:rPr lang="en-US" sz="1000" dirty="0">
                <a:solidFill>
                  <a:srgbClr val="00338D"/>
                </a:solidFill>
                <a:latin typeface="Arial" pitchFamily="34" charset="0"/>
                <a:ea typeface="Arial" pitchFamily="34" charset="-122"/>
                <a:cs typeface="Arial" pitchFamily="34" charset="-120"/>
              </a:rPr>
              <a:t>Glossary</a:t>
            </a:r>
            <a:endParaRPr lang="en-US" sz="1000" dirty="0"/>
          </a:p>
        </p:txBody>
      </p:sp>
      <p:sp>
        <p:nvSpPr>
          <p:cNvPr id="54" name="Text 52"/>
          <p:cNvSpPr/>
          <p:nvPr/>
        </p:nvSpPr>
        <p:spPr>
          <a:xfrm>
            <a:off x="10451592" y="786384"/>
            <a:ext cx="795528" cy="164592"/>
          </a:xfrm>
          <a:prstGeom prst="rect">
            <a:avLst/>
          </a:prstGeom>
          <a:noFill/>
          <a:ln/>
        </p:spPr>
        <p:txBody>
          <a:bodyPr wrap="square" lIns="0" tIns="0" rIns="0" bIns="0" rtlCol="0" anchor="t"/>
          <a:lstStyle/>
          <a:p>
            <a:pPr algn="r" indent="0" marL="0">
              <a:buNone/>
            </a:pPr>
            <a:r>
              <a:rPr lang="en-US" sz="1000" dirty="0">
                <a:solidFill>
                  <a:srgbClr val="00338D"/>
                </a:solidFill>
                <a:latin typeface="Arial" pitchFamily="34" charset="0"/>
                <a:ea typeface="Arial" pitchFamily="34" charset="-122"/>
                <a:cs typeface="Arial" pitchFamily="34" charset="-120"/>
              </a:rPr>
              <a:t>KPMG contacts</a:t>
            </a:r>
            <a:endParaRPr lang="en-US" sz="1000" dirty="0"/>
          </a:p>
        </p:txBody>
      </p:sp>
      <p:sp>
        <p:nvSpPr>
          <p:cNvPr id="55" name="Text 5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998525" y="431597"/>
            <a:ext cx="10195560" cy="533095"/>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Profit &amp; loss overview</a:t>
            </a:r>
            <a:endParaRPr lang="en-US" sz="3200" dirty="0"/>
          </a:p>
        </p:txBody>
      </p:sp>
      <p:sp>
        <p:nvSpPr>
          <p:cNvPr id="3" name="Shape 1"/>
          <p:cNvSpPr/>
          <p:nvPr/>
        </p:nvSpPr>
        <p:spPr>
          <a:xfrm>
            <a:off x="995782" y="1179576"/>
            <a:ext cx="7587691" cy="482803"/>
          </a:xfrm>
          <a:prstGeom prst="rect">
            <a:avLst/>
          </a:prstGeom>
          <a:solidFill>
            <a:srgbClr val="FFFFFF">
              <a:alpha val="0"/>
            </a:srgbClr>
          </a:solidFill>
          <a:ln w="12700">
            <a:solidFill>
              <a:srgbClr val="9E9E9E"/>
            </a:solidFill>
            <a:prstDash val="solid"/>
          </a:ln>
        </p:spPr>
      </p:sp>
      <p:sp>
        <p:nvSpPr>
          <p:cNvPr id="4" name="Text 2"/>
          <p:cNvSpPr/>
          <p:nvPr/>
        </p:nvSpPr>
        <p:spPr>
          <a:xfrm>
            <a:off x="995782" y="1179576"/>
            <a:ext cx="7587691" cy="482803"/>
          </a:xfrm>
          <a:prstGeom prst="rect">
            <a:avLst/>
          </a:prstGeom>
          <a:noFill/>
          <a:ln/>
        </p:spPr>
        <p:txBody>
          <a:bodyPr wrap="square" lIns="46800" tIns="72000" rIns="90000" bIns="46800" rtlCol="0" anchor="t"/>
          <a:lstStyle/>
          <a:p>
            <a:pPr indent="0" marL="0">
              <a:buNone/>
            </a:pPr>
            <a:r>
              <a:rPr lang="en-US" sz="900" b="1" dirty="0">
                <a:solidFill>
                  <a:srgbClr val="1E49E2"/>
                </a:solidFill>
                <a:latin typeface="Arial" pitchFamily="34" charset="0"/>
                <a:ea typeface="Arial" pitchFamily="34" charset="-122"/>
                <a:cs typeface="Arial" pitchFamily="34" charset="-120"/>
              </a:rPr>
              <a:t>Use this strapline to summarize the key message - Keep it concise and clear, preferably 1-2 sentences only.</a:t>
            </a:r>
            <a:endParaRPr lang="en-US" sz="900" dirty="0"/>
          </a:p>
        </p:txBody>
      </p:sp>
      <p:graphicFrame>
        <p:nvGraphicFramePr>
          <p:cNvPr id="5" name="Chart 0" descr=""/>
          <p:cNvGraphicFramePr/>
          <p:nvPr/>
        </p:nvGraphicFramePr>
        <p:xfrm>
          <a:off x="8717890" y="984809"/>
          <a:ext cx="2475281" cy="678485"/>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995782" y="1751990"/>
          <a:ext cx="3690518" cy="4122115"/>
        </p:xfrm>
        <a:graphic>
          <a:graphicData uri="http://schemas.openxmlformats.org/drawingml/2006/table">
            <a:tbl>
              <a:tblPr/>
              <a:tblGrid>
                <a:gridCol w="1230173"/>
                <a:gridCol w="1230173"/>
                <a:gridCol w="1230173"/>
              </a:tblGrid>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Metric</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FY23</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FY24</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Revenue</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120</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144</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Gross profit</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58</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71</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EBITDA</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26</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34</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r h="824423">
                <a:tc>
                  <a:txBody>
                    <a:bodyPr/>
                    <a:lstStyle/>
                    <a:p>
                      <a:pPr indent="0" marL="0">
                        <a:buNone/>
                      </a:pPr>
                      <a:r>
                        <a:rPr lang="en-US" sz="800" dirty="0">
                          <a:solidFill>
                            <a:srgbClr val="000000"/>
                          </a:solidFill>
                          <a:latin typeface="Arial" pitchFamily="34" charset="0"/>
                          <a:ea typeface="Arial" pitchFamily="34" charset="-122"/>
                          <a:cs typeface="Arial" pitchFamily="34" charset="-120"/>
                        </a:rPr>
                        <a:t>EBITDA margin</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21.7%</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indent="0" marL="0">
                        <a:buNone/>
                      </a:pPr>
                      <a:r>
                        <a:rPr lang="en-US" sz="800" dirty="0">
                          <a:solidFill>
                            <a:srgbClr val="000000"/>
                          </a:solidFill>
                          <a:latin typeface="Arial" pitchFamily="34" charset="0"/>
                          <a:ea typeface="Arial" pitchFamily="34" charset="-122"/>
                          <a:cs typeface="Arial" pitchFamily="34" charset="-120"/>
                        </a:rPr>
                        <a:t>23.6%</a:t>
                      </a:r>
                      <a:endParaRPr lang="en-US" sz="800" dirty="0">
                        <a:latin typeface="Arial" charset="0"/>
                        <a:ea typeface="Arial" charset="0"/>
                        <a:cs typeface="Arial" charset="0"/>
                      </a:endParaRPr>
                    </a:p>
                  </a:txBody>
                  <a:tcPr marL="91440" marR="91440" marT="45720" marB="45720" anchor="mid">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r>
            </a:tbl>
          </a:graphicData>
        </a:graphic>
      </p:graphicFrame>
      <p:sp>
        <p:nvSpPr>
          <p:cNvPr id="7" name="Shape 3"/>
          <p:cNvSpPr/>
          <p:nvPr/>
        </p:nvSpPr>
        <p:spPr>
          <a:xfrm>
            <a:off x="4817059" y="1751990"/>
            <a:ext cx="6378854" cy="252374"/>
          </a:xfrm>
          <a:prstGeom prst="rect">
            <a:avLst/>
          </a:prstGeom>
          <a:solidFill>
            <a:srgbClr val="00338D"/>
          </a:solidFill>
          <a:ln w="12700">
            <a:solidFill>
              <a:srgbClr val="00338D"/>
            </a:solidFill>
            <a:prstDash val="solid"/>
          </a:ln>
        </p:spPr>
      </p:sp>
      <p:sp>
        <p:nvSpPr>
          <p:cNvPr id="8" name="Text 4"/>
          <p:cNvSpPr/>
          <p:nvPr/>
        </p:nvSpPr>
        <p:spPr>
          <a:xfrm>
            <a:off x="4890211" y="1751990"/>
            <a:ext cx="6232550" cy="252374"/>
          </a:xfrm>
          <a:prstGeom prst="rect">
            <a:avLst/>
          </a:prstGeom>
          <a:noFill/>
          <a:ln/>
        </p:spPr>
        <p:txBody>
          <a:bodyPr wrap="square" lIns="0" tIns="0" rIns="0" bIns="0" rtlCol="0" anchor="ctr"/>
          <a:lstStyle/>
          <a:p>
            <a:pPr indent="0" marL="0">
              <a:buNone/>
            </a:pPr>
            <a:r>
              <a:rPr lang="en-US" sz="1200" b="1" dirty="0">
                <a:solidFill>
                  <a:srgbClr val="FFFFFF"/>
                </a:solidFill>
                <a:latin typeface="Arial" pitchFamily="34" charset="0"/>
                <a:ea typeface="Arial" pitchFamily="34" charset="-122"/>
                <a:cs typeface="Arial" pitchFamily="34" charset="-120"/>
              </a:rPr>
              <a:t>Illustrative revenue bridge</a:t>
            </a:r>
            <a:endParaRPr lang="en-US" sz="1200" dirty="0"/>
          </a:p>
        </p:txBody>
      </p:sp>
      <p:sp>
        <p:nvSpPr>
          <p:cNvPr id="9" name="Shape 5"/>
          <p:cNvSpPr/>
          <p:nvPr/>
        </p:nvSpPr>
        <p:spPr>
          <a:xfrm>
            <a:off x="4817059" y="2003450"/>
            <a:ext cx="6377940" cy="3869741"/>
          </a:xfrm>
          <a:prstGeom prst="rect">
            <a:avLst/>
          </a:prstGeom>
          <a:solidFill>
            <a:srgbClr val="FFFFFF">
              <a:alpha val="0"/>
            </a:srgbClr>
          </a:solidFill>
          <a:ln w="12700">
            <a:solidFill>
              <a:srgbClr val="9E9E9E"/>
            </a:solidFill>
            <a:prstDash val="solid"/>
          </a:ln>
        </p:spPr>
      </p:sp>
      <p:sp>
        <p:nvSpPr>
          <p:cNvPr id="10" name="Text 6"/>
          <p:cNvSpPr/>
          <p:nvPr/>
        </p:nvSpPr>
        <p:spPr>
          <a:xfrm>
            <a:off x="4817059" y="2003450"/>
            <a:ext cx="6377940" cy="3869741"/>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Excepteur sint occaecat cupidatat non proident, sunt in culpa qui officia deserunt mollit anim id est laborum.</a:t>
            </a:r>
            <a:endParaRPr lang="en-US" sz="1000" dirty="0"/>
          </a:p>
        </p:txBody>
      </p:sp>
      <p:sp>
        <p:nvSpPr>
          <p:cNvPr id="11" name="Text 7"/>
          <p:cNvSpPr/>
          <p:nvPr/>
        </p:nvSpPr>
        <p:spPr>
          <a:xfrm>
            <a:off x="994867" y="5907024"/>
            <a:ext cx="3599993" cy="210312"/>
          </a:xfrm>
          <a:prstGeom prst="rect">
            <a:avLst/>
          </a:prstGeom>
          <a:noFill/>
          <a:ln/>
        </p:spPr>
        <p:txBody>
          <a:bodyPr wrap="square" lIns="0" tIns="0" rIns="0" bIns="0" rtlCol="0" anchor="t"/>
          <a:lstStyle/>
          <a:p>
            <a:pPr indent="0" marL="0">
              <a:buNone/>
            </a:pPr>
            <a:r>
              <a:rPr lang="en-US" sz="600" b="1" dirty="0">
                <a:solidFill>
                  <a:srgbClr val="00338D"/>
                </a:solidFill>
                <a:latin typeface="Arial" pitchFamily="34" charset="0"/>
                <a:ea typeface="Arial" pitchFamily="34" charset="-122"/>
                <a:cs typeface="Arial" pitchFamily="34" charset="-120"/>
              </a:rPr>
              <a:t>Note: Placeholder data. Source: Synthetic sample.</a:t>
            </a:r>
            <a:endParaRPr lang="en-US" sz="600" dirty="0"/>
          </a:p>
        </p:txBody>
      </p:sp>
      <p:sp>
        <p:nvSpPr>
          <p:cNvPr id="12" name="Text 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FFFFFF"/>
                </a:solidFill>
                <a:latin typeface="Arial" pitchFamily="34" charset="0"/>
                <a:ea typeface="Arial" pitchFamily="34" charset="-122"/>
                <a:cs typeface="Arial" pitchFamily="34" charset="-120"/>
              </a:rPr>
              <a:t>01</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FFFFFF"/>
                </a:solidFill>
                <a:latin typeface="Arial" pitchFamily="34" charset="0"/>
                <a:ea typeface="Arial" pitchFamily="34" charset="-122"/>
                <a:cs typeface="Arial" pitchFamily="34" charset="-120"/>
              </a:rPr>
              <a:t>Long-Form Text and Layout Stress Test</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998525" y="431597"/>
            <a:ext cx="10195560" cy="533095"/>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Summary Financials — Lorem Scenario</a:t>
            </a:r>
            <a:endParaRPr lang="en-US" sz="3200" dirty="0"/>
          </a:p>
        </p:txBody>
      </p:sp>
      <p:sp>
        <p:nvSpPr>
          <p:cNvPr id="3" name="Shape 1"/>
          <p:cNvSpPr/>
          <p:nvPr/>
        </p:nvSpPr>
        <p:spPr>
          <a:xfrm>
            <a:off x="995362" y="1179513"/>
            <a:ext cx="3302806" cy="2296973"/>
          </a:xfrm>
          <a:prstGeom prst="rect">
            <a:avLst/>
          </a:prstGeom>
          <a:solidFill>
            <a:srgbClr val="EDEDED"/>
          </a:solidFill>
          <a:ln w="12700">
            <a:solidFill>
              <a:srgbClr val="EDEDED"/>
            </a:solidFill>
            <a:prstDash val="solid"/>
          </a:ln>
        </p:spPr>
      </p:sp>
      <p:sp>
        <p:nvSpPr>
          <p:cNvPr id="4" name="Text 2"/>
          <p:cNvSpPr/>
          <p:nvPr/>
        </p:nvSpPr>
        <p:spPr>
          <a:xfrm>
            <a:off x="106851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Quality of earnings</a:t>
            </a:r>
            <a:endParaRPr lang="en-US" sz="1000" dirty="0"/>
          </a:p>
        </p:txBody>
      </p:sp>
      <p:sp>
        <p:nvSpPr>
          <p:cNvPr id="5" name="Shape 3"/>
          <p:cNvSpPr/>
          <p:nvPr/>
        </p:nvSpPr>
        <p:spPr>
          <a:xfrm>
            <a:off x="3502640" y="1206945"/>
            <a:ext cx="749808" cy="201168"/>
          </a:xfrm>
          <a:prstGeom prst="roundRect">
            <a:avLst>
              <a:gd name="adj" fmla="val 13636"/>
            </a:avLst>
          </a:prstGeom>
          <a:solidFill>
            <a:srgbClr val="5A1CD7"/>
          </a:solidFill>
          <a:ln w="12700">
            <a:solidFill>
              <a:srgbClr val="5A1CD7"/>
            </a:solidFill>
            <a:prstDash val="solid"/>
          </a:ln>
        </p:spPr>
      </p:sp>
      <p:sp>
        <p:nvSpPr>
          <p:cNvPr id="6" name="Text 4"/>
          <p:cNvSpPr/>
          <p:nvPr/>
        </p:nvSpPr>
        <p:spPr>
          <a:xfrm>
            <a:off x="350264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7" name="Shape 5"/>
          <p:cNvSpPr/>
          <p:nvPr/>
        </p:nvSpPr>
        <p:spPr>
          <a:xfrm>
            <a:off x="4441587" y="1179513"/>
            <a:ext cx="3302806" cy="2296973"/>
          </a:xfrm>
          <a:prstGeom prst="rect">
            <a:avLst/>
          </a:prstGeom>
          <a:solidFill>
            <a:srgbClr val="EDEDED"/>
          </a:solidFill>
          <a:ln w="12700">
            <a:solidFill>
              <a:srgbClr val="EDEDED"/>
            </a:solidFill>
            <a:prstDash val="solid"/>
          </a:ln>
        </p:spPr>
      </p:sp>
      <p:sp>
        <p:nvSpPr>
          <p:cNvPr id="8" name="Text 6"/>
          <p:cNvSpPr/>
          <p:nvPr/>
        </p:nvSpPr>
        <p:spPr>
          <a:xfrm>
            <a:off x="4514739"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Net working capital</a:t>
            </a:r>
            <a:endParaRPr lang="en-US" sz="1000" dirty="0"/>
          </a:p>
        </p:txBody>
      </p:sp>
      <p:sp>
        <p:nvSpPr>
          <p:cNvPr id="9" name="Shape 7"/>
          <p:cNvSpPr/>
          <p:nvPr/>
        </p:nvSpPr>
        <p:spPr>
          <a:xfrm>
            <a:off x="6948865" y="1206945"/>
            <a:ext cx="749808" cy="201168"/>
          </a:xfrm>
          <a:prstGeom prst="roundRect">
            <a:avLst>
              <a:gd name="adj" fmla="val 13636"/>
            </a:avLst>
          </a:prstGeom>
          <a:solidFill>
            <a:srgbClr val="5A1CD7"/>
          </a:solidFill>
          <a:ln w="12700">
            <a:solidFill>
              <a:srgbClr val="5A1CD7"/>
            </a:solidFill>
            <a:prstDash val="solid"/>
          </a:ln>
        </p:spPr>
      </p:sp>
      <p:sp>
        <p:nvSpPr>
          <p:cNvPr id="10" name="Text 8"/>
          <p:cNvSpPr/>
          <p:nvPr/>
        </p:nvSpPr>
        <p:spPr>
          <a:xfrm>
            <a:off x="6948865"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1" name="Shape 9"/>
          <p:cNvSpPr/>
          <p:nvPr/>
        </p:nvSpPr>
        <p:spPr>
          <a:xfrm>
            <a:off x="7887812" y="1179513"/>
            <a:ext cx="3302806" cy="2296973"/>
          </a:xfrm>
          <a:prstGeom prst="rect">
            <a:avLst/>
          </a:prstGeom>
          <a:solidFill>
            <a:srgbClr val="EDEDED"/>
          </a:solidFill>
          <a:ln w="12700">
            <a:solidFill>
              <a:srgbClr val="EDEDED"/>
            </a:solidFill>
            <a:prstDash val="solid"/>
          </a:ln>
        </p:spPr>
      </p:sp>
      <p:sp>
        <p:nvSpPr>
          <p:cNvPr id="12" name="Text 10"/>
          <p:cNvSpPr/>
          <p:nvPr/>
        </p:nvSpPr>
        <p:spPr>
          <a:xfrm>
            <a:off x="796096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Net debt</a:t>
            </a:r>
            <a:endParaRPr lang="en-US" sz="1000" dirty="0"/>
          </a:p>
        </p:txBody>
      </p:sp>
      <p:sp>
        <p:nvSpPr>
          <p:cNvPr id="13" name="Shape 11"/>
          <p:cNvSpPr/>
          <p:nvPr/>
        </p:nvSpPr>
        <p:spPr>
          <a:xfrm>
            <a:off x="10395090" y="1206945"/>
            <a:ext cx="749808" cy="201168"/>
          </a:xfrm>
          <a:prstGeom prst="roundRect">
            <a:avLst>
              <a:gd name="adj" fmla="val 13636"/>
            </a:avLst>
          </a:prstGeom>
          <a:solidFill>
            <a:srgbClr val="5A1CD7"/>
          </a:solidFill>
          <a:ln w="12700">
            <a:solidFill>
              <a:srgbClr val="5A1CD7"/>
            </a:solidFill>
            <a:prstDash val="solid"/>
          </a:ln>
        </p:spPr>
      </p:sp>
      <p:sp>
        <p:nvSpPr>
          <p:cNvPr id="14" name="Text 12"/>
          <p:cNvSpPr/>
          <p:nvPr/>
        </p:nvSpPr>
        <p:spPr>
          <a:xfrm>
            <a:off x="1039509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5" name="Shape 13"/>
          <p:cNvSpPr/>
          <p:nvPr/>
        </p:nvSpPr>
        <p:spPr>
          <a:xfrm>
            <a:off x="995361" y="3581757"/>
            <a:ext cx="5036400" cy="2296973"/>
          </a:xfrm>
          <a:prstGeom prst="rect">
            <a:avLst/>
          </a:prstGeom>
          <a:solidFill>
            <a:srgbClr val="EDEDED"/>
          </a:solidFill>
          <a:ln w="12700">
            <a:solidFill>
              <a:srgbClr val="EDEDED"/>
            </a:solidFill>
            <a:prstDash val="solid"/>
          </a:ln>
        </p:spPr>
      </p:sp>
      <p:sp>
        <p:nvSpPr>
          <p:cNvPr id="16" name="Text 14"/>
          <p:cNvSpPr/>
          <p:nvPr/>
        </p:nvSpPr>
        <p:spPr>
          <a:xfrm>
            <a:off x="1068513"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Cash conversion</a:t>
            </a:r>
            <a:endParaRPr lang="en-US" sz="1000" dirty="0"/>
          </a:p>
        </p:txBody>
      </p:sp>
      <p:sp>
        <p:nvSpPr>
          <p:cNvPr id="17" name="Shape 15"/>
          <p:cNvSpPr/>
          <p:nvPr/>
        </p:nvSpPr>
        <p:spPr>
          <a:xfrm>
            <a:off x="6159600" y="3581757"/>
            <a:ext cx="5036400" cy="2296973"/>
          </a:xfrm>
          <a:prstGeom prst="rect">
            <a:avLst/>
          </a:prstGeom>
          <a:solidFill>
            <a:srgbClr val="EDEDED"/>
          </a:solidFill>
          <a:ln w="12700">
            <a:solidFill>
              <a:srgbClr val="EDEDED"/>
            </a:solidFill>
            <a:prstDash val="solid"/>
          </a:ln>
        </p:spPr>
      </p:sp>
      <p:sp>
        <p:nvSpPr>
          <p:cNvPr id="18" name="Text 16"/>
          <p:cNvSpPr/>
          <p:nvPr/>
        </p:nvSpPr>
        <p:spPr>
          <a:xfrm>
            <a:off x="6232752"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Other value bridge</a:t>
            </a:r>
            <a:endParaRPr lang="en-US" sz="1000" dirty="0"/>
          </a:p>
        </p:txBody>
      </p:sp>
      <p:sp>
        <p:nvSpPr>
          <p:cNvPr id="19" name="Text 17"/>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3</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Two Columns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Two Columns (Lorem)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5120640"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graphicFrame>
        <p:nvGraphicFramePr>
          <p:cNvPr id="5" name="Chart 0" descr=""/>
          <p:cNvGraphicFramePr/>
          <p:nvPr/>
        </p:nvGraphicFramePr>
        <p:xfrm>
          <a:off x="6400800" y="1691640"/>
          <a:ext cx="4800600" cy="420989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6400800" y="5947258"/>
            <a:ext cx="4800600"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5</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Table + Text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p:txBody>
      </p:sp>
      <p:graphicFrame>
        <p:nvGraphicFramePr>
          <p:cNvPr id="5" name="Chart 0" descr=""/>
          <p:cNvGraphicFramePr/>
          <p:nvPr/>
        </p:nvGraphicFramePr>
        <p:xfrm>
          <a:off x="998433" y="3794760"/>
          <a:ext cx="10204338" cy="210677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7258"/>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6</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Wide Chart + Table + Text (Lorem) (cont.)</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8433" y="1691640"/>
            <a:ext cx="10204338" cy="178308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graphicFrame>
        <p:nvGraphicFramePr>
          <p:cNvPr id="5" name="Chart 0" descr=""/>
          <p:cNvGraphicFramePr/>
          <p:nvPr/>
        </p:nvGraphicFramePr>
        <p:xfrm>
          <a:off x="998433" y="3794760"/>
          <a:ext cx="10204338" cy="2106778"/>
        </p:xfrm>
        <a:graphic xmlns:a="http://schemas.openxmlformats.org/drawingml/2006/main">
          <a:graphicData uri="http://schemas.openxmlformats.org/drawingml/2006/chart">
            <c:chart xmlns:c="http://schemas.openxmlformats.org/drawingml/2006/chart" r:id="rId1"/>
          </a:graphicData>
        </a:graphic>
      </p:graphicFrame>
      <p:sp>
        <p:nvSpPr>
          <p:cNvPr id="6" name="Text 3"/>
          <p:cNvSpPr/>
          <p:nvPr/>
        </p:nvSpPr>
        <p:spPr>
          <a:xfrm>
            <a:off x="998433" y="5947258"/>
            <a:ext cx="10204338" cy="182880"/>
          </a:xfrm>
          <a:prstGeom prst="rect">
            <a:avLst/>
          </a:prstGeom>
          <a:noFill/>
          <a:ln/>
        </p:spPr>
        <p:txBody>
          <a:bodyPr wrap="square" rtlCol="0" anchor="ctr"/>
          <a:lstStyle/>
          <a:p>
            <a:pPr indent="0" marL="0">
              <a:buNone/>
            </a:pPr>
            <a:r>
              <a:rPr lang="en-US" sz="600" i="1" dirty="0">
                <a:solidFill>
                  <a:srgbClr val="00338D"/>
                </a:solidFill>
                <a:latin typeface="Arial" pitchFamily="34" charset="0"/>
                <a:ea typeface="Arial" pitchFamily="34" charset="-122"/>
                <a:cs typeface="Arial" pitchFamily="34" charset="-120"/>
              </a:rPr>
              <a:t>Synthetic data for layout testing only</a:t>
            </a:r>
            <a:endParaRPr lang="en-US" sz="6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7</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Narrow Table (Lorem)</a:t>
            </a:r>
            <a:endParaRPr lang="en-US" sz="3200" dirty="0"/>
          </a:p>
        </p:txBody>
      </p:sp>
      <p:sp>
        <p:nvSpPr>
          <p:cNvPr id="3" name="Text 1"/>
          <p:cNvSpPr/>
          <p:nvPr/>
        </p:nvSpPr>
        <p:spPr>
          <a:xfrm>
            <a:off x="995361" y="1179513"/>
            <a:ext cx="10195200" cy="48240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995361" y="1751579"/>
          <a:ext cx="5036396" cy="914400"/>
        </p:xfrm>
        <a:graphic>
          <a:graphicData uri="http://schemas.openxmlformats.org/drawingml/2006/table">
            <a:tbl>
              <a:tblPr/>
              <a:tblGrid>
                <a:gridCol w="1331940"/>
                <a:gridCol w="1331940"/>
                <a:gridCol w="790839"/>
                <a:gridCol w="790839"/>
                <a:gridCol w="790839"/>
              </a:tblGrid>
              <a:tr h="292608">
                <a:tc>
                  <a:txBody>
                    <a:bodyPr/>
                    <a:lstStyle/>
                    <a:p>
                      <a:pPr algn="l" indent="0" marL="0">
                        <a:buNone/>
                      </a:pPr>
                      <a:r>
                        <a:rPr lang="en-US" sz="800" b="1" dirty="0">
                          <a:solidFill>
                            <a:srgbClr val="FFFFFF"/>
                          </a:solidFill>
                          <a:latin typeface="Arial" pitchFamily="34" charset="0"/>
                          <a:ea typeface="Arial" pitchFamily="34" charset="-122"/>
                          <a:cs typeface="Arial" pitchFamily="34" charset="-120"/>
                        </a:rPr>
                        <a:t>Category</a:t>
                      </a:r>
                      <a:endParaRPr lang="en-US" sz="800" dirty="0">
                        <a:latin typeface="Arial" charset="0"/>
                        <a:ea typeface="Arial" charset="0"/>
                        <a:cs typeface="Arial" charset="0"/>
                      </a:endParaRPr>
                    </a:p>
                  </a:txBody>
                  <a:tcPr marL="50800" marR="50800" marT="25400" marB="25400" anchor="ctr">
                    <a:lnL w="7620" cap="flat" cmpd="sng" algn="ctr">
                      <a:solidFill>
                        <a:srgbClr val="D9D9D9"/>
                      </a:solidFill>
                      <a:prstDash val="solid"/>
                      <a:round/>
                      <a:headEnd type="none" w="med" len="med"/>
                      <a:tailEnd type="none" w="med" len="med"/>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Description</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 A</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Value B</a:t>
                      </a:r>
                      <a:endParaRPr lang="en-US" sz="800" dirty="0">
                        <a:latin typeface="Arial" charset="0"/>
                        <a:ea typeface="Arial" charset="0"/>
                        <a:cs typeface="Arial" charset="0"/>
                      </a:endParaRPr>
                    </a:p>
                  </a:txBody>
                  <a:tcPr marL="50800" marR="50800" marT="25400" marB="25400" anchor="ctr">
                    <a:lnL w="0" cap="flat" cmpd="sng" algn="ctr">
                      <a:noFill/>
                    </a:lnL>
                    <a:lnR w="0" cap="flat" cmpd="sng" algn="ctr">
                      <a:noFill/>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25400" marB="25400" anchor="ctr">
                    <a:lnL w="0" cap="flat" cmpd="sng" algn="ctr">
                      <a:noFill/>
                    </a:lnL>
                    <a:lnR w="7620" cap="flat" cmpd="sng" algn="ctr">
                      <a:solidFill>
                        <a:srgbClr val="D9D9D9"/>
                      </a:solidFill>
                      <a:prstDash val="solid"/>
                      <a:round/>
                      <a:headEnd type="none" w="med" len="med"/>
                      <a:tailEnd type="none" w="med" len="med"/>
                    </a:lnR>
                    <a:lnT w="7620" cap="flat" cmpd="sng" algn="ctr">
                      <a:solidFill>
                        <a:srgbClr val="D9D9D9"/>
                      </a:solidFill>
                      <a:prstDash val="solid"/>
                      <a:round/>
                      <a:headEnd type="none" w="med" len="med"/>
                      <a:tailEnd type="none" w="med" len="med"/>
                    </a:lnT>
                    <a:lnB w="12700" cap="flat" cmpd="sng" algn="ctr">
                      <a:solidFill>
                        <a:srgbClr val="00338D"/>
                      </a:solidFill>
                      <a:prstDash val="solid"/>
                      <a:round/>
                      <a:headEnd type="none" w="med" len="med"/>
                      <a:tailEnd type="none" w="med" len="med"/>
                    </a:lnB>
                    <a:solidFill>
                      <a:srgbClr val="00338D"/>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Alpha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114</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Beta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200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215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+15</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Gamma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175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169</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-6</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Delta</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90</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101</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+11</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6350" cap="flat" cmpd="sng" algn="ctr">
                      <a:solidFill>
                        <a:srgbClr val="D9D9D9"/>
                      </a:solidFill>
                      <a:prstDash val="solid"/>
                      <a:round/>
                      <a:headEnd type="none" w="med" len="med"/>
                      <a:tailEnd type="none" w="med" len="med"/>
                    </a:lnB>
                    <a:solidFill>
                      <a:srgbClr val="FFFFFF"/>
                    </a:solidFill>
                  </a:tcPr>
                </a:tc>
              </a:tr>
              <a:tr h="237744">
                <a:tc>
                  <a:txBody>
                    <a:bodyPr/>
                    <a:lstStyle/>
                    <a:p>
                      <a:pPr algn="l" indent="0" marL="0">
                        <a:buNone/>
                      </a:pPr>
                      <a:r>
                        <a:rPr lang="en-US" sz="800" b="1" dirty="0">
                          <a:solidFill>
                            <a:srgbClr val="00338D"/>
                          </a:solidFill>
                          <a:latin typeface="Arial" pitchFamily="34" charset="0"/>
                          <a:ea typeface="Arial" pitchFamily="34" charset="-122"/>
                          <a:cs typeface="Arial" pitchFamily="34" charset="-120"/>
                        </a:rPr>
                        <a:t>Epsilon</a:t>
                      </a:r>
                      <a:endParaRPr lang="en-US" sz="800" dirty="0">
                        <a:latin typeface="Arial" charset="0"/>
                        <a:ea typeface="Arial" charset="0"/>
                        <a:cs typeface="Arial" charset="0"/>
                      </a:endParaRPr>
                    </a:p>
                  </a:txBody>
                  <a:tcPr marL="50800" marR="50800" marT="12700" marB="12700" anchor="ctr">
                    <a:lnL w="7620" cap="flat" cmpd="sng" algn="ctr">
                      <a:solidFill>
                        <a:srgbClr val="D9D9D9"/>
                      </a:solidFill>
                      <a:prstDash val="solid"/>
                      <a:round/>
                      <a:headEnd type="none" w="med" len="med"/>
                      <a:tailEnd type="none" w="med" len="med"/>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8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145</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188</a:t>
                      </a:r>
                      <a:endParaRPr lang="en-US" sz="800" dirty="0">
                        <a:latin typeface="Arial" charset="0"/>
                        <a:ea typeface="Arial" charset="0"/>
                        <a:cs typeface="Arial" charset="0"/>
                      </a:endParaRPr>
                    </a:p>
                  </a:txBody>
                  <a:tcPr marL="50800" marR="50800" marT="12700" marB="12700" anchor="ctr">
                    <a:lnL w="0" cap="flat" cmpd="sng" algn="ctr">
                      <a:noFill/>
                    </a:lnL>
                    <a:lnR w="4445" cap="flat" cmpd="sng" algn="ctr">
                      <a:solidFill>
                        <a:srgbClr val="E5E7EB"/>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800" dirty="0">
                          <a:solidFill>
                            <a:srgbClr val="000000"/>
                          </a:solidFill>
                          <a:latin typeface="Arial" pitchFamily="34" charset="0"/>
                          <a:ea typeface="Arial" pitchFamily="34" charset="-122"/>
                          <a:cs typeface="Arial" pitchFamily="34" charset="-120"/>
                        </a:rPr>
                        <a:t>+43</a:t>
                      </a:r>
                      <a:endParaRPr lang="en-US" sz="800" dirty="0">
                        <a:latin typeface="Arial" charset="0"/>
                        <a:ea typeface="Arial" charset="0"/>
                        <a:cs typeface="Arial" charset="0"/>
                      </a:endParaRPr>
                    </a:p>
                  </a:txBody>
                  <a:tcPr marL="50800" marR="50800" marT="12700" marB="12700" anchor="ctr">
                    <a:lnL w="0" cap="flat" cmpd="sng" algn="ctr">
                      <a:noFill/>
                    </a:lnL>
                    <a:lnR w="7620" cap="flat" cmpd="sng" algn="ctr">
                      <a:solidFill>
                        <a:srgbClr val="D9D9D9"/>
                      </a:solidFill>
                      <a:prstDash val="solid"/>
                      <a:round/>
                      <a:headEnd type="none" w="med" len="med"/>
                      <a:tailEnd type="none" w="med" len="med"/>
                    </a:lnR>
                    <a:lnT w="0" cap="flat" cmpd="sng" algn="ctr">
                      <a:noFill/>
                    </a:lnT>
                    <a:lnB w="7620" cap="flat" cmpd="sng" algn="ctr">
                      <a:solidFill>
                        <a:srgbClr val="D9D9D9"/>
                      </a:solidFill>
                      <a:prstDash val="solid"/>
                      <a:round/>
                      <a:headEnd type="none" w="med" len="med"/>
                      <a:tailEnd type="none" w="med" len="med"/>
                    </a:lnB>
                    <a:solidFill>
                      <a:srgbClr val="FFFFFF"/>
                    </a:solidFill>
                  </a:tcPr>
                </a:tc>
              </a:tr>
            </a:tbl>
          </a:graphicData>
        </a:graphic>
      </p:graphicFrame>
      <p:sp>
        <p:nvSpPr>
          <p:cNvPr id="5" name="Text 2"/>
          <p:cNvSpPr/>
          <p:nvPr/>
        </p:nvSpPr>
        <p:spPr>
          <a:xfrm>
            <a:off x="6159600" y="1751579"/>
            <a:ext cx="5036396" cy="251999"/>
          </a:xfrm>
          <a:prstGeom prst="rect">
            <a:avLst/>
          </a:prstGeom>
          <a:noFill/>
          <a:ln/>
        </p:spPr>
        <p:txBody>
          <a:bodyPr wrap="square" lIns="46800" tIns="72000" rIns="90000" bIns="46800" rtlCol="0" anchor="t"/>
          <a:lstStyle/>
          <a:p>
            <a:pPr indent="0" marL="0">
              <a:buNone/>
            </a:pPr>
            <a:r>
              <a:rPr lang="en-US" sz="1000" b="1" dirty="0">
                <a:solidFill>
                  <a:srgbClr val="00338D"/>
                </a:solidFill>
                <a:latin typeface="Arial" pitchFamily="34" charset="0"/>
                <a:ea typeface="Arial" pitchFamily="34" charset="-122"/>
                <a:cs typeface="Arial" pitchFamily="34" charset="-120"/>
              </a:rPr>
              <a:t>Key takeaways</a:t>
            </a:r>
            <a:endParaRPr lang="en-US" sz="1000" dirty="0"/>
          </a:p>
        </p:txBody>
      </p:sp>
      <p:sp>
        <p:nvSpPr>
          <p:cNvPr id="6" name="Text 3"/>
          <p:cNvSpPr/>
          <p:nvPr/>
        </p:nvSpPr>
        <p:spPr>
          <a:xfrm>
            <a:off x="6159600" y="2003588"/>
            <a:ext cx="5036396" cy="3869997"/>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Key takeaways synthesized from the table inputs for quick scan and discussion.</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Use as a working view; confirm all figures during confirmatory diligence.</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Add diligence commentary to contextualize table outcomes and implications.</a:t>
            </a:r>
            <a:endParaRPr lang="en-US" sz="1000" dirty="0"/>
          </a:p>
        </p:txBody>
      </p:sp>
      <p:sp>
        <p:nvSpPr>
          <p:cNvPr id="7"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8</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998400" y="431800"/>
            <a:ext cx="10195200" cy="53340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Two Column Text (Lorem)</a:t>
            </a:r>
            <a:endParaRPr lang="en-US" sz="3200" dirty="0"/>
          </a:p>
        </p:txBody>
      </p:sp>
      <p:sp>
        <p:nvSpPr>
          <p:cNvPr id="3" name="Text 1"/>
          <p:cNvSpPr/>
          <p:nvPr/>
        </p:nvSpPr>
        <p:spPr>
          <a:xfrm>
            <a:off x="998400" y="1010920"/>
            <a:ext cx="10195200"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Text 2"/>
          <p:cNvSpPr/>
          <p:nvPr/>
        </p:nvSpPr>
        <p:spPr>
          <a:xfrm>
            <a:off x="9972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5" name="Text 3"/>
          <p:cNvSpPr/>
          <p:nvPr/>
        </p:nvSpPr>
        <p:spPr>
          <a:xfrm>
            <a:off x="6159600" y="1408113"/>
            <a:ext cx="5036400" cy="4465800"/>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9</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Analysis Two Columns Text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 Duis aute irure dolor in reprehenderit in voluptate velit esse cillum dolore eu fugiat nulla pariatur. Excepteur sint occaecat cupidatat non proident, sunt in culpa qui officia deserunt mollit anim id est laborum.</a:t>
            </a:r>
            <a:endParaRPr lang="en-US" sz="900" dirty="0"/>
          </a:p>
        </p:txBody>
      </p:sp>
      <p:sp>
        <p:nvSpPr>
          <p:cNvPr id="4" name="Text 2"/>
          <p:cNvSpPr/>
          <p:nvPr/>
        </p:nvSpPr>
        <p:spPr>
          <a:xfrm>
            <a:off x="998433" y="1600200"/>
            <a:ext cx="5212080" cy="45756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p:txBody>
      </p:sp>
      <p:sp>
        <p:nvSpPr>
          <p:cNvPr id="5" name="Text 3"/>
          <p:cNvSpPr/>
          <p:nvPr/>
        </p:nvSpPr>
        <p:spPr>
          <a:xfrm>
            <a:off x="6438748" y="1600200"/>
            <a:ext cx="4754880" cy="4575658"/>
          </a:xfrm>
          <a:prstGeom prst="rect">
            <a:avLst/>
          </a:prstGeom>
          <a:noFill/>
          <a:ln/>
        </p:spPr>
        <p:txBody>
          <a:bodyPr wrap="square" lIns="46800" tIns="72000" rIns="90000" bIns="46800" rtlCol="0" anchor="t"/>
          <a:lstStyle/>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algn="l"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10</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One Column Text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 Lorem ipsum dolor sit amet, consectetur adipiscing elit, sed do eiusmod tempor incididunt ut labore et dolore magna aliqua. Ut enim ad minim veniam, quis nostrud exercitation ullamco laboris nisi ut aliquip ex ea commodo consequat.</a:t>
            </a:r>
            <a:endParaRPr lang="en-US" sz="900" dirty="0"/>
          </a:p>
        </p:txBody>
      </p:sp>
      <p:sp>
        <p:nvSpPr>
          <p:cNvPr id="4" name="Text 2"/>
          <p:cNvSpPr/>
          <p:nvPr/>
        </p:nvSpPr>
        <p:spPr>
          <a:xfrm>
            <a:off x="998433" y="1691640"/>
            <a:ext cx="10204338" cy="448421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p:txBody>
      </p:sp>
      <p:sp>
        <p:nvSpPr>
          <p:cNvPr id="5" name="Text 3"/>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11</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Title + Strapline + 4 Text Boxes (Lorem)</a:t>
            </a:r>
            <a:endParaRPr lang="en-US" sz="3200" dirty="0"/>
          </a:p>
        </p:txBody>
      </p:sp>
      <p:sp>
        <p:nvSpPr>
          <p:cNvPr id="3" name="Text 1"/>
          <p:cNvSpPr/>
          <p:nvPr/>
        </p:nvSpPr>
        <p:spPr>
          <a:xfrm>
            <a:off x="998433" y="1097280"/>
            <a:ext cx="10204338" cy="320040"/>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a:t>
            </a:r>
            <a:endParaRPr lang="en-US" sz="900" dirty="0"/>
          </a:p>
        </p:txBody>
      </p:sp>
      <p:sp>
        <p:nvSpPr>
          <p:cNvPr id="4" name="Text 2"/>
          <p:cNvSpPr/>
          <p:nvPr/>
        </p:nvSpPr>
        <p:spPr>
          <a:xfrm>
            <a:off x="998433"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1</a:t>
            </a:r>
            <a:endParaRPr lang="en-US" sz="1000" dirty="0"/>
          </a:p>
        </p:txBody>
      </p:sp>
      <p:sp>
        <p:nvSpPr>
          <p:cNvPr id="5" name="Text 3"/>
          <p:cNvSpPr/>
          <p:nvPr/>
        </p:nvSpPr>
        <p:spPr>
          <a:xfrm>
            <a:off x="998433"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p:txBody>
      </p:sp>
      <p:sp>
        <p:nvSpPr>
          <p:cNvPr id="6" name="Text 4"/>
          <p:cNvSpPr/>
          <p:nvPr/>
        </p:nvSpPr>
        <p:spPr>
          <a:xfrm>
            <a:off x="356616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2</a:t>
            </a:r>
            <a:endParaRPr lang="en-US" sz="1000" dirty="0"/>
          </a:p>
        </p:txBody>
      </p:sp>
      <p:sp>
        <p:nvSpPr>
          <p:cNvPr id="7" name="Text 5"/>
          <p:cNvSpPr/>
          <p:nvPr/>
        </p:nvSpPr>
        <p:spPr>
          <a:xfrm>
            <a:off x="356616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sp>
        <p:nvSpPr>
          <p:cNvPr id="8" name="Text 6"/>
          <p:cNvSpPr/>
          <p:nvPr/>
        </p:nvSpPr>
        <p:spPr>
          <a:xfrm>
            <a:off x="612648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3</a:t>
            </a:r>
            <a:endParaRPr lang="en-US" sz="1000" dirty="0"/>
          </a:p>
        </p:txBody>
      </p:sp>
      <p:sp>
        <p:nvSpPr>
          <p:cNvPr id="9" name="Text 7"/>
          <p:cNvSpPr/>
          <p:nvPr/>
        </p:nvSpPr>
        <p:spPr>
          <a:xfrm>
            <a:off x="612648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p:txBody>
      </p:sp>
      <p:sp>
        <p:nvSpPr>
          <p:cNvPr id="10" name="Text 8"/>
          <p:cNvSpPr/>
          <p:nvPr/>
        </p:nvSpPr>
        <p:spPr>
          <a:xfrm>
            <a:off x="8686800" y="1554480"/>
            <a:ext cx="2377440" cy="274320"/>
          </a:xfrm>
          <a:prstGeom prst="rect">
            <a:avLst/>
          </a:prstGeom>
          <a:noFill/>
          <a:ln/>
        </p:spPr>
        <p:txBody>
          <a:bodyPr wrap="square" lIns="46800" tIns="72000" rIns="90000" bIns="46800" rtlCol="0" anchor="ctr"/>
          <a:lstStyle/>
          <a:p>
            <a:pPr indent="0" marL="0">
              <a:buNone/>
            </a:pPr>
            <a:r>
              <a:rPr lang="en-US" sz="1000" b="1" dirty="0">
                <a:solidFill>
                  <a:srgbClr val="00338D"/>
                </a:solidFill>
                <a:latin typeface="Arial" pitchFamily="34" charset="0"/>
                <a:ea typeface="Arial" pitchFamily="34" charset="-122"/>
                <a:cs typeface="Arial" pitchFamily="34" charset="-120"/>
              </a:rPr>
              <a:t>Workstream 4</a:t>
            </a:r>
            <a:endParaRPr lang="en-US" sz="1000" dirty="0"/>
          </a:p>
        </p:txBody>
      </p:sp>
      <p:sp>
        <p:nvSpPr>
          <p:cNvPr id="11" name="Text 9"/>
          <p:cNvSpPr/>
          <p:nvPr/>
        </p:nvSpPr>
        <p:spPr>
          <a:xfrm>
            <a:off x="8686800" y="1874520"/>
            <a:ext cx="2377440" cy="4301338"/>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sp>
        <p:nvSpPr>
          <p:cNvPr id="12" name="Text 10"/>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12</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1289860" y="1140069"/>
            <a:ext cx="1082675" cy="812530"/>
          </a:xfrm>
          <a:prstGeom prst="rect">
            <a:avLst/>
          </a:prstGeom>
          <a:noFill/>
          <a:ln/>
        </p:spPr>
        <p:txBody>
          <a:bodyPr wrap="square" lIns="46800" tIns="72000" rIns="90000" bIns="46800" rtlCol="0" anchor="t"/>
          <a:lstStyle/>
          <a:p>
            <a:pPr algn="l" indent="0" marL="0">
              <a:buNone/>
            </a:pPr>
            <a:r>
              <a:rPr lang="en-US" sz="4800" b="1" dirty="0">
                <a:solidFill>
                  <a:srgbClr val="00338D"/>
                </a:solidFill>
                <a:latin typeface="Arial" pitchFamily="34" charset="0"/>
                <a:ea typeface="Arial" pitchFamily="34" charset="-122"/>
                <a:cs typeface="Arial" pitchFamily="34" charset="-120"/>
              </a:rPr>
              <a:t>02</a:t>
            </a:r>
            <a:endParaRPr lang="en-US" sz="4800" dirty="0"/>
          </a:p>
        </p:txBody>
      </p:sp>
      <p:sp>
        <p:nvSpPr>
          <p:cNvPr id="3" name="Text 1"/>
          <p:cNvSpPr/>
          <p:nvPr/>
        </p:nvSpPr>
        <p:spPr>
          <a:xfrm>
            <a:off x="1289861" y="2180877"/>
            <a:ext cx="6321425" cy="696782"/>
          </a:xfrm>
          <a:prstGeom prst="rect">
            <a:avLst/>
          </a:prstGeom>
          <a:noFill/>
          <a:ln/>
        </p:spPr>
        <p:txBody>
          <a:bodyPr wrap="square" lIns="46800" tIns="72000" rIns="90000" bIns="46800" rtlCol="0" anchor="t"/>
          <a:lstStyle/>
          <a:p>
            <a:pPr algn="l" indent="0" marL="0">
              <a:buNone/>
            </a:pPr>
            <a:r>
              <a:rPr lang="en-US" sz="2400" b="1" dirty="0">
                <a:solidFill>
                  <a:srgbClr val="00338D"/>
                </a:solidFill>
                <a:latin typeface="Arial" pitchFamily="34" charset="0"/>
                <a:ea typeface="Arial" pitchFamily="34" charset="-122"/>
                <a:cs typeface="Arial" pitchFamily="34" charset="-120"/>
              </a:rPr>
              <a:t>Quality of Earnings and Summary Scaffold</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998433" y="548640"/>
            <a:ext cx="10204338" cy="548640"/>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Quality of Earnings (Lorem)</a:t>
            </a:r>
            <a:endParaRPr lang="en-US" sz="3200" dirty="0"/>
          </a:p>
        </p:txBody>
      </p:sp>
      <p:sp>
        <p:nvSpPr>
          <p:cNvPr id="3" name="Text 1"/>
          <p:cNvSpPr/>
          <p:nvPr/>
        </p:nvSpPr>
        <p:spPr>
          <a:xfrm>
            <a:off x="998433" y="1143000"/>
            <a:ext cx="10204338" cy="405765"/>
          </a:xfrm>
          <a:prstGeom prst="rect">
            <a:avLst/>
          </a:prstGeom>
          <a:noFill/>
          <a:ln/>
        </p:spPr>
        <p:txBody>
          <a:bodyPr wrap="square" lIns="46800" tIns="72000" rIns="90000" bIns="46800" rtlCol="0" anchor="t"/>
          <a:lstStyle/>
          <a:p>
            <a:pPr indent="0" marL="0">
              <a:buNone/>
            </a:pPr>
            <a:r>
              <a:rPr lang="en-US" sz="900" b="1" i="1" dirty="0">
                <a:solidFill>
                  <a:srgbClr val="7213EA"/>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 Duis aute irure dolor in reprehenderit in voluptate velit esse cillum dolore eu fugiat nulla pariatur. Excepteur sint occaecat cupidatat non proident, sunt in culpa qui officia deserunt mollit anim id est laborum. Integer posuere erat a ante venenatis dapibus posuere velit aliquet. Cras mattis consectetur purus sit amet fermentum. Maecenas faucibus mollis interdum. Aenean lacinia bibendum nulla sed consectetur. Curabitur blandit tempus porttitor. Vestibulum id ligula porta felis euismod semper. Praesent commodo cursus magna, vel scelerisque nisl consectetur et. Donec sed odio dui.</a:t>
            </a:r>
            <a:endParaRPr lang="en-US" sz="900" dirty="0"/>
          </a:p>
        </p:txBody>
      </p:sp>
      <p:sp>
        <p:nvSpPr>
          <p:cNvPr id="4" name="Text 2"/>
          <p:cNvSpPr/>
          <p:nvPr/>
        </p:nvSpPr>
        <p:spPr>
          <a:xfrm>
            <a:off x="997200" y="1408113"/>
            <a:ext cx="10195200" cy="4465800"/>
          </a:xfrm>
          <a:prstGeom prst="rect">
            <a:avLst/>
          </a:prstGeom>
          <a:noFill/>
          <a:ln/>
        </p:spPr>
        <p:txBody>
          <a:bodyPr wrap="square" lIns="46800" tIns="72000" rIns="90000" bIns="46800" rtlCol="0" anchor="t"/>
          <a:lstStyle/>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Lorem ipsum dolor sit amet, consectetur adipiscing elit, sed do eiusmod tempor incididunt ut labore et dolore magna aliqua. Ut enim ad minim veniam, quis nostrud exercitation ullamco laboris nisi ut aliquip ex ea commodo consequat.</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Duis aute irure dolor in reprehenderit in voluptate velit esse cillum dolore eu fugiat nulla pariatur. Excepteur sint occaecat cupidatat non proident, sunt in culpa qui officia deserunt mollit anim id est laborum.</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Integer posuere erat a ante venenatis dapibus posuere velit aliquet. Cras mattis consectetur purus sit amet fermentum. Maecenas faucibus mollis interdum. Aenean lacinia bibendum nulla sed consectetur.</a:t>
            </a:r>
            <a:endParaRPr lang="en-US" sz="1000" dirty="0"/>
          </a:p>
          <a:p>
            <a:pPr marL="226800" indent="-226800">
              <a:lnSpc>
                <a:spcPts val="1200"/>
              </a:lnSpc>
              <a:spcAft>
                <a:spcPts val="300"/>
              </a:spcAft>
              <a:buSzPct val="100000"/>
              <a:buChar char="•"/>
            </a:pPr>
            <a:r>
              <a:rPr lang="en-US" sz="1000" dirty="0">
                <a:solidFill>
                  <a:srgbClr val="000000"/>
                </a:solidFill>
                <a:latin typeface="Arial" pitchFamily="34" charset="0"/>
                <a:ea typeface="Arial" pitchFamily="34" charset="-122"/>
                <a:cs typeface="Arial" pitchFamily="34" charset="-120"/>
              </a:rPr>
              <a:t>Curabitur blandit tempus porttitor. Vestibulum id ligula porta felis euismod semper. Praesent commodo cursus magna, vel scelerisque nisl consectetur et. Donec sed odio dui.</a:t>
            </a:r>
            <a:endParaRPr lang="en-US" sz="1000" dirty="0"/>
          </a:p>
        </p:txBody>
      </p:sp>
      <p:sp>
        <p:nvSpPr>
          <p:cNvPr id="5" name="Shape 3"/>
          <p:cNvSpPr/>
          <p:nvPr/>
        </p:nvSpPr>
        <p:spPr>
          <a:xfrm>
            <a:off x="997200" y="1179513"/>
            <a:ext cx="10195200" cy="4694400"/>
          </a:xfrm>
          <a:prstGeom prst="rect">
            <a:avLst/>
          </a:prstGeom>
          <a:solidFill>
            <a:srgbClr val="A5C7E5"/>
          </a:solidFill>
          <a:ln w="12700">
            <a:solidFill>
              <a:srgbClr val="00338D"/>
            </a:solidFill>
            <a:prstDash val="solid"/>
          </a:ln>
        </p:spPr>
      </p:sp>
      <p:sp>
        <p:nvSpPr>
          <p:cNvPr id="6" name="Text 4"/>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13</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998525" y="431597"/>
            <a:ext cx="10195560" cy="533095"/>
          </a:xfrm>
          <a:prstGeom prst="rect">
            <a:avLst/>
          </a:prstGeom>
          <a:noFill/>
          <a:ln/>
        </p:spPr>
        <p:txBody>
          <a:bodyPr wrap="square" lIns="46800" tIns="72000" rIns="90000" bIns="46800" rtlCol="0" anchor="t"/>
          <a:lstStyle/>
          <a:p>
            <a:pPr indent="0" marL="0">
              <a:buNone/>
            </a:pPr>
            <a:r>
              <a:rPr lang="en-US" sz="3200" b="1" dirty="0">
                <a:solidFill>
                  <a:srgbClr val="00338D"/>
                </a:solidFill>
                <a:latin typeface="Arial" pitchFamily="34" charset="0"/>
                <a:ea typeface="Arial" pitchFamily="34" charset="-122"/>
                <a:cs typeface="Arial" pitchFamily="34" charset="-120"/>
              </a:rPr>
              <a:t>Summary financials (Scaffold Preview)</a:t>
            </a:r>
            <a:endParaRPr lang="en-US" sz="3200" dirty="0"/>
          </a:p>
        </p:txBody>
      </p:sp>
      <p:sp>
        <p:nvSpPr>
          <p:cNvPr id="3" name="Shape 1"/>
          <p:cNvSpPr/>
          <p:nvPr/>
        </p:nvSpPr>
        <p:spPr>
          <a:xfrm>
            <a:off x="995362" y="1179513"/>
            <a:ext cx="3302806" cy="2296973"/>
          </a:xfrm>
          <a:prstGeom prst="rect">
            <a:avLst/>
          </a:prstGeom>
          <a:solidFill>
            <a:srgbClr val="EDEDED"/>
          </a:solidFill>
          <a:ln w="12700">
            <a:solidFill>
              <a:srgbClr val="EDEDED"/>
            </a:solidFill>
            <a:prstDash val="solid"/>
          </a:ln>
        </p:spPr>
      </p:sp>
      <p:sp>
        <p:nvSpPr>
          <p:cNvPr id="4" name="Text 2"/>
          <p:cNvSpPr/>
          <p:nvPr/>
        </p:nvSpPr>
        <p:spPr>
          <a:xfrm>
            <a:off x="106851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Quality of earnings</a:t>
            </a:r>
            <a:endParaRPr lang="en-US" sz="1000" dirty="0"/>
          </a:p>
        </p:txBody>
      </p:sp>
      <p:sp>
        <p:nvSpPr>
          <p:cNvPr id="5" name="Shape 3"/>
          <p:cNvSpPr/>
          <p:nvPr/>
        </p:nvSpPr>
        <p:spPr>
          <a:xfrm>
            <a:off x="3502640" y="1206945"/>
            <a:ext cx="749808" cy="201168"/>
          </a:xfrm>
          <a:prstGeom prst="roundRect">
            <a:avLst>
              <a:gd name="adj" fmla="val 13636"/>
            </a:avLst>
          </a:prstGeom>
          <a:solidFill>
            <a:srgbClr val="5A1CD7"/>
          </a:solidFill>
          <a:ln w="12700">
            <a:solidFill>
              <a:srgbClr val="5A1CD7"/>
            </a:solidFill>
            <a:prstDash val="solid"/>
          </a:ln>
        </p:spPr>
      </p:sp>
      <p:sp>
        <p:nvSpPr>
          <p:cNvPr id="6" name="Text 4"/>
          <p:cNvSpPr/>
          <p:nvPr/>
        </p:nvSpPr>
        <p:spPr>
          <a:xfrm>
            <a:off x="350264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7" name="Shape 5"/>
          <p:cNvSpPr/>
          <p:nvPr/>
        </p:nvSpPr>
        <p:spPr>
          <a:xfrm>
            <a:off x="4441587" y="1179513"/>
            <a:ext cx="3302806" cy="2296973"/>
          </a:xfrm>
          <a:prstGeom prst="rect">
            <a:avLst/>
          </a:prstGeom>
          <a:solidFill>
            <a:srgbClr val="EDEDED"/>
          </a:solidFill>
          <a:ln w="12700">
            <a:solidFill>
              <a:srgbClr val="EDEDED"/>
            </a:solidFill>
            <a:prstDash val="solid"/>
          </a:ln>
        </p:spPr>
      </p:sp>
      <p:sp>
        <p:nvSpPr>
          <p:cNvPr id="8" name="Text 6"/>
          <p:cNvSpPr/>
          <p:nvPr/>
        </p:nvSpPr>
        <p:spPr>
          <a:xfrm>
            <a:off x="4514739"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Net working capital</a:t>
            </a:r>
            <a:endParaRPr lang="en-US" sz="1000" dirty="0"/>
          </a:p>
        </p:txBody>
      </p:sp>
      <p:sp>
        <p:nvSpPr>
          <p:cNvPr id="9" name="Shape 7"/>
          <p:cNvSpPr/>
          <p:nvPr/>
        </p:nvSpPr>
        <p:spPr>
          <a:xfrm>
            <a:off x="6948865" y="1206945"/>
            <a:ext cx="749808" cy="201168"/>
          </a:xfrm>
          <a:prstGeom prst="roundRect">
            <a:avLst>
              <a:gd name="adj" fmla="val 13636"/>
            </a:avLst>
          </a:prstGeom>
          <a:solidFill>
            <a:srgbClr val="5A1CD7"/>
          </a:solidFill>
          <a:ln w="12700">
            <a:solidFill>
              <a:srgbClr val="5A1CD7"/>
            </a:solidFill>
            <a:prstDash val="solid"/>
          </a:ln>
        </p:spPr>
      </p:sp>
      <p:sp>
        <p:nvSpPr>
          <p:cNvPr id="10" name="Text 8"/>
          <p:cNvSpPr/>
          <p:nvPr/>
        </p:nvSpPr>
        <p:spPr>
          <a:xfrm>
            <a:off x="6948865"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1" name="Shape 9"/>
          <p:cNvSpPr/>
          <p:nvPr/>
        </p:nvSpPr>
        <p:spPr>
          <a:xfrm>
            <a:off x="7887812" y="1179513"/>
            <a:ext cx="3302806" cy="2296973"/>
          </a:xfrm>
          <a:prstGeom prst="rect">
            <a:avLst/>
          </a:prstGeom>
          <a:solidFill>
            <a:srgbClr val="EDEDED"/>
          </a:solidFill>
          <a:ln w="12700">
            <a:solidFill>
              <a:srgbClr val="EDEDED"/>
            </a:solidFill>
            <a:prstDash val="solid"/>
          </a:ln>
        </p:spPr>
      </p:sp>
      <p:sp>
        <p:nvSpPr>
          <p:cNvPr id="12" name="Text 10"/>
          <p:cNvSpPr/>
          <p:nvPr/>
        </p:nvSpPr>
        <p:spPr>
          <a:xfrm>
            <a:off x="7960964" y="1206945"/>
            <a:ext cx="2479846"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Net debt</a:t>
            </a:r>
            <a:endParaRPr lang="en-US" sz="1000" dirty="0"/>
          </a:p>
        </p:txBody>
      </p:sp>
      <p:sp>
        <p:nvSpPr>
          <p:cNvPr id="13" name="Shape 11"/>
          <p:cNvSpPr/>
          <p:nvPr/>
        </p:nvSpPr>
        <p:spPr>
          <a:xfrm>
            <a:off x="10395090" y="1206945"/>
            <a:ext cx="749808" cy="201168"/>
          </a:xfrm>
          <a:prstGeom prst="roundRect">
            <a:avLst>
              <a:gd name="adj" fmla="val 13636"/>
            </a:avLst>
          </a:prstGeom>
          <a:solidFill>
            <a:srgbClr val="5A1CD7"/>
          </a:solidFill>
          <a:ln w="12700">
            <a:solidFill>
              <a:srgbClr val="5A1CD7"/>
            </a:solidFill>
            <a:prstDash val="solid"/>
          </a:ln>
        </p:spPr>
      </p:sp>
      <p:sp>
        <p:nvSpPr>
          <p:cNvPr id="14" name="Text 12"/>
          <p:cNvSpPr/>
          <p:nvPr/>
        </p:nvSpPr>
        <p:spPr>
          <a:xfrm>
            <a:off x="10395090" y="1216089"/>
            <a:ext cx="749808" cy="201168"/>
          </a:xfrm>
          <a:prstGeom prst="rect">
            <a:avLst/>
          </a:prstGeom>
          <a:noFill/>
          <a:ln/>
        </p:spPr>
        <p:txBody>
          <a:bodyPr wrap="square" lIns="0" tIns="0" rIns="0" bIns="0" rtlCol="0" anchor="ctr"/>
          <a:lstStyle/>
          <a:p>
            <a:pPr algn="ctr" indent="0" marL="0">
              <a:buNone/>
            </a:pPr>
            <a:r>
              <a:rPr lang="en-US" sz="700" b="1" dirty="0">
                <a:solidFill>
                  <a:srgbClr val="FFFFFF"/>
                </a:solidFill>
                <a:latin typeface="Arial" pitchFamily="34" charset="0"/>
                <a:ea typeface="Arial" pitchFamily="34" charset="-122"/>
                <a:cs typeface="Arial" pitchFamily="34" charset="-120"/>
              </a:rPr>
              <a:t>Read more</a:t>
            </a:r>
            <a:endParaRPr lang="en-US" sz="700" dirty="0"/>
          </a:p>
        </p:txBody>
      </p:sp>
      <p:sp>
        <p:nvSpPr>
          <p:cNvPr id="15" name="Shape 13"/>
          <p:cNvSpPr/>
          <p:nvPr/>
        </p:nvSpPr>
        <p:spPr>
          <a:xfrm>
            <a:off x="995361" y="3581757"/>
            <a:ext cx="5036400" cy="2296973"/>
          </a:xfrm>
          <a:prstGeom prst="rect">
            <a:avLst/>
          </a:prstGeom>
          <a:solidFill>
            <a:srgbClr val="EDEDED"/>
          </a:solidFill>
          <a:ln w="12700">
            <a:solidFill>
              <a:srgbClr val="EDEDED"/>
            </a:solidFill>
            <a:prstDash val="solid"/>
          </a:ln>
        </p:spPr>
      </p:sp>
      <p:sp>
        <p:nvSpPr>
          <p:cNvPr id="16" name="Text 14"/>
          <p:cNvSpPr/>
          <p:nvPr/>
        </p:nvSpPr>
        <p:spPr>
          <a:xfrm>
            <a:off x="1068513"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Cash conversion</a:t>
            </a:r>
            <a:endParaRPr lang="en-US" sz="1000" dirty="0"/>
          </a:p>
        </p:txBody>
      </p:sp>
      <p:sp>
        <p:nvSpPr>
          <p:cNvPr id="17" name="Shape 15"/>
          <p:cNvSpPr/>
          <p:nvPr/>
        </p:nvSpPr>
        <p:spPr>
          <a:xfrm>
            <a:off x="6159600" y="3581757"/>
            <a:ext cx="5036400" cy="2296973"/>
          </a:xfrm>
          <a:prstGeom prst="rect">
            <a:avLst/>
          </a:prstGeom>
          <a:solidFill>
            <a:srgbClr val="EDEDED"/>
          </a:solidFill>
          <a:ln w="12700">
            <a:solidFill>
              <a:srgbClr val="EDEDED"/>
            </a:solidFill>
            <a:prstDash val="solid"/>
          </a:ln>
        </p:spPr>
      </p:sp>
      <p:sp>
        <p:nvSpPr>
          <p:cNvPr id="18" name="Text 16"/>
          <p:cNvSpPr/>
          <p:nvPr/>
        </p:nvSpPr>
        <p:spPr>
          <a:xfrm>
            <a:off x="6232752" y="3609189"/>
            <a:ext cx="4899240" cy="252000"/>
          </a:xfrm>
          <a:prstGeom prst="rect">
            <a:avLst/>
          </a:prstGeom>
          <a:noFill/>
          <a:ln/>
        </p:spPr>
        <p:txBody>
          <a:bodyPr wrap="square" lIns="0" tIns="0" rIns="0" bIns="0" rtlCol="0" anchor="ctr"/>
          <a:lstStyle/>
          <a:p>
            <a:pPr indent="0" marL="0">
              <a:buNone/>
            </a:pPr>
            <a:r>
              <a:rPr lang="en-US" sz="1000" b="1" dirty="0">
                <a:solidFill>
                  <a:srgbClr val="00338D"/>
                </a:solidFill>
                <a:latin typeface="Arial" pitchFamily="34" charset="0"/>
                <a:ea typeface="Arial" pitchFamily="34" charset="-122"/>
                <a:cs typeface="Arial" pitchFamily="34" charset="-120"/>
              </a:rPr>
              <a:t>Other bridge</a:t>
            </a:r>
            <a:endParaRPr lang="en-US" sz="1000" dirty="0"/>
          </a:p>
        </p:txBody>
      </p:sp>
      <p:sp>
        <p:nvSpPr>
          <p:cNvPr id="19" name="Text 17"/>
          <p:cNvSpPr/>
          <p:nvPr/>
        </p:nvSpPr>
        <p:spPr>
          <a:xfrm>
            <a:off x="998433" y="5897880"/>
            <a:ext cx="4754880" cy="182880"/>
          </a:xfrm>
          <a:prstGeom prst="rect">
            <a:avLst/>
          </a:prstGeom>
          <a:noFill/>
          <a:ln/>
        </p:spPr>
        <p:txBody>
          <a:bodyPr wrap="square" lIns="0" tIns="0" rIns="0" bIns="0" rtlCol="0" anchor="ctr"/>
          <a:lstStyle/>
          <a:p>
            <a:pPr indent="0" marL="0">
              <a:buNone/>
            </a:pPr>
            <a:r>
              <a:rPr lang="en-US" sz="600" dirty="0">
                <a:solidFill>
                  <a:srgbClr val="666666"/>
                </a:solidFill>
                <a:latin typeface="Arial" pitchFamily="34" charset="0"/>
                <a:ea typeface="Arial" pitchFamily="34" charset="-122"/>
                <a:cs typeface="Arial" pitchFamily="34" charset="-120"/>
              </a:rPr>
              <a:t>Placeholder scaffold only</a:t>
            </a:r>
            <a:endParaRPr lang="en-US" sz="600" dirty="0"/>
          </a:p>
        </p:txBody>
      </p:sp>
      <p:sp>
        <p:nvSpPr>
          <p:cNvPr id="20" name="Text 18"/>
          <p:cNvSpPr/>
          <p:nvPr/>
        </p:nvSpPr>
        <p:spPr>
          <a:xfrm>
            <a:off x="10946282" y="6267298"/>
            <a:ext cx="242316" cy="149047"/>
          </a:xfrm>
          <a:prstGeom prst="rect">
            <a:avLst/>
          </a:prstGeom>
          <a:noFill/>
          <a:ln/>
        </p:spPr>
        <p:txBody>
          <a:bodyPr wrap="square" lIns="0" tIns="0" rIns="0" bIns="0" rtlCol="0" anchor="ctr"/>
          <a:lstStyle/>
          <a:p>
            <a:pPr algn="r" indent="0" marL="0">
              <a:buNone/>
            </a:pPr>
            <a:r>
              <a:rPr lang="en-US" sz="800" dirty="0">
                <a:solidFill>
                  <a:srgbClr val="00338D"/>
                </a:solidFill>
                <a:latin typeface="Arial" pitchFamily="34" charset="0"/>
                <a:ea typeface="Arial" pitchFamily="34" charset="-122"/>
                <a:cs typeface="Arial" pitchFamily="34" charset="-120"/>
              </a:rPr>
              <a:t>14</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914400" y="3291840"/>
            <a:ext cx="10241280" cy="2194560"/>
          </a:xfrm>
          <a:prstGeom prst="rect">
            <a:avLst/>
          </a:prstGeom>
          <a:noFill/>
          <a:ln/>
        </p:spPr>
        <p:txBody>
          <a:bodyPr wrap="square" rtlCol="0" anchor="t"/>
          <a:lstStyle/>
          <a:p>
            <a:pPr indent="0" marL="0">
              <a:buNone/>
            </a:pPr>
            <a:r>
              <a:rPr lang="en-US" sz="1000" dirty="0">
                <a:solidFill>
                  <a:srgbClr val="FFFFFF"/>
                </a:solidFill>
                <a:latin typeface="Arial" pitchFamily="34" charset="0"/>
                <a:ea typeface="Arial" pitchFamily="34" charset="-122"/>
                <a:cs typeface="Arial" pitchFamily="34" charset="-120"/>
              </a:rPr>
              <a:t>Lorem ipsum disclaimer: synthetic content for generator layout preview only.</a:t>
            </a:r>
            <a:endParaRPr lang="en-US" sz="1000" dirty="0"/>
          </a:p>
        </p:txBody>
      </p:sp>
      <p:sp>
        <p:nvSpPr>
          <p:cNvPr id="3" name="Text 1">
            <a:hlinkClick r:id="rId1" tooltip=""/>
          </p:cNvPr>
          <p:cNvSpPr/>
          <p:nvPr/>
        </p:nvSpPr>
        <p:spPr>
          <a:xfrm>
            <a:off x="914400" y="5760720"/>
            <a:ext cx="3657600" cy="274320"/>
          </a:xfrm>
          <a:prstGeom prst="rect">
            <a:avLst/>
          </a:prstGeom>
          <a:noFill/>
          <a:ln/>
        </p:spPr>
        <p:txBody>
          <a:bodyPr wrap="square" rtlCol="0" anchor="ctr"/>
          <a:lstStyle/>
          <a:p>
            <a:pPr indent="0" marL="0">
              <a:buNone/>
            </a:pPr>
            <a:r>
              <a:rPr lang="en-US" sz="1000" b="1" u="sng" dirty="0">
                <a:solidFill>
                  <a:srgbClr val="FFFFFF"/>
                </a:solidFill>
                <a:latin typeface="Arial" pitchFamily="34" charset="0"/>
                <a:ea typeface="Arial" pitchFamily="34" charset="-122"/>
                <a:cs typeface="Arial" pitchFamily="34" charset="-120"/>
                <a:hlinkClick r:id="rId1" invalidUrl="" action="" tgtFrame="" tooltip="" history="1" highlightClick="0" endSnd="0">
                  <a:extLst>
                    <a:ext uri="{A12FA001-AC4F-418D-AE19-62706E023703}">
                      <ahyp:hlinkClr xmlns:ahyp="http://schemas.microsoft.com/office/drawing/2018/hyperlinkcolor" val="tx"/>
                    </a:ext>
                  </a:extLst>
                </a:hlinkClick>
              </a:rPr>
              <a:t>www.kpmg.com</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KPMG LLP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KPMG Lorem Ipsum Stress Test Deck (v3 contents + pnl)</dc:title>
  <dc:subject>Layout and overflow stress-test using placeholder prose</dc:subject>
  <dc:creator>kpmg-slidegen</dc:creator>
  <cp:lastModifiedBy>kpmg-slidegen</cp:lastModifiedBy>
  <cp:revision>1</cp:revision>
  <dcterms:created xsi:type="dcterms:W3CDTF">2026-02-20T03:05:01Z</dcterms:created>
  <dcterms:modified xsi:type="dcterms:W3CDTF">2026-02-20T03:05:01Z</dcterms:modified>
</cp:coreProperties>
</file>