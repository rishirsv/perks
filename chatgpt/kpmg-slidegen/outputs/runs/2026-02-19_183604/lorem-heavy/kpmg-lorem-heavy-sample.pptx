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ong-Form Text and Layout Stress Test" id="{560a15fe-57d6-80fb-690f-96c8900b09b2}">
          <p14:sldIdLst/>
        </p14:section>
        <p14:section name="Default-1" id="{e604048a-3be9-cae7-7819-51933e9c18c1}">
          <p14:sldIdLst>
            <p14:sldId id="257"/>
            <p14:sldId id="258"/>
            <p14:sldId id="259"/>
            <p14:sldId id="260"/>
            <p14:sldId id="261"/>
            <p14:sldId id="262"/>
            <p14:sldId id="263"/>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Illustrative Quarterly Revenue</c:v>
                </c:pt>
              </c:strCache>
            </c:strRef>
          </c:tx>
          <c:spPr>
            <a:solidFill>
              <a:srgbClr val="00338D"/>
            </a:solidFill>
            <a:effectLst/>
          </c:spPr>
          <c:invertIfNegative val="0"/>
          <c:dLbls>
            <c:numFmt formatCode="#,##0" sourceLinked="0"/>
            <c:spPr>
              <a:solidFill>
                <a:srgbClr val="00338D"/>
              </a:solidFill>
            </c:spPr>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Q1</c:v>
                  </c:pt>
                  <c:pt idx="1">
                    <c:v>Q2</c:v>
                  </c:pt>
                  <c:pt idx="2">
                    <c:v>Q3</c:v>
                  </c:pt>
                  <c:pt idx="3">
                    <c:v>Q4</c:v>
                  </c:pt>
                  <c:pt idx="4">
                    <c:v>Q5</c:v>
                  </c:pt>
                  <c:pt idx="5">
                    <c:v>Q6</c:v>
                  </c:pt>
                </c:lvl>
              </c:multiLvlStrCache>
            </c:multiLvlStrRef>
          </c:cat>
          <c:val>
            <c:numRef>
              <c:f>Sheet1!$B$2:$B$7</c:f>
              <c:numCache>
                <c:formatCode>General</c:formatCode>
                <c:ptCount val="6"/>
                <c:pt idx="0">
                  <c:v>12</c:v>
                </c:pt>
                <c:pt idx="1">
                  <c:v>18</c:v>
                </c:pt>
                <c:pt idx="2">
                  <c:v>17</c:v>
                </c:pt>
                <c:pt idx="3">
                  <c:v>24</c:v>
                </c:pt>
                <c:pt idx="4">
                  <c:v>29</c:v>
                </c:pt>
                <c:pt idx="5">
                  <c:v>31</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10</c:v>
                </c:pt>
                <c:pt idx="1">
                  <c:v>14</c:v>
                </c:pt>
                <c:pt idx="2">
                  <c:v>19</c:v>
                </c:pt>
                <c:pt idx="3">
                  <c:v>27</c:v>
                </c:pt>
                <c:pt idx="4">
                  <c:v>35</c:v>
                </c:pt>
              </c:numCache>
            </c:numRef>
          </c:val>
        </c:ser>
        <c:ser>
          <c:idx val="1"/>
          <c:order val="1"/>
          <c:tx>
            <c:strRef>
              <c:f>Sheet1!$C$1</c:f>
              <c:strCache>
                <c:ptCount val="1"/>
                <c:pt idx="0">
                  <c:v>Series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8</c:v>
                </c:pt>
                <c:pt idx="1">
                  <c:v>11</c:v>
                </c:pt>
                <c:pt idx="2">
                  <c:v>15</c:v>
                </c:pt>
                <c:pt idx="3">
                  <c:v>21</c:v>
                </c:pt>
                <c:pt idx="4">
                  <c:v>28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10</c:v>
                </c:pt>
                <c:pt idx="1">
                  <c:v>14</c:v>
                </c:pt>
                <c:pt idx="2">
                  <c:v>19</c:v>
                </c:pt>
                <c:pt idx="3">
                  <c:v>27</c:v>
                </c:pt>
                <c:pt idx="4">
                  <c:v>35</c:v>
                </c:pt>
              </c:numCache>
            </c:numRef>
          </c:val>
        </c:ser>
        <c:ser>
          <c:idx val="1"/>
          <c:order val="1"/>
          <c:tx>
            <c:strRef>
              <c:f>Sheet1!$C$1</c:f>
              <c:strCache>
                <c:ptCount val="1"/>
                <c:pt idx="0">
                  <c:v>Series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8</c:v>
                </c:pt>
                <c:pt idx="1">
                  <c:v>11</c:v>
                </c:pt>
                <c:pt idx="2">
                  <c:v>15</c:v>
                </c:pt>
                <c:pt idx="3">
                  <c:v>21</c:v>
                </c:pt>
                <c:pt idx="4">
                  <c:v>28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Scenario Base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5</c:v>
                </c:pt>
                <c:pt idx="1">
                  <c:v>9</c:v>
                </c:pt>
                <c:pt idx="2">
                  <c:v>11</c:v>
                </c:pt>
                <c:pt idx="3">
                  <c:v>13</c:v>
                </c:pt>
                <c:pt idx="4">
                  <c:v>16</c:v>
                </c:pt>
                <c:pt idx="5">
                  <c:v>18</c:v>
                </c:pt>
              </c:numCache>
            </c:numRef>
          </c:val>
        </c:ser>
        <c:ser>
          <c:idx val="1"/>
          <c:order val="1"/>
          <c:tx>
            <c:strRef>
              <c:f>Sheet1!$C$1</c:f>
              <c:strCache>
                <c:ptCount val="1"/>
                <c:pt idx="0">
                  <c:v>Scenario Upside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Sheet1!$C$2:$C$7</c:f>
              <c:numCache>
                <c:formatCode>General</c:formatCode>
                <c:ptCount val="6"/>
                <c:pt idx="0">
                  <c:v>6</c:v>
                </c:pt>
                <c:pt idx="1">
                  <c:v>10</c:v>
                </c:pt>
                <c:pt idx="2">
                  <c:v>13</c:v>
                </c:pt>
                <c:pt idx="3">
                  <c:v>16</c:v>
                </c:pt>
                <c:pt idx="4">
                  <c:v>20</c:v>
                </c:pt>
                <c:pt idx="5">
                  <c:v>24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Scenario Base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5</c:v>
                </c:pt>
                <c:pt idx="1">
                  <c:v>9</c:v>
                </c:pt>
                <c:pt idx="2">
                  <c:v>11</c:v>
                </c:pt>
                <c:pt idx="3">
                  <c:v>13</c:v>
                </c:pt>
                <c:pt idx="4">
                  <c:v>16</c:v>
                </c:pt>
                <c:pt idx="5">
                  <c:v>18</c:v>
                </c:pt>
              </c:numCache>
            </c:numRef>
          </c:val>
        </c:ser>
        <c:ser>
          <c:idx val="1"/>
          <c:order val="1"/>
          <c:tx>
            <c:strRef>
              <c:f>Sheet1!$C$1</c:f>
              <c:strCache>
                <c:ptCount val="1"/>
                <c:pt idx="0">
                  <c:v>Scenario Upside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Sheet1!$C$2:$C$7</c:f>
              <c:numCache>
                <c:formatCode>General</c:formatCode>
                <c:ptCount val="6"/>
                <c:pt idx="0">
                  <c:v>6</c:v>
                </c:pt>
                <c:pt idx="1">
                  <c:v>10</c:v>
                </c:pt>
                <c:pt idx="2">
                  <c:v>13</c:v>
                </c:pt>
                <c:pt idx="3">
                  <c:v>16</c:v>
                </c:pt>
                <c:pt idx="4">
                  <c:v>20</c:v>
                </c:pt>
                <c:pt idx="5">
                  <c:v>24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4632" cy="194767"/>
          </a:xfrm>
          <a:prstGeom prst="rect">
            <a:avLst/>
          </a:prstGeom>
        </p:spPr>
      </p:pic>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98476" y="976053"/>
            <a:ext cx="7061786" cy="490537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kpmg.com" TargetMode="External"/><Relationship Id="rId2" Type="http://schemas.openxmlformats.org/officeDocument/2006/relationships/slideLayout" Target="../slideLayouts/slideLayout5.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Lorem Ipsum Generator Stress Test</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Comprehensive placeholder-content run February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Long-Form Text and Layout Stress Test</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Summary Financials — Lorem Scenario</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Shape 2"/>
          <p:cNvSpPr/>
          <p:nvPr/>
        </p:nvSpPr>
        <p:spPr>
          <a:xfrm>
            <a:off x="998433" y="1783080"/>
            <a:ext cx="2194560" cy="1005840"/>
          </a:xfrm>
          <a:prstGeom prst="roundRect">
            <a:avLst>
              <a:gd name="adj" fmla="val 5455"/>
            </a:avLst>
          </a:prstGeom>
          <a:solidFill>
            <a:srgbClr val="00338D"/>
          </a:solidFill>
          <a:ln/>
        </p:spPr>
      </p:sp>
      <p:sp>
        <p:nvSpPr>
          <p:cNvPr id="5" name="Text 3"/>
          <p:cNvSpPr/>
          <p:nvPr/>
        </p:nvSpPr>
        <p:spPr>
          <a:xfrm>
            <a:off x="1044153"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$123.4M</a:t>
            </a:r>
            <a:endParaRPr lang="en-US" sz="1800" dirty="0"/>
          </a:p>
        </p:txBody>
      </p:sp>
      <p:sp>
        <p:nvSpPr>
          <p:cNvPr id="6" name="Text 4"/>
          <p:cNvSpPr/>
          <p:nvPr/>
        </p:nvSpPr>
        <p:spPr>
          <a:xfrm>
            <a:off x="1044153"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Revenue</a:t>
            </a:r>
            <a:endParaRPr lang="en-US" sz="700" dirty="0"/>
          </a:p>
        </p:txBody>
      </p:sp>
      <p:sp>
        <p:nvSpPr>
          <p:cNvPr id="7" name="Text 5"/>
          <p:cNvSpPr/>
          <p:nvPr/>
        </p:nvSpPr>
        <p:spPr>
          <a:xfrm>
            <a:off x="1044153"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+12.3%</a:t>
            </a:r>
            <a:endParaRPr lang="en-US" sz="600" dirty="0"/>
          </a:p>
        </p:txBody>
      </p:sp>
      <p:sp>
        <p:nvSpPr>
          <p:cNvPr id="8" name="Shape 6"/>
          <p:cNvSpPr/>
          <p:nvPr/>
        </p:nvSpPr>
        <p:spPr>
          <a:xfrm>
            <a:off x="3337560" y="1783080"/>
            <a:ext cx="2194560" cy="1005840"/>
          </a:xfrm>
          <a:prstGeom prst="roundRect">
            <a:avLst>
              <a:gd name="adj" fmla="val 5455"/>
            </a:avLst>
          </a:prstGeom>
          <a:solidFill>
            <a:srgbClr val="1E49E2"/>
          </a:solidFill>
          <a:ln/>
        </p:spPr>
      </p:sp>
      <p:sp>
        <p:nvSpPr>
          <p:cNvPr id="9" name="Text 7"/>
          <p:cNvSpPr/>
          <p:nvPr/>
        </p:nvSpPr>
        <p:spPr>
          <a:xfrm>
            <a:off x="338328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48.7%</a:t>
            </a:r>
            <a:endParaRPr lang="en-US" sz="1800" dirty="0"/>
          </a:p>
        </p:txBody>
      </p:sp>
      <p:sp>
        <p:nvSpPr>
          <p:cNvPr id="10" name="Text 8"/>
          <p:cNvSpPr/>
          <p:nvPr/>
        </p:nvSpPr>
        <p:spPr>
          <a:xfrm>
            <a:off x="338328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Gross Margin</a:t>
            </a:r>
            <a:endParaRPr lang="en-US" sz="700" dirty="0"/>
          </a:p>
        </p:txBody>
      </p:sp>
      <p:sp>
        <p:nvSpPr>
          <p:cNvPr id="11" name="Text 9"/>
          <p:cNvSpPr/>
          <p:nvPr/>
        </p:nvSpPr>
        <p:spPr>
          <a:xfrm>
            <a:off x="338328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-1.4pp</a:t>
            </a:r>
            <a:endParaRPr lang="en-US" sz="600" dirty="0"/>
          </a:p>
        </p:txBody>
      </p:sp>
      <p:sp>
        <p:nvSpPr>
          <p:cNvPr id="12" name="Shape 10"/>
          <p:cNvSpPr/>
          <p:nvPr/>
        </p:nvSpPr>
        <p:spPr>
          <a:xfrm>
            <a:off x="5669280" y="1783080"/>
            <a:ext cx="2194560" cy="1005840"/>
          </a:xfrm>
          <a:prstGeom prst="roundRect">
            <a:avLst>
              <a:gd name="adj" fmla="val 5455"/>
            </a:avLst>
          </a:prstGeom>
          <a:solidFill>
            <a:srgbClr val="7213EA"/>
          </a:solidFill>
          <a:ln/>
        </p:spPr>
      </p:sp>
      <p:sp>
        <p:nvSpPr>
          <p:cNvPr id="13" name="Text 11"/>
          <p:cNvSpPr/>
          <p:nvPr/>
        </p:nvSpPr>
        <p:spPr>
          <a:xfrm>
            <a:off x="571500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$67.8M</a:t>
            </a:r>
            <a:endParaRPr lang="en-US" sz="1800" dirty="0"/>
          </a:p>
        </p:txBody>
      </p:sp>
      <p:sp>
        <p:nvSpPr>
          <p:cNvPr id="14" name="Text 12"/>
          <p:cNvSpPr/>
          <p:nvPr/>
        </p:nvSpPr>
        <p:spPr>
          <a:xfrm>
            <a:off x="571500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EBITDA</a:t>
            </a:r>
            <a:endParaRPr lang="en-US" sz="700" dirty="0"/>
          </a:p>
        </p:txBody>
      </p:sp>
      <p:sp>
        <p:nvSpPr>
          <p:cNvPr id="15" name="Text 13"/>
          <p:cNvSpPr/>
          <p:nvPr/>
        </p:nvSpPr>
        <p:spPr>
          <a:xfrm>
            <a:off x="571500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+8.9%</a:t>
            </a:r>
            <a:endParaRPr lang="en-US" sz="600" dirty="0"/>
          </a:p>
        </p:txBody>
      </p:sp>
      <p:sp>
        <p:nvSpPr>
          <p:cNvPr id="16" name="Shape 14"/>
          <p:cNvSpPr/>
          <p:nvPr/>
        </p:nvSpPr>
        <p:spPr>
          <a:xfrm>
            <a:off x="8001000" y="1783080"/>
            <a:ext cx="2194560" cy="1005840"/>
          </a:xfrm>
          <a:prstGeom prst="roundRect">
            <a:avLst>
              <a:gd name="adj" fmla="val 5455"/>
            </a:avLst>
          </a:prstGeom>
          <a:solidFill>
            <a:srgbClr val="00B8F5"/>
          </a:solidFill>
          <a:ln/>
        </p:spPr>
      </p:sp>
      <p:sp>
        <p:nvSpPr>
          <p:cNvPr id="17" name="Text 15"/>
          <p:cNvSpPr/>
          <p:nvPr/>
        </p:nvSpPr>
        <p:spPr>
          <a:xfrm>
            <a:off x="804672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3.2x</a:t>
            </a:r>
            <a:endParaRPr lang="en-US" sz="1800" dirty="0"/>
          </a:p>
        </p:txBody>
      </p:sp>
      <p:sp>
        <p:nvSpPr>
          <p:cNvPr id="18" name="Text 16"/>
          <p:cNvSpPr/>
          <p:nvPr/>
        </p:nvSpPr>
        <p:spPr>
          <a:xfrm>
            <a:off x="804672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Leverage</a:t>
            </a:r>
            <a:endParaRPr lang="en-US" sz="700" dirty="0"/>
          </a:p>
        </p:txBody>
      </p:sp>
      <p:sp>
        <p:nvSpPr>
          <p:cNvPr id="19" name="Text 17"/>
          <p:cNvSpPr/>
          <p:nvPr/>
        </p:nvSpPr>
        <p:spPr>
          <a:xfrm>
            <a:off x="804672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Stable</a:t>
            </a:r>
            <a:endParaRPr lang="en-US" sz="600" dirty="0"/>
          </a:p>
        </p:txBody>
      </p:sp>
      <p:graphicFrame>
        <p:nvGraphicFramePr>
          <p:cNvPr id="20" name="Chart 0" descr=""/>
          <p:cNvGraphicFramePr/>
          <p:nvPr/>
        </p:nvGraphicFramePr>
        <p:xfrm>
          <a:off x="998433" y="3063240"/>
          <a:ext cx="10204338" cy="32918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Two Columns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Two Columns (Lorem)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Table + Text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Table + Text (Lorem)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Narrow Table (Lorem)</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1331940"/>
                <a:gridCol w="1331940"/>
                <a:gridCol w="790839"/>
                <a:gridCol w="790839"/>
                <a:gridCol w="79083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Category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Description</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 A</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 B</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Alpha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Beta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Gamma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175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Epsilon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Two Column Text (Lorem)</a:t>
            </a:r>
            <a:endParaRPr lang="en-US" sz="3200" dirty="0"/>
          </a:p>
        </p:txBody>
      </p:sp>
      <p:sp>
        <p:nvSpPr>
          <p:cNvPr id="3" name="Text 1"/>
          <p:cNvSpPr/>
          <p:nvPr/>
        </p:nvSpPr>
        <p:spPr>
          <a:xfrm>
            <a:off x="998400" y="1010920"/>
            <a:ext cx="10195200"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Text 2"/>
          <p:cNvSpPr/>
          <p:nvPr/>
        </p:nvSpPr>
        <p:spPr>
          <a:xfrm>
            <a:off x="9972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5" name="Text 3"/>
          <p:cNvSpPr/>
          <p:nvPr/>
        </p:nvSpPr>
        <p:spPr>
          <a:xfrm>
            <a:off x="61596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Two Columns Text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Text 2"/>
          <p:cNvSpPr/>
          <p:nvPr/>
        </p:nvSpPr>
        <p:spPr>
          <a:xfrm>
            <a:off x="998433" y="1600200"/>
            <a:ext cx="5212080" cy="45756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p:txBody>
      </p:sp>
      <p:sp>
        <p:nvSpPr>
          <p:cNvPr id="5" name="Text 3"/>
          <p:cNvSpPr/>
          <p:nvPr/>
        </p:nvSpPr>
        <p:spPr>
          <a:xfrm>
            <a:off x="6438748" y="1600200"/>
            <a:ext cx="4754880" cy="45756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One Column Text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 Lorem ipsum dolor sit amet, consectetur adipiscing elit, sed do eiusmod tempor incididunt ut labore et dolore magna aliqua. Ut enim ad minim veniam, quis nostrud exercitation ullamco laboris nisi ut aliquip ex ea commodo consequat.</a:t>
            </a:r>
            <a:endParaRPr lang="en-US" sz="900" dirty="0"/>
          </a:p>
        </p:txBody>
      </p:sp>
      <p:sp>
        <p:nvSpPr>
          <p:cNvPr id="4" name="Text 2"/>
          <p:cNvSpPr/>
          <p:nvPr/>
        </p:nvSpPr>
        <p:spPr>
          <a:xfrm>
            <a:off x="998433" y="1691640"/>
            <a:ext cx="10204338"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Title + Strapline + 4 Text Boxes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a:t>
            </a:r>
            <a:endParaRPr lang="en-US" sz="900" dirty="0"/>
          </a:p>
        </p:txBody>
      </p:sp>
      <p:sp>
        <p:nvSpPr>
          <p:cNvPr id="4" name="Text 2"/>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Workstream 1</a:t>
            </a:r>
            <a:endParaRPr lang="en-US" sz="900" dirty="0"/>
          </a:p>
        </p:txBody>
      </p:sp>
      <p:sp>
        <p:nvSpPr>
          <p:cNvPr id="5" name="Text 3"/>
          <p:cNvSpPr/>
          <p:nvPr/>
        </p:nvSpPr>
        <p:spPr>
          <a:xfrm>
            <a:off x="998433"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6" name="Text 4"/>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Workstream 2</a:t>
            </a:r>
            <a:endParaRPr lang="en-US" sz="900" dirty="0"/>
          </a:p>
        </p:txBody>
      </p:sp>
      <p:sp>
        <p:nvSpPr>
          <p:cNvPr id="7" name="Text 5"/>
          <p:cNvSpPr/>
          <p:nvPr/>
        </p:nvSpPr>
        <p:spPr>
          <a:xfrm>
            <a:off x="356616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p:txBody>
      </p:sp>
      <p:sp>
        <p:nvSpPr>
          <p:cNvPr id="8" name="Text 6"/>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Workstream 3</a:t>
            </a:r>
            <a:endParaRPr lang="en-US" sz="900" dirty="0"/>
          </a:p>
        </p:txBody>
      </p:sp>
      <p:sp>
        <p:nvSpPr>
          <p:cNvPr id="9" name="Text 7"/>
          <p:cNvSpPr/>
          <p:nvPr/>
        </p:nvSpPr>
        <p:spPr>
          <a:xfrm>
            <a:off x="612648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p:txBody>
      </p:sp>
      <p:sp>
        <p:nvSpPr>
          <p:cNvPr id="10" name="Text 8"/>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Workstream 4</a:t>
            </a:r>
            <a:endParaRPr lang="en-US" sz="900" dirty="0"/>
          </a:p>
        </p:txBody>
      </p:sp>
      <p:sp>
        <p:nvSpPr>
          <p:cNvPr id="11" name="Text 9"/>
          <p:cNvSpPr/>
          <p:nvPr/>
        </p:nvSpPr>
        <p:spPr>
          <a:xfrm>
            <a:off x="868680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14400" y="3291840"/>
            <a:ext cx="10241280" cy="2194560"/>
          </a:xfrm>
          <a:prstGeom prst="rect">
            <a:avLst/>
          </a:prstGeom>
          <a:noFill/>
          <a:ln/>
        </p:spPr>
        <p:txBody>
          <a:bodyPr wrap="square" rtlCol="0" anchor="t"/>
          <a:lstStyle/>
          <a:p>
            <a:pPr indent="0" marL="0">
              <a:buNone/>
            </a:pPr>
            <a:r>
              <a:rPr lang="en-US" sz="900" dirty="0">
                <a:solidFill>
                  <a:srgbClr val="FFFFFF"/>
                </a:solidFill>
                <a:latin typeface="Arial" pitchFamily="34" charset="0"/>
                <a:ea typeface="Arial" pitchFamily="34" charset="-122"/>
                <a:cs typeface="Arial" pitchFamily="34" charset="-120"/>
              </a:rPr>
              <a:t>Lorem ipsum disclaimer: synthetic content for generator layout preview only.</a:t>
            </a:r>
            <a:endParaRPr lang="en-US" sz="900" dirty="0"/>
          </a:p>
        </p:txBody>
      </p:sp>
      <p:sp>
        <p:nvSpPr>
          <p:cNvPr id="3" name="Text 1">
            <a:hlinkClick r:id="rId1" tooltip=""/>
          </p:cNvPr>
          <p:cNvSpPr/>
          <p:nvPr/>
        </p:nvSpPr>
        <p:spPr>
          <a:xfrm>
            <a:off x="914400" y="5760720"/>
            <a:ext cx="3657600" cy="274320"/>
          </a:xfrm>
          <a:prstGeom prst="rect">
            <a:avLst/>
          </a:prstGeom>
          <a:noFill/>
          <a:ln/>
        </p:spPr>
        <p:txBody>
          <a:bodyPr wrap="square" rtlCol="0" anchor="ctr"/>
          <a:lstStyle/>
          <a:p>
            <a:pPr indent="0" marL="0">
              <a:buNone/>
            </a:pPr>
            <a:r>
              <a:rPr lang="en-US" sz="900" b="1"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www.kpmg.com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KPMG Lorem Ipsum Stress Test Deck</dc:title>
  <dc:subject>Layout and overflow stress-test using placeholder prose</dc:subject>
  <dc:creator>kpmg-slidegen</dc:creator>
  <cp:lastModifiedBy>kpmg-slidegen</cp:lastModifiedBy>
  <cp:revision>1</cp:revision>
  <dcterms:created xsi:type="dcterms:W3CDTF">2026-02-19T23:36:05Z</dcterms:created>
  <dcterms:modified xsi:type="dcterms:W3CDTF">2026-02-19T23:36:05Z</dcterms:modified>
</cp:coreProperties>
</file>