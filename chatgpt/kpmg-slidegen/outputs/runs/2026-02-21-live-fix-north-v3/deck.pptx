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7.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8.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9.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8.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29.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30.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31.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32.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3.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4.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5.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36.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8.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4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41.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42.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3.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44.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45.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charts/chart46.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charts/chart47.xml" ContentType="application/vnd.openxmlformats-officedocument.drawingml.chart+xml"/>
  <Override PartName="/ppt/slideMasters/slideMaster62.xml" ContentType="application/vnd.openxmlformats-officedocument.presentationml.slideMaster+xml"/>
  <Override PartName="/ppt/slides/slide62.xml" ContentType="application/vnd.openxmlformats-officedocument.presentationml.slide+xml"/>
  <Override PartName="/ppt/charts/chart48.xml" ContentType="application/vnd.openxmlformats-officedocument.drawingml.chart+xml"/>
  <Override PartName="/ppt/slideMasters/slideMaster63.xml" ContentType="application/vnd.openxmlformats-officedocument.presentationml.slideMaster+xml"/>
  <Override PartName="/ppt/slides/slide63.xml" ContentType="application/vnd.openxmlformats-officedocument.presentationml.slide+xml"/>
  <Override PartName="/ppt/charts/chart49.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50.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1.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charts/chart5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49.xml"/><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8" Type="http://schemas.openxmlformats.org/officeDocument/2006/relationships/slideLayout" Target="../slideLayouts/slideLayout8.xml"/><Relationship Id="rId9"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52.xml"/><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665758"/>
                <a:gridCol w="1566770"/>
                <a:gridCol w="18038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FY2025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$130.5B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+114%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Margin (Peak)</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 to 69.3% in 9M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$64.1B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+128%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Top-4 Cust. Conc.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Q3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Valuation Context — Peer Comparison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Valuation premium is clear:</a:t>
            </a:r>
            <a:pPr indent="0" marL="0">
              <a:buNone/>
            </a:pPr>
            <a:r>
              <a:rPr lang="en-US" sz="1000" dirty="0">
                <a:solidFill>
                  <a:srgbClr val="000000"/>
                </a:solidFill>
                <a:latin typeface="Arial" pitchFamily="34" charset="0"/>
                <a:ea typeface="Arial" pitchFamily="34" charset="-122"/>
                <a:cs typeface="Arial" pitchFamily="34" charset="-120"/>
              </a:rPr>
              <a:t> EV/Revenue 17.2x vs peer median 12.8x.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Key diligence:</a:t>
            </a:r>
            <a:pPr indent="0" marL="0">
              <a:buNone/>
            </a:pPr>
            <a:r>
              <a:rPr lang="en-US" sz="10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Implied Enterprise Value — Sensitivity Analysis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Summary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FY2025 Revenue Composition ($130.5B)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Nine Months FY2026 ($147.8B, annualizing to ~$197B)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8433" y="1751625"/>
            <a:ext cx="10204338" cy="219456"/>
          </a:xfrm>
          <a:prstGeom prst="rect">
            <a:avLst/>
          </a:prstGeom>
          <a:solidFill>
            <a:srgbClr val="00338D"/>
          </a:solidFill>
          <a:ln w="12700">
            <a:solidFill>
              <a:srgbClr val="00338D">
                <a:alpha val="0"/>
              </a:srgbClr>
            </a:solidFill>
            <a:prstDash val="solid"/>
          </a:ln>
        </p:spPr>
      </p:sp>
      <p:sp>
        <p:nvSpPr>
          <p:cNvPr id="5" name="Text 3"/>
          <p:cNvSpPr/>
          <p:nvPr/>
        </p:nvSpPr>
        <p:spPr>
          <a:xfrm>
            <a:off x="1053297" y="1765341"/>
            <a:ext cx="1009461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8433" y="1971081"/>
            <a:ext cx="10204338" cy="0"/>
          </a:xfrm>
          <a:prstGeom prst="line">
            <a:avLst/>
          </a:prstGeom>
          <a:noFill/>
          <a:ln w="12700">
            <a:solidFill>
              <a:srgbClr val="00338D"/>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998433" y="1989369"/>
          <a:ext cx="10204338" cy="3884280"/>
        </p:xfrm>
        <a:graphic>
          <a:graphicData uri="http://schemas.openxmlformats.org/drawingml/2006/table">
            <a:tbl>
              <a:tblPr/>
              <a:tblGrid>
                <a:gridCol w="3427389"/>
                <a:gridCol w="1321991"/>
                <a:gridCol w="1321991"/>
                <a:gridCol w="1548647"/>
                <a:gridCol w="1459151"/>
                <a:gridCol w="1125168"/>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equity awards (RSU/PSU)</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4.1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ESPP &amp; other programs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0.5</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obsolescence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purchase commits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equity investments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debt securities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amortization (intangibles)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integration &amp; deal costs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Restructuring / severance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Lease exit &amp; impairment charges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998433" y="4670085"/>
            <a:ext cx="10204338" cy="201168"/>
          </a:xfrm>
          <a:prstGeom prst="rect">
            <a:avLst/>
          </a:prstGeom>
          <a:noFill/>
          <a:ln/>
        </p:spPr>
        <p:txBody>
          <a:bodyPr wrap="square"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998433" y="4871253"/>
            <a:ext cx="10204338" cy="1304605"/>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1000" dirty="0">
                <a:solidFill>
                  <a:srgbClr val="000000"/>
                </a:solidFill>
                <a:latin typeface="Arial" pitchFamily="34" charset="0"/>
                <a:ea typeface="Arial" pitchFamily="34" charset="-122"/>
                <a:cs typeface="Arial" pitchFamily="34" charset="-120"/>
              </a:rPr>
              <a:t> stock-based compensation (material and growing).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959314"/>
                <a:gridCol w="959314"/>
                <a:gridCol w="959314"/>
                <a:gridCol w="959314"/>
                <a:gridCol w="659528"/>
                <a:gridCol w="539614"/>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Stock-Based Compensation ($3.3B → $4.8B)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Inventory Provisions, Net ($0.9B → $2.4B)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Gains and Losses on Strategic Investments ($0.3B → $0.6B)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Acquisition-Related Costs ($0.1B → $0.2B)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Restructuring and Other One-Time Items ($0.0B → $0.1B)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Net Adjusted Impact — Summary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36</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37</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38</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40</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41</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42</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46</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47</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48</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51</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52</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53</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Revenue Quality (35%)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Margin &amp; Cost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Working Capital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Risk &amp; Controls (15%)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54</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55</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56</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57</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58</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1–2: Kickoff &amp; Data</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Execute engagement letter and NDA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Submit priority data request list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kickoff meeting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Begin public filing analysis and industry benchmarking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Set up virtual data room access and review protocols</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3–4: Core Analysis</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Build bottom-up revenue model by platform and customer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Construct gross margin bridge and BOM cost decomposition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inventory roll-forward and reserve adequacy testing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Analyze AR aging and cash conversion cycle dynamics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interviews on key diligence topics</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5–6: Synthesis</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Develop normalized EBITDA and free cash flow bridges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working capital analysis and seasonal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Finalize export control and regulatory risk assessment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Prepare preliminary findings presentation for deal team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Draft comprehensive FDD report with technical appendices</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Post-Close Support</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Support purchase price allocation and valuation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Assist with integration planning for financial systems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Provide 100-day plan financial monitoring framework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Ad-hoc support on identified risk mitigation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Ongoing advisory on regulatory compliance matters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chart is illustrative and does not reflect actual results.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Included to expand chart coverage in the migrated deck.</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60</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Line chart example using the V2 chart renderer.</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2026-02-21T04:26:56Z</dcterms:created>
  <dcterms:modified xsi:type="dcterms:W3CDTF">2026-02-21T04:26:56Z</dcterms:modified>
</cp:coreProperties>
</file>