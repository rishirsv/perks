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FY2025 Revenue by quarter (GAAP, $m)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305.7</c:v>
                </c:pt>
                <c:pt idx="1">
                  <c:v>306.7</c:v>
                </c:pt>
                <c:pt idx="2">
                  <c:v>318</c:v>
                </c:pt>
                <c:pt idx="3">
                  <c:v>319.1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(GAAP, $m)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FY2024</c:v>
                  </c:pt>
                  <c:pt idx="4">
                    <c:v>FY2025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747.2</c:v>
                </c:pt>
                <c:pt idx="1">
                  <c:v>1098</c:v>
                </c:pt>
                <c:pt idx="2">
                  <c:v>1239.5</c:v>
                </c:pt>
                <c:pt idx="3">
                  <c:v>1214.3</c:v>
                </c:pt>
                <c:pt idx="4">
                  <c:v>1249.5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Base-case revenue (GAAP, $m) — guidance + assumptions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FY2026E</c:v>
                  </c:pt>
                  <c:pt idx="1">
                    <c:v>FY2027E</c:v>
                  </c:pt>
                  <c:pt idx="2">
                    <c:v>FY2028E</c:v>
                  </c:pt>
                  <c:pt idx="3">
                    <c:v>3-yr trend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1257</c:v>
                </c:pt>
                <c:pt idx="1">
                  <c:v>1295</c:v>
                </c:pt>
                <c:pt idx="2">
                  <c:v>1345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kpmg.com" TargetMode="Externa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8478" y="1456388"/>
            <a:ext cx="3697810" cy="3427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ZoomInfo Due Diligence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98433" y="5005883"/>
            <a:ext cx="3697834" cy="80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Hypothetical take-private scenario</a:t>
            </a:r>
            <a:endParaRPr lang="en-US" sz="1400" dirty="0"/>
          </a:p>
        </p:txBody>
      </p:sp>
      <p:pic>
        <p:nvPicPr>
          <p:cNvPr id="5" name="Image 1" descr="Cover photograph">    </p:cNvPr>
          <p:cNvPicPr>
            <a:picLocks noChangeAspect="1"/>
          </p:cNvPicPr>
          <p:nvPr/>
        </p:nvPicPr>
        <p:blipFill>
          <a:blip r:embed="rId2"/>
          <a:srcRect l="4986" r="4986" t="0" b="0"/>
          <a:stretch/>
        </p:blipFill>
        <p:spPr>
          <a:xfrm>
            <a:off x="4915965" y="1456388"/>
            <a:ext cx="6283848" cy="4364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5782" y="431597"/>
            <a:ext cx="2743200" cy="56692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782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5782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782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782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3-10)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95782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overview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financials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68361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068361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8361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trading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8361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11-18)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8361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&amp; loss overview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earnings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40940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5140940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0940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trading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40940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19-24)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40940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overview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assumptions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13519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7213519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3519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13519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25-29)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13519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debt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86098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9286098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6098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86098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30-34)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86098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cash flow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conversion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5782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400" dirty="0"/>
          </a:p>
        </p:txBody>
      </p:sp>
      <p:sp>
        <p:nvSpPr>
          <p:cNvPr id="29" name="Shape 27"/>
          <p:cNvSpPr/>
          <p:nvPr/>
        </p:nvSpPr>
        <p:spPr>
          <a:xfrm>
            <a:off x="995782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5782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5782" y="4453128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35-39)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5782" y="4718304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reporting environment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 policies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68361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400" dirty="0"/>
          </a:p>
        </p:txBody>
      </p:sp>
      <p:sp>
        <p:nvSpPr>
          <p:cNvPr id="34" name="Shape 32"/>
          <p:cNvSpPr/>
          <p:nvPr/>
        </p:nvSpPr>
        <p:spPr>
          <a:xfrm>
            <a:off x="3068361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8361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creation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068361" y="4453128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40-44)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68361" y="4718304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levers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opportunities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40940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400" dirty="0"/>
          </a:p>
        </p:txBody>
      </p:sp>
      <p:sp>
        <p:nvSpPr>
          <p:cNvPr id="39" name="Shape 37"/>
          <p:cNvSpPr/>
          <p:nvPr/>
        </p:nvSpPr>
        <p:spPr>
          <a:xfrm>
            <a:off x="5140940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0940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Pre-Deal PPA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40940" y="4453128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45-49)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40940" y="4718304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intangibles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13519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400" dirty="0"/>
          </a:p>
        </p:txBody>
      </p:sp>
      <p:sp>
        <p:nvSpPr>
          <p:cNvPr id="44" name="Shape 42"/>
          <p:cNvSpPr/>
          <p:nvPr/>
        </p:nvSpPr>
        <p:spPr>
          <a:xfrm>
            <a:off x="7213519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13519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213519" y="4453128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50-54)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213519" y="4718304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profile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286098" y="3694176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400" dirty="0"/>
          </a:p>
        </p:txBody>
      </p:sp>
      <p:sp>
        <p:nvSpPr>
          <p:cNvPr id="49" name="Shape 47"/>
          <p:cNvSpPr/>
          <p:nvPr/>
        </p:nvSpPr>
        <p:spPr>
          <a:xfrm>
            <a:off x="9286098" y="4169664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86098" y="4215384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Appendices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286098" y="4453128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55-60)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286098" y="4718304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register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analysis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607040" y="4754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451592" y="786384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 contacts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525" y="431597"/>
            <a:ext cx="10195560" cy="533095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&amp; loss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5782" y="1179576"/>
            <a:ext cx="7587691" cy="48280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5782" y="1179576"/>
            <a:ext cx="7587691" cy="482803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returned to modest growth with resilient non-GAAP margins; GAAP margins are sensitive to restructuring, litigation, and other episodic items.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717890" y="984809"/>
          <a:ext cx="2475281" cy="67848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782" y="1751990"/>
          <a:ext cx="3690518" cy="4122115"/>
        </p:xfrm>
        <a:graphic>
          <a:graphicData uri="http://schemas.openxmlformats.org/drawingml/2006/table">
            <a:tbl>
              <a:tblPr/>
              <a:tblGrid>
                <a:gridCol w="1230173"/>
                <a:gridCol w="1230173"/>
                <a:gridCol w="1230173"/>
              </a:tblGrid>
              <a:tr h="10305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5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(GAAP, $m)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1,214.3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1,249.5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5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 (GAAP, $m)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1,024.5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1,049.9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05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EBITDA (Non-GAAP, $m)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452.4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mid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817059" y="1751990"/>
            <a:ext cx="6378854" cy="252374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890211" y="1751990"/>
            <a:ext cx="623255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highlights: $1.25B revenue, ~84% gross margin, $446M adjusted operating income; FY2026 guidance implies low growth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817059" y="2003450"/>
            <a:ext cx="6377940" cy="386974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817059" y="2003450"/>
            <a:ext cx="6377940" cy="3869741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GAAP revenue increased from $1,214.3m in FY2024 to $1,249.5m in FY2025 (+3% YoY).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 was $1,049.9m in FY2025 (gross margin ~84% per company disclosure).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Non-GAAP adjusted operating income was $445.9m in FY2025 (36% margin); key add-backs include SBC, amortization of acquired intangibles, restructuring, and litigation settlements.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 guidance (issued February 9, 2026) calls for revenue of $1.247B–$1.267B and adjusted operating income of $456M–$466M.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4867" y="5907024"/>
            <a:ext cx="359999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(FY2025 Form 10-K filed Feb 12, 2026) and S2–S5 (FY2025 quarterly earnings releases filed via Form 8-K).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525" y="431597"/>
            <a:ext cx="10195560" cy="533095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financials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5362" y="1179513"/>
            <a:ext cx="3302806" cy="229697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8514" y="1206945"/>
            <a:ext cx="2479846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earnings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502640" y="1206945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5A1CD7"/>
          </a:solidFill>
          <a:ln w="12700">
            <a:solidFill>
              <a:srgbClr val="5A1C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02640" y="1216089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441587" y="1179513"/>
            <a:ext cx="3302806" cy="229697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4739" y="1206945"/>
            <a:ext cx="2479846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working capital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8865" y="1206945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5A1CD7"/>
          </a:solidFill>
          <a:ln w="12700">
            <a:solidFill>
              <a:srgbClr val="5A1C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8865" y="1216089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887812" y="1179513"/>
            <a:ext cx="3302806" cy="229697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60964" y="1206945"/>
            <a:ext cx="2479846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debt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395090" y="1206945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5A1CD7"/>
          </a:solidFill>
          <a:ln w="12700">
            <a:solidFill>
              <a:srgbClr val="5A1C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95090" y="1216089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995361" y="3581757"/>
            <a:ext cx="5036400" cy="229697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8513" y="3609189"/>
            <a:ext cx="489924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conversion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59600" y="3581757"/>
            <a:ext cx="5036400" cy="229697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2752" y="3609189"/>
            <a:ext cx="489924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value bridge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98433" y="589788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S1, S2 (FY2025 Form 10-K and Feb 9, 2026 earnings release).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548640"/>
            <a:ext cx="10204338" cy="5486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trading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097280"/>
            <a:ext cx="10204338" cy="3200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decelerated post-2022; profitability remains strong on a non-GAAP basis, while GAAP margins reflect episodic items.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8433" y="1691640"/>
            <a:ext cx="5120640" cy="448421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GAAP revenue increased materially from FY2021 to FY2023, then contracted in FY2024 before returning to growth in FY2025; this pattern is consistent with macro pressure and normalization after earlier growth.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Non-GAAP adjusted operating income remains substantial, but the bridge includes recurring items (e.g., stock-based compensation) and acquisition-related amortization.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cash flow is consistently high relative to GAAP net income, aided by advance billing and subscription contract structure.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lens for take-private: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stress-test renewal/expansion assumptions vs. net revenue retention in the high-80s to ~90% and assess exposure to AI-driven seat compression.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691640"/>
          <a:ext cx="48006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548640"/>
            <a:ext cx="10204338" cy="5486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097280"/>
            <a:ext cx="10204338" cy="3200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provides FY2026 guidance; FY2027–FY2028 require conservative assumptions until management provides multi-year outlook.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8433" y="1691640"/>
            <a:ext cx="10204338" cy="17830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 guidance (February 9, 2026):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revenue $1.247B–$1.267B, adjusted operating income $456M–$466M, and unlevered free cash flow $435M–$465M.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(Assumption required) extends a low-growth profile into FY2027–FY2028 with modest retention improvement driven by Upmarket mix and AI product adoption.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Downside case includes continued seat compression and pricing pressure, holding net revenue retention near ~90% or below and limiting expansion.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 case assumes faster monetization of AI-enabled workflows, improved renewal/retention, and incremental international penetration.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998433" y="3794760"/>
          <a:ext cx="10204338" cy="238109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operating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10195200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and Upmarket mix improved through 2025; contracted coverage and deferred revenue support durability, but &lt;100% NRR remains a key risk.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1751579"/>
          <a:ext cx="5036396" cy="914400"/>
        </p:xfrm>
        <a:graphic>
          <a:graphicData uri="http://schemas.openxmlformats.org/drawingml/2006/table">
            <a:tbl>
              <a:tblPr/>
              <a:tblGrid>
                <a:gridCol w="1581294"/>
                <a:gridCol w="900518"/>
                <a:gridCol w="900518"/>
                <a:gridCol w="165406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Commentary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revenue retention (as of year-end)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Improved vs FY2024; still below 100%, implying cohort contraction without new logo/expansion offsets.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 with &gt;$100k ACV (as of year-end)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1,867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Upmarket customer count grew; concentration in larger customers can improve durability but can increase deal-size volatility.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Remaining performance obligations (RPO) at year-end ($m)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1,156.9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1,252.4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RPO provides forward revenue coverage; $887.4m expected to be recognized within one year as of Dec 31, 2025.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International revenue exposure (% of total revenue)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 of world revenue was $145.8m in FY2025; business remains predominantly U.S.-centric.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159600" y="1751579"/>
            <a:ext cx="5036396" cy="251999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159600" y="2003588"/>
            <a:ext cx="5036396" cy="386999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synthesized from the table inputs for quick scan and discussion.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 a working view; confirm all figures during confirmatory diligence.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diligence commentary to contextualize table outcomes and implications.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diligence commentary to contextualize table outcomes and implications.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diligence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00" y="1010920"/>
            <a:ext cx="10195200" cy="405765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lenses: durability of subscription renewal base, macro sensitivity of SMB, and competitive positioning as AI reshapes GTM workflows.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7200" y="1408113"/>
            <a:ext cx="5036400" cy="44658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Durability positives: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Subscription-heavy model; contracts typically 1–3 years and non-cancelable; meaningful RPO balance supports near-term revenue visibility.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Durability risks: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Net revenue retention below 100%; management cites macro pressure and expects NRR to be influenced by Upmarket motion; AI-driven seat compression risk is explicitly disclosed.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9600" y="1408113"/>
            <a:ext cx="5036400" cy="44658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dynamics: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Company identifies competition from free sources, internal databases, niche providers, and potential entrants including LLM/generative AI players and large ecosystems (CRM/business software).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opportunity: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Continued Upmarket penetration (reported 74% of ACV Upmarket as of Dec 31, 2025) and embedding data/agents into customer workflows could support retention and ARPA.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548640"/>
            <a:ext cx="10204338" cy="5486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diligence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43000"/>
            <a:ext cx="10204338" cy="405765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 combines AI/ML data engine with human-in-the-loop QA; diligence should focus on data sourcing rights, opt-out scalability, and integration resilience.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8433" y="1600200"/>
            <a:ext cx="5212080" cy="457565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 thesis: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Company describes an AI/ML engine gathering billions of data points from millions of sources, supported by research analysts and data scientists for quality assurance and gap-filling.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/ liability: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Company discloses a contractual data quality guarantee that may create reimbursement/termination risk if accuracy falls below threshold.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38748" y="1600200"/>
            <a:ext cx="4754880" cy="457565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Privacy/compliance: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Expansion of state privacy laws and public opt-out tooling (e.g., California DROP) may elevate opt-out rates and pressure dataset breadth; multiple privacy-adjacent litigations were disclosed in FY2025 filings.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dependencies: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Integrations into CRM and marketing systems are described as critically important; loss of API access by platform operators could disrupt customer workflows and retention.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548640"/>
            <a:ext cx="10204338" cy="5486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highlights and concerns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43000"/>
            <a:ext cx="10204338" cy="405765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Board-level view of key upside and downside factors for a sponsor-led take-private.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8433" y="1691640"/>
            <a:ext cx="10204338" cy="448421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 gross margin profile and strong cash generation (FY2025 OCF $465m and unlevered FCF $455m); subscription model with meaningful RPO; Upmarket momentum and improving NRR through 2025.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Concerns / red flags: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FY2026 guidance implies a low growth ceiling near-term; NRR remains below 100% and disclosures explicitly flag AI-driven seat compression and LLM-driven competitive risk.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 considerations: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Large TRA liability (~$2.7B at Dec 31, 2025) and material deferred tax assets subject to realizability judgments; both can impact equity value, cash flow, and diligence priorities.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548640"/>
            <a:ext cx="10204338" cy="5486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creation plan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097280"/>
            <a:ext cx="10204338" cy="3200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value creation levers prioritize retention uplift, product-led expansion into workflows, and cost discipline while hardening privacy posture.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8433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&amp; expansion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1874520"/>
            <a:ext cx="2377440" cy="430133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NRR toward 100%+ via Upmarket renewals, seat-value packaging, and customer success playbooks tied to measurable pipeline ROI.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6616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monetization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66160" y="1874520"/>
            <a:ext cx="2377440" cy="430133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Productize AI/agent workflows into priced modules; mitigate seat compression by shifting pricing toward outcomes/usage where feasible.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discipline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1874520"/>
            <a:ext cx="2377440" cy="430133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 non-GAAP operating margin mid-30%s; reduce episodic restructuring by completing real-estate footprint optimization and stabilizing org design.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data resilience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0" y="1874520"/>
            <a:ext cx="2377440" cy="4301338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Industrialize opt-out handling (DROP readiness), strengthen data sourcing rights, and reduce litigation surface area through governance, disclosures, and auditability.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548640"/>
            <a:ext cx="10204338" cy="54864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earnings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43000"/>
            <a:ext cx="10204338" cy="405765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Non-GAAP profitability is strong but depends on recurring adjustments; diligence should quantify sustainable run-rate margin and cash conversion.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7200" y="1408113"/>
            <a:ext cx="10195200" cy="44658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recurring adjustments in FY2025 include stock-based compensation ($116m) and amortization of acquired technology/intangibles (~$59m).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Episodic items include restructuring/transaction-related expenses ($40m in FY2025; $102m in FY2024) and litigation settlement charges (notably FY2024).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 remains robust (OCF $465m in FY2025), supported by advance billing mechanics and unearned revenue; confirm sustainability under slower growth and higher opt-out rates.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97200" y="1179513"/>
            <a:ext cx="10195200" cy="4694400"/>
          </a:xfrm>
          <a:prstGeom prst="rect">
            <a:avLst/>
          </a:prstGeom>
          <a:solidFill>
            <a:srgbClr val="A5C7E5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525" y="431597"/>
            <a:ext cx="10195560" cy="533095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financials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5362" y="1179513"/>
            <a:ext cx="3302806" cy="229697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8514" y="1206945"/>
            <a:ext cx="2479846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quality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502640" y="1206945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5A1CD7"/>
          </a:solidFill>
          <a:ln w="12700">
            <a:solidFill>
              <a:srgbClr val="5A1C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02640" y="1216089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441587" y="1179513"/>
            <a:ext cx="3302806" cy="229697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4739" y="1206945"/>
            <a:ext cx="2479846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bridge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8865" y="1206945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5A1CD7"/>
          </a:solidFill>
          <a:ln w="12700">
            <a:solidFill>
              <a:srgbClr val="5A1C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8865" y="1216089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887812" y="1179513"/>
            <a:ext cx="3302806" cy="229697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60964" y="1206945"/>
            <a:ext cx="2479846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debt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395090" y="1206945"/>
            <a:ext cx="749808" cy="201168"/>
          </a:xfrm>
          <a:prstGeom prst="roundRect">
            <a:avLst>
              <a:gd name="adj" fmla="val 13636"/>
            </a:avLst>
          </a:prstGeom>
          <a:solidFill>
            <a:srgbClr val="5A1CD7"/>
          </a:solidFill>
          <a:ln w="12700">
            <a:solidFill>
              <a:srgbClr val="5A1C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95090" y="1216089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995361" y="3581757"/>
            <a:ext cx="5036400" cy="229697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8513" y="3609189"/>
            <a:ext cx="489924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conversion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59600" y="3581757"/>
            <a:ext cx="5036400" cy="2296973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2752" y="3609189"/>
            <a:ext cx="489924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98433" y="589788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S1–S6 (Forms 10-K / 10-Q / 8-K as cited in source register).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291840"/>
            <a:ext cx="10241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draft diligence content is prepared for illustrative purposes for a hypothetical sponsor-led take-private scenario. It relies exclusively on publicly available information and may omit material non-public facts. All forward-looking values beyond published company guidance are explicitly labeled as assumptions requiring management confirmation.</a:t>
            </a:r>
            <a:endParaRPr lang="en-US" sz="1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914400" y="5760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Public sources only (see Source Register).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ZoomInfo Technologies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ZoomInfo Due Diligence - Draft</dc:title>
  <dc:subject>Commercial and financial diligence</dc:subject>
  <dc:creator>Deep Research</dc:creator>
  <cp:lastModifiedBy>Deep Research</cp:lastModifiedBy>
  <cp:revision>1</cp:revision>
  <dcterms:created xsi:type="dcterms:W3CDTF">2026-02-20T04:07:45Z</dcterms:created>
  <dcterms:modified xsi:type="dcterms:W3CDTF">2026-02-20T04:07:45Z</dcterms:modified>
</cp:coreProperties>
</file>