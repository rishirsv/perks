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173831c7-a55e-22a0-5067-7a7865905326}">
          <p14:sldIdLst/>
        </p14:section>
        <p14:section name="Default-1" id="{ef04c86c-24a8-f0ca-1115-aeee854433cd}">
          <p14:sldIdLst>
            <p14:sldId id="258"/>
            <p14:sldId id="259"/>
            <p14:sldId id="260"/>
            <p14:sldId id="261"/>
          </p14:sldIdLst>
        </p14:section>
        <p14:section name="Historical trading" id="{2ba84d82-766c-8929-56c6-2b2edc88dfbc}">
          <p14:sldIdLst/>
        </p14:section>
        <p14:section name="Default-2" id="{59461ab4-3d88-fc8e-39a7-0370c65fa7a5}">
          <p14:sldIdLst>
            <p14:sldId id="262"/>
            <p14:sldId id="263"/>
            <p14:sldId id="264"/>
            <p14:sldId id="265"/>
          </p14:sldIdLst>
        </p14:section>
        <p14:section name="Risks and diligence priorities" id="{02a1bacf-b76c-a30a-94ae-d4164c832bcb}">
          <p14:sldIdLst/>
        </p14:section>
        <p14:section name="Default-3" id="{0a95386e-5c6c-f09d-3c2d-2ce0f00ef009}">
          <p14:sldIdLst>
            <p14:sldId id="266"/>
            <p14:sldId id="267"/>
            <p14:sldId id="268"/>
            <p14:sldId id="269"/>
          </p14:sldIdLst>
        </p14:section>
        <p14:section name="Value creation blueprint" id="{b4164c00-c4f0-eaba-8106-c92333e8b3b5}">
          <p14:sldIdLst/>
        </p14:section>
        <p14:section name="Default-4" id="{1c3df51c-d734-c116-0735-9a2cc7bbe8c5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revenue (GAAP, $m)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305.7</c:v>
                </c:pt>
                <c:pt idx="1">
                  <c:v>306.7</c:v>
                </c:pt>
                <c:pt idx="2">
                  <c:v>318</c:v>
                </c:pt>
                <c:pt idx="3">
                  <c:v>319.1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(GAAP, 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747.2</c:v>
                </c:pt>
                <c:pt idx="1">
                  <c:v>1098</c:v>
                </c:pt>
                <c:pt idx="2">
                  <c:v>1239.5</c:v>
                </c:pt>
                <c:pt idx="3">
                  <c:v>1214.3</c:v>
                </c:pt>
                <c:pt idx="4">
                  <c:v>1249.5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Recurring adjustments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</c:v>
                  </c:pt>
                  <c:pt idx="1">
                    <c:v>FY2025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</c:v>
                </c:pt>
                <c:pt idx="1">
                  <c:v>174.7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Episodic adjustments ($m)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</c:v>
                  </c:pt>
                  <c:pt idx="1">
                    <c:v>FY2025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45.5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kpmg.com" TargetMode="Externa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ZoomInfo 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committee narrative and value creation blueprint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2743200" cy="56692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2-4)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&amp; loss overview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financials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5-7)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trading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normalization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KPI trend card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priorities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8-10)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diligence findings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diligence findings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legal watchlist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11-13)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workplan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deep-dive agenda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trading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14-15)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guardrails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Upside/downside framing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5782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995782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5782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5782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16-17)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5782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and TRA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and deleveraging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68361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3068361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8361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68361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18-19)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68361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mechanics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0940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400" dirty="0"/>
          </a:p>
        </p:txBody>
      </p:sp>
      <p:sp>
        <p:nvSpPr>
          <p:cNvPr id="39" name="Shape 37"/>
          <p:cNvSpPr/>
          <p:nvPr/>
        </p:nvSpPr>
        <p:spPr>
          <a:xfrm>
            <a:off x="5140940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0940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40940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20-21)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0940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sensitivities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focus areas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13519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400" dirty="0"/>
          </a:p>
        </p:txBody>
      </p:sp>
      <p:sp>
        <p:nvSpPr>
          <p:cNvPr id="44" name="Shape 42"/>
          <p:cNvSpPr/>
          <p:nvPr/>
        </p:nvSpPr>
        <p:spPr>
          <a:xfrm>
            <a:off x="7213519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3519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13519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22-23)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13519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tax assets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 considerations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86098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49" name="Shape 47"/>
          <p:cNvSpPr/>
          <p:nvPr/>
        </p:nvSpPr>
        <p:spPr>
          <a:xfrm>
            <a:off x="9286098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6098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86098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24+)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86098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and data 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register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607040" y="475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451592" y="7863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contacts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25" y="431597"/>
            <a:ext cx="10195560" cy="53309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&amp; loss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5782" y="1179576"/>
            <a:ext cx="7587691" cy="48280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782" y="1179576"/>
            <a:ext cx="7587691" cy="482803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returned to modest growth while non-GAAP profitability stayed resilient; FY2026 guidance implies a low-growth near-term profile.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17890" y="984809"/>
          <a:ext cx="2475281" cy="67848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782" y="1751990"/>
          <a:ext cx="3690518" cy="4122115"/>
        </p:xfrm>
        <a:graphic>
          <a:graphicData uri="http://schemas.openxmlformats.org/drawingml/2006/table">
            <a:tbl>
              <a:tblPr/>
              <a:tblGrid>
                <a:gridCol w="1230173"/>
                <a:gridCol w="1230173"/>
                <a:gridCol w="1230173"/>
              </a:tblGrid>
              <a:tr h="824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1,214.3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1,249.5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(GAAP,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1,049.9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income (GAAP,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operating income (Non-GAAP,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17059" y="1751990"/>
            <a:ext cx="6378854" cy="25237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90211" y="1751990"/>
            <a:ext cx="623255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FY2025: $1.25B revenue, 84% gross margin, $446M adjusted operating income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17059" y="2003450"/>
            <a:ext cx="6377940" cy="386974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17059" y="2003450"/>
            <a:ext cx="6377940" cy="386974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increased from $1,214.3m in FY2024 to $1,249.5m in FY2025 (+2.9% YoY), following post-2023 normalization.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gross profit reached $1,049.9m (~84.0% gross margin), reflecting continued scale benefits in the subscription model.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adjusted operating income was $445.9m (35.7% margin); GAAP operating income was $225.7m (18.1% margin).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guidance issued February 9, 2026 points to revenue of $1.247B-$1.267B and adjusted operating income of $456M-$466M.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4867" y="5907024"/>
            <a:ext cx="35999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S1-S5 (FY2025 10-K and FY2025 quarterly earnings releases filed via Form 8-K).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25" y="431597"/>
            <a:ext cx="10195560" cy="53309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financials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5362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8514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durability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02640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02640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441587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4739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quality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8865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8865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887812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60964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and TRA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395090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95090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95361" y="3581757"/>
            <a:ext cx="5036400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513" y="3609189"/>
            <a:ext cx="489924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9600" y="3581757"/>
            <a:ext cx="5036400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2752" y="3609189"/>
            <a:ext cx="489924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readiness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8433" y="5897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S1-S2 public filings; assumptions explicitly flagged where guidance is unavailable.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at entry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supports a cash-generative platform investment, with value creation dependent on retention repair and disciplined AI monetization.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10204338" cy="448421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can work: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high-margin subscription model, large contracted revenue base (RPO $1,252.4m), and robust FY2025 operating cash flow of $465.4m support debt capacity and execution runway.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underwriting challenge: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FY2026 guidance points to flat-to-low-single-digit growth, so equity value creation depends more on retention uplift and pricing architecture than on macro rebound alone.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downside watchpoint: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NRR remains below 100% (90% at Dec 31, 2025), with explicit disclosure of AI-driven seat compression risk and broadening competitive pressure from AI-native offerings.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debt stack plus TRA liability (~$2.7B) must be explicitly reflected in leverage planning and cash sweep assumptions; treat TRA as quasi-debt in IC framing.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imperative: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product innovation into measurable customer outcomes, then re-anchor pricing to value delivered rather than purely seat counts.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trading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trading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097280"/>
            <a:ext cx="10204338" cy="3200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expanded rapidly through FY2023, softened in FY2024, and returned to growth in FY2025; retention and mix improved but remain below best-in-class levels.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5120640" cy="448421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 revenue rose from $747.2m (FY2021) to $1,239.5m (FY2023), then dipped to $1,214.3m (FY2024) before recovering to $1,249.5m (FY2025).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FY2024 reset appears tied to macro and optimization pressure across customer budgets, with FY2025 showing stabilization rather than re-acceleration.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profitability stayed strong across the period, indicating a resilient cost model even when top-line momentum moderated.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Upmarket mix increased to 74% of ACV by Dec 31, 2025, supporting a pathway to improved durability if NRR can be pushed toward or above 100%.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generation remained robust throughout the cycle, suggesting the model can self-fund targeted growth and deleveraging initiatives.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focus: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cohort-level churn and expansion mechanics to determine whether FY2025 stabilization is structural or temporary.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lens: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prioritize scenarios where moderate growth plus margin stability still delivers attractive equity returns through disciplined capital structure.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lens: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pressure-test seat contraction and discounting behavior in SMB-heavy cohorts under prolonged macro softness.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691640"/>
          <a:ext cx="4800600" cy="420989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and S6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normalization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097280"/>
            <a:ext cx="10204338" cy="3200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margins are attractive, but recurring add-backs and selected cash items require careful normalization to define sustainable EBITDA.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10204338" cy="17830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adjusted operating income of $445.9m is supported by add-backs that include both structural and episodic components.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adjustments include stock-based compensation ($116.2m) plus amortization of acquired technology and intangibles (~$58.5m combined).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Episodic items include restructuring and transaction-related expenses ($40.3m in FY2025) and litigation settlement charges ($5.2m in FY2025).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included materially higher restructuring and litigation burden, which explains part of the year-over-year GAAP margin rebound.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approach should separate truly non-recurring items from recurring economic costs tied to the platform model.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management diligence to triangulate a sustainable run-rate margin under base, downside, and value-creation scenarios.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98433" y="3794760"/>
          <a:ext cx="10204338" cy="210677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98433" y="5947258"/>
            <a:ext cx="102043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KPI trend 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improved through FY2025 and contracted coverage expanded, but sub-100% NRR and AI-linked seat compression remain key underwriting risks.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751579"/>
          <a:ext cx="5036396" cy="914400"/>
        </p:xfrm>
        <a:graphic>
          <a:graphicData uri="http://schemas.openxmlformats.org/drawingml/2006/table">
            <a:tbl>
              <a:tblPr/>
              <a:tblGrid>
                <a:gridCol w="1581294"/>
                <a:gridCol w="900518"/>
                <a:gridCol w="900518"/>
                <a:gridCol w="165406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read-through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 retention (year-end)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Improving trajectory, but still below expansion threshold.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&gt;$100k ACV customers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Upmarket growth supports deal durability.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 at year-end ($m)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1,156.9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1,252.4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contracted coverage increased.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 recognized in 12 months ($m)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887.4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Near-term revenue visibility remains solid.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revenue ($m)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international growth; still U.S.-weighted.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improved to 90%, but still implies net cohort contraction without stronger expansion motion.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growth supports near-term visibility, giving room to execute retention and pricing initiatives.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Upmarket customer growth is constructive, but underwriting should still stress-test SMB churn sensitivity.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contribution remains flat, so growth plan is still predominantly U.S.-led.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diligence priorities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00" y="1010920"/>
            <a:ext cx="10195200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is improving but not yet fully proven; value hinges on renewal quality, expansion economics, and competitive differentiation versus AI-enabled alternatives.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7200" y="1408113"/>
            <a:ext cx="5036400" cy="4465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predominantly subscription revenue, contracts typically 1-3 years and non-cancelable, and sizable RPO supporting near-term forecast confidence.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shift: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Upmarket ACV share rose to 74% by Dec 31, 2025, indicating better enterprise penetration and improved ability to defend pricing.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NRR at 90% still implies cohort shrinkage absent new-logo gains and expansions; renewal quality remains the core swing factor.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diligence: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segment-level churn and expansion decomposition across SMB, mid-market, and enterprise cohorts.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408113"/>
            <a:ext cx="5036400" cy="4465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pressure: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disclosures cite overlap risk from free sources, vertical specialists, CRM ecosystems, and LLM-native entrants with lower-cost intelligence products.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disruption: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 explicitly flags seat compression risk as customers use AI to deliver outcomes with fewer users.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opportunity: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repackage into workflow and outcome-linked value metrics to reduce seat-count sensitivity over time.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priority: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a measurable NRR-to-100% program with accountable owners, stage gates, and quarterly scorecards.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platform appears scalable, but privacy operations, source rights, and ecosystem dependencies determine whether growth and margin plans are bankable.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00200"/>
            <a:ext cx="5212080" cy="457565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model: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AI/ML ingestion from millions of sources plus analyst-led quality controls appears differentiated, but diligence must verify reproducibility at scale.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commitments: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contractual quality guarantees introduce potential reimbursement and reputational risk if data freshness or accuracy slips.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resilience: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assess production uptime, ingestion bottlenecks, and monitoring maturity for critical data pipelines.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durability: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quantify concentration of value in third-party integrations and failure modes if API terms change.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38748" y="1600200"/>
            <a:ext cx="4754880" cy="457565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regime shift: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California DROP became available Jan 1, 2026, with deletion processing obligations starting Aug 1, 2026; this may raise opt-out velocity.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Litigation exposure: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FY2025 filings disclose multiple privacy-adjacent and securities actions; validate reserve assumptions and insurance coverage quality.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complexity: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Act and evolving data-transfer frameworks increase compliance burden for international scale-out plans.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produce a documented control framework for opt-outs, source-rights evidence, and auditable model governance.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legal watchlist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tightening and legal overhang are manageable only with proactive governance, tighter disclosures, and clear accountability in execution plans.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10204338" cy="448421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data brokerage rules are tightening in the U.S.; California's DROP workflow is an immediate execution risk with direct implications for dataset breadth and refresh rates.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disclosed several privacy-adjacent class actions (filed between September 5, 2024 and June 26, 2025) plus securities litigation filed September 4, 2024.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international expansion, compliance assumptions should explicitly include EU AI Act obligations and potential disruption in transatlantic data-transfer mechanisms.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critical audit matter focuses on deferred tax asset realizability, signaling forecast sensitivity under lower-growth downside cases.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a legal-risk heatmap tied to financial exposure, probability buckets, and quarterly governance checkpoints.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097280"/>
            <a:ext cx="10204338" cy="3200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prioritizes retention-led growth, monetizable AI workflows, cost discipline, and regulatory resilience with clear performance milestones.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uplift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NRR from ~90% toward 100%+ via renewal cockpit discipline, targeted save plays, and expansion playbooks by segment.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monthly churn and expansion bridges with IC-visible accountability.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monetization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AI workflows into paid modules tied to conversion and pipeline outcomes, reducing seat-based pricing dependence.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value-based pricing in Upmarket cohorts before broad rollout.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and cash discipline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mid-30%s adjusted operating margin while reducing episodic restructuring through stable org design.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high cash conversion to accelerate deleveraging in base and downside cases.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hardening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Industrialize opt-out processing, source-rights traceability, and disclosure governance to reduce legal friction.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quarterly control attestations for privacy, AI governance, and litigation readiness.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workplan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for detailed EBITDA normalization schedules, bridge notes, and management interview outputs.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7200" y="1408113"/>
            <a:ext cx="10195200" cy="4465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with detailed add-back testing and sustainability flags in management phase.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97200" y="1179513"/>
            <a:ext cx="10195200" cy="4694400"/>
          </a:xfrm>
          <a:prstGeom prst="rect">
            <a:avLst/>
          </a:prstGeom>
          <a:solidFill>
            <a:srgbClr val="A5C7E5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deep-dive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questions to close investment-critical data gaps before final underwriting.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751579"/>
          <a:ext cx="5036396" cy="914400"/>
        </p:xfrm>
        <a:graphic>
          <a:graphicData uri="http://schemas.openxmlformats.org/drawingml/2006/table">
            <a:tbl>
              <a:tblPr/>
              <a:tblGrid>
                <a:gridCol w="1413725"/>
                <a:gridCol w="1413725"/>
                <a:gridCol w="1413725"/>
                <a:gridCol w="7952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question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drives cohort churn by segment and vintage?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Validates retention recovery path and NRR assumptions.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quickly can AI modules be monetized with proven ROI?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Determines growth re-acceleration potential.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the expected impact of DROP on data breadth and freshness?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affects product quality and retention.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add-backs are truly non-recurring over a 3-year horizon?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Defines sustainable EBITDA and leverage capacity.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are TRA payment timing scenarios under change-of-control?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Impacts equity value and debt service planning.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9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are probable outcomes and cash exposure across active cases?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Frames downside valuation and covenant risk.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9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and product workstreams are the primary value drivers; close these first for underwriting confidence.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Finance, tax, and legal asks directly shape downside valuation and leverage headroom.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should be converted into quantified base/downside/upside scenarios before final IC approval.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clear owners and deadlines now so diligence findings can be actioned in the first 100 days.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and data gaps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draft uses only public information; final investment case requires management access and confirmatory diligence evidence.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10204338" cy="448421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visibility is limited to FY2026 guidance; FY2027-FY2028 values in this deck are placeholders and should be replaced after management plan review.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model treats TRA as quasi-debt and assumes no adverse acceleration beyond disclosed obligations; legal and tax diligence must confirm change-of-control mechanics.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decomposition, pricing power by segment, and seat-compression impacts require cohort-level operating data not disclosed in public filings.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Litigation and privacy exposure are directionally assessed from disclosed actions; probability-weighted outcomes and insured recoveries remain open items.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 assumptions are conservative until EU AI Act and cross-border data-transfer operating implications are fully validated.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illustrative due diligence planning using publicly available disclosures only. This material is not investment advice and should not be used as a final underwriting basis without management access, confirmatory diligence, and legal/tax review.</a:t>
            </a:r>
            <a:endParaRPr lang="en-US" sz="1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91440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Sources: SEC filings, CPPA, EU publications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ZoomInfo Technologies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ZoomInfo Due Diligence - Investment Committee Draft</dc:title>
  <dc:subject>Commercial, financial, and operational diligence</dc:subject>
  <dc:creator>KPMG Diligence+ Generator</dc:creator>
  <cp:lastModifiedBy>KPMG Diligence+ Generator</cp:lastModifiedBy>
  <cp:revision>1</cp:revision>
  <dcterms:created xsi:type="dcterms:W3CDTF">2026-02-20T04:22:06Z</dcterms:created>
  <dcterms:modified xsi:type="dcterms:W3CDTF">2026-02-20T04:22:06Z</dcterms:modified>
</cp:coreProperties>
</file>