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6.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ong-Form Text and Layout Stress Test" id="{0f55204b-01b9-34e2-c3f1-090227fab120}">
          <p14:sldIdLst/>
        </p14:section>
        <p14:section name="Default-1" id="{99425111-36ed-6327-2f98-54be0d26ad5b}">
          <p14:sldIdLst>
            <p14:sldId id="259"/>
            <p14:sldId id="260"/>
            <p14:sldId id="261"/>
            <p14:sldId id="262"/>
            <p14:sldId id="263"/>
            <p14:sldId id="264"/>
            <p14:sldId id="265"/>
            <p14:sldId id="266"/>
            <p14:sldId id="267"/>
            <p14:sldId id="268"/>
            <p14:sldId id="269"/>
          </p14:sldIdLst>
        </p14:section>
        <p14:section name="Quality of Earnings and Summary Scaffold" id="{335132d3-0aad-24b5-d3a8-b4d28e458167}">
          <p14:sldIdLst/>
        </p14:section>
        <p14:section name="Default-2" id="{cc674c69-d49b-68d0-8ff0-a133bf5d58ec}">
          <p14:sldIdLst>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Summary</c:v>
                </c:pt>
              </c:strCache>
            </c:strRef>
          </c:tx>
          <c:spPr>
            <a:solidFill>
              <a:srgbClr val="00338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11</c:v>
                </c:pt>
                <c:pt idx="1">
                  <c:v>16</c:v>
                </c:pt>
                <c:pt idx="2">
                  <c:v>21</c:v>
                </c:pt>
                <c:pt idx="3">
                  <c:v>28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Illustrative Quarterly Revenue</c:v>
                </c:pt>
              </c:strCache>
            </c:strRef>
          </c:tx>
          <c:spPr>
            <a:solidFill>
              <a:srgbClr val="00338D"/>
            </a:solidFill>
            <a:effectLst/>
          </c:spPr>
          <c:invertIfNegative val="0"/>
          <c:dLbls>
            <c:numFmt formatCode="#,##0" sourceLinked="0"/>
            <c:spPr>
              <a:solidFill>
                <a:srgbClr val="00338D"/>
              </a:solidFill>
            </c:spPr>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Sheet1!$A$2:$A$7</c:f>
              <c:multiLvlStrCache>
                <c:ptCount val="6"/>
                <c:lvl>
                  <c:pt idx="0">
                    <c:v>Q1</c:v>
                  </c:pt>
                  <c:pt idx="1">
                    <c:v>Q2</c:v>
                  </c:pt>
                  <c:pt idx="2">
                    <c:v>Q3</c:v>
                  </c:pt>
                  <c:pt idx="3">
                    <c:v>Q4</c:v>
                  </c:pt>
                  <c:pt idx="4">
                    <c:v>Q5</c:v>
                  </c:pt>
                  <c:pt idx="5">
                    <c:v>Q6</c:v>
                  </c:pt>
                </c:lvl>
              </c:multiLvlStrCache>
            </c:multiLvlStrRef>
          </c:cat>
          <c:val>
            <c:numRef>
              <c:f>Sheet1!$B$2:$B$7</c:f>
              <c:numCache>
                <c:formatCode>General</c:formatCode>
                <c:ptCount val="6"/>
                <c:pt idx="0">
                  <c:v>12</c:v>
                </c:pt>
                <c:pt idx="1">
                  <c:v>18</c:v>
                </c:pt>
                <c:pt idx="2">
                  <c:v>17</c:v>
                </c:pt>
                <c:pt idx="3">
                  <c:v>24</c:v>
                </c:pt>
                <c:pt idx="4">
                  <c:v>29</c:v>
                </c:pt>
                <c:pt idx="5">
                  <c:v>31</c:v>
                </c:pt>
              </c:numCache>
            </c:numRef>
          </c:val>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Series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10</c:v>
                </c:pt>
                <c:pt idx="1">
                  <c:v>14</c:v>
                </c:pt>
                <c:pt idx="2">
                  <c:v>19</c:v>
                </c:pt>
                <c:pt idx="3">
                  <c:v>27</c:v>
                </c:pt>
                <c:pt idx="4">
                  <c:v>35</c:v>
                </c:pt>
              </c:numCache>
            </c:numRef>
          </c:val>
        </c:ser>
        <c:ser>
          <c:idx val="1"/>
          <c:order val="1"/>
          <c:tx>
            <c:strRef>
              <c:f>Sheet1!$C$1</c:f>
              <c:strCache>
                <c:ptCount val="1"/>
                <c:pt idx="0">
                  <c:v>Series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Sheet1!$C$2:$C$6</c:f>
              <c:numCache>
                <c:formatCode>General</c:formatCode>
                <c:ptCount val="5"/>
                <c:pt idx="0">
                  <c:v>8</c:v>
                </c:pt>
                <c:pt idx="1">
                  <c:v>11</c:v>
                </c:pt>
                <c:pt idx="2">
                  <c:v>15</c:v>
                </c:pt>
                <c:pt idx="3">
                  <c:v>21</c:v>
                </c:pt>
                <c:pt idx="4">
                  <c:v>28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Series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10</c:v>
                </c:pt>
                <c:pt idx="1">
                  <c:v>14</c:v>
                </c:pt>
                <c:pt idx="2">
                  <c:v>19</c:v>
                </c:pt>
                <c:pt idx="3">
                  <c:v>27</c:v>
                </c:pt>
                <c:pt idx="4">
                  <c:v>35</c:v>
                </c:pt>
              </c:numCache>
            </c:numRef>
          </c:val>
        </c:ser>
        <c:ser>
          <c:idx val="1"/>
          <c:order val="1"/>
          <c:tx>
            <c:strRef>
              <c:f>Sheet1!$C$1</c:f>
              <c:strCache>
                <c:ptCount val="1"/>
                <c:pt idx="0">
                  <c:v>Series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Sheet1!$C$2:$C$6</c:f>
              <c:numCache>
                <c:formatCode>General</c:formatCode>
                <c:ptCount val="5"/>
                <c:pt idx="0">
                  <c:v>8</c:v>
                </c:pt>
                <c:pt idx="1">
                  <c:v>11</c:v>
                </c:pt>
                <c:pt idx="2">
                  <c:v>15</c:v>
                </c:pt>
                <c:pt idx="3">
                  <c:v>21</c:v>
                </c:pt>
                <c:pt idx="4">
                  <c:v>28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Scenario Base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Sheet1!$B$2:$B$7</c:f>
              <c:numCache>
                <c:formatCode>General</c:formatCode>
                <c:ptCount val="6"/>
                <c:pt idx="0">
                  <c:v>5</c:v>
                </c:pt>
                <c:pt idx="1">
                  <c:v>9</c:v>
                </c:pt>
                <c:pt idx="2">
                  <c:v>11</c:v>
                </c:pt>
                <c:pt idx="3">
                  <c:v>13</c:v>
                </c:pt>
                <c:pt idx="4">
                  <c:v>16</c:v>
                </c:pt>
                <c:pt idx="5">
                  <c:v>18</c:v>
                </c:pt>
              </c:numCache>
            </c:numRef>
          </c:val>
        </c:ser>
        <c:ser>
          <c:idx val="1"/>
          <c:order val="1"/>
          <c:tx>
            <c:strRef>
              <c:f>Sheet1!$C$1</c:f>
              <c:strCache>
                <c:ptCount val="1"/>
                <c:pt idx="0">
                  <c:v>Scenario Upside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Sheet1!$C$2:$C$7</c:f>
              <c:numCache>
                <c:formatCode>General</c:formatCode>
                <c:ptCount val="6"/>
                <c:pt idx="0">
                  <c:v>6</c:v>
                </c:pt>
                <c:pt idx="1">
                  <c:v>10</c:v>
                </c:pt>
                <c:pt idx="2">
                  <c:v>13</c:v>
                </c:pt>
                <c:pt idx="3">
                  <c:v>16</c:v>
                </c:pt>
                <c:pt idx="4">
                  <c:v>20</c:v>
                </c:pt>
                <c:pt idx="5">
                  <c:v>24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Scenario Base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Sheet1!$B$2:$B$7</c:f>
              <c:numCache>
                <c:formatCode>General</c:formatCode>
                <c:ptCount val="6"/>
                <c:pt idx="0">
                  <c:v>5</c:v>
                </c:pt>
                <c:pt idx="1">
                  <c:v>9</c:v>
                </c:pt>
                <c:pt idx="2">
                  <c:v>11</c:v>
                </c:pt>
                <c:pt idx="3">
                  <c:v>13</c:v>
                </c:pt>
                <c:pt idx="4">
                  <c:v>16</c:v>
                </c:pt>
                <c:pt idx="5">
                  <c:v>18</c:v>
                </c:pt>
              </c:numCache>
            </c:numRef>
          </c:val>
        </c:ser>
        <c:ser>
          <c:idx val="1"/>
          <c:order val="1"/>
          <c:tx>
            <c:strRef>
              <c:f>Sheet1!$C$1</c:f>
              <c:strCache>
                <c:ptCount val="1"/>
                <c:pt idx="0">
                  <c:v>Scenario Upside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Sheet1!$C$2:$C$7</c:f>
              <c:numCache>
                <c:formatCode>General</c:formatCode>
                <c:ptCount val="6"/>
                <c:pt idx="0">
                  <c:v>6</c:v>
                </c:pt>
                <c:pt idx="1">
                  <c:v>10</c:v>
                </c:pt>
                <c:pt idx="2">
                  <c:v>13</c:v>
                </c:pt>
                <c:pt idx="3">
                  <c:v>16</c:v>
                </c:pt>
                <c:pt idx="4">
                  <c:v>20</c:v>
                </c:pt>
                <c:pt idx="5">
                  <c:v>24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[year] [legal member firm name], a [jurisdiction] [legal structure]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5" name="Text 2"/>
          <p:cNvSpPr/>
          <p:nvPr/>
        </p:nvSpPr>
        <p:spPr>
          <a:xfrm>
            <a:off x="11448288" y="6556248"/>
            <a:ext cx="621792" cy="164592"/>
          </a:xfrm>
          <a:prstGeom prst="rect">
            <a:avLst/>
          </a:prstGeom>
          <a:noFill/>
          <a:ln/>
        </p:spPr>
        <p:txBody>
          <a:bodyPr wrap="square" rtlCol="0" anchor="ctr"/>
          <a:lstStyle/>
          <a:p>
            <a:pPr algn="r" indent="0" marL="0">
              <a:buNone/>
            </a:pPr>
            <a:r>
              <a:rPr lang="en-US" sz="1400" b="1" dirty="0">
                <a:solidFill>
                  <a:srgbClr val="FD349C"/>
                </a:solidFill>
                <a:latin typeface="Arial" pitchFamily="34" charset="0"/>
                <a:ea typeface="Arial" pitchFamily="34" charset="-122"/>
                <a:cs typeface="Arial" pitchFamily="34" charset="-120"/>
              </a:rPr>
              <a:t>DRAFT</a:t>
            </a:r>
            <a:endParaRPr lang="en-US" sz="1400" dirty="0"/>
          </a:p>
        </p:txBody>
      </p:sp>
      <p:sp>
        <p:nvSpPr>
          <p:cNvPr id="6" name="Shape 3"/>
          <p:cNvSpPr/>
          <p:nvPr/>
        </p:nvSpPr>
        <p:spPr>
          <a:xfrm>
            <a:off x="10874045" y="6267298"/>
            <a:ext cx="0" cy="149047"/>
          </a:xfrm>
          <a:prstGeom prst="line">
            <a:avLst/>
          </a:prstGeom>
          <a:noFill/>
          <a:ln w="12700">
            <a:solidFill>
              <a:srgbClr val="1E49E2"/>
            </a:solidFill>
            <a:prstDash val="solid"/>
          </a:ln>
        </p:spPr>
      </p:sp>
      <p:sp>
        <p:nvSpPr>
          <p:cNvPr id="7" name="Text 4"/>
          <p:cNvSpPr/>
          <p:nvPr/>
        </p:nvSpPr>
        <p:spPr>
          <a:xfrm>
            <a:off x="10908792"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8" name="Text 5"/>
          <p:cNvSpPr/>
          <p:nvPr/>
        </p:nvSpPr>
        <p:spPr>
          <a:xfrm>
            <a:off x="11128248"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9" name="Text 6"/>
          <p:cNvSpPr/>
          <p:nvPr/>
        </p:nvSpPr>
        <p:spPr>
          <a:xfrm>
            <a:off x="11347704"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10" name="Text 7"/>
          <p:cNvSpPr/>
          <p:nvPr/>
        </p:nvSpPr>
        <p:spPr>
          <a:xfrm>
            <a:off x="11567160"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[year] [legal member firm name], a [jurisdiction] [legal structure]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Text 2"/>
          <p:cNvSpPr/>
          <p:nvPr/>
        </p:nvSpPr>
        <p:spPr>
          <a:xfrm>
            <a:off x="11448288" y="6556248"/>
            <a:ext cx="621792" cy="164592"/>
          </a:xfrm>
          <a:prstGeom prst="rect">
            <a:avLst/>
          </a:prstGeom>
          <a:noFill/>
          <a:ln/>
        </p:spPr>
        <p:txBody>
          <a:bodyPr wrap="square" rtlCol="0" anchor="ctr"/>
          <a:lstStyle/>
          <a:p>
            <a:pPr algn="r" indent="0" marL="0">
              <a:buNone/>
            </a:pPr>
            <a:r>
              <a:rPr lang="en-US" sz="1400" b="1" dirty="0">
                <a:solidFill>
                  <a:srgbClr val="FD349C"/>
                </a:solidFill>
                <a:latin typeface="Arial" pitchFamily="34" charset="0"/>
                <a:ea typeface="Arial" pitchFamily="34" charset="-122"/>
                <a:cs typeface="Arial" pitchFamily="34" charset="-120"/>
              </a:rPr>
              <a:t>DRAFT</a:t>
            </a:r>
            <a:endParaRPr lang="en-US" sz="1400" dirty="0"/>
          </a:p>
        </p:txBody>
      </p:sp>
      <p:sp>
        <p:nvSpPr>
          <p:cNvPr id="7" name="Shape 3"/>
          <p:cNvSpPr/>
          <p:nvPr/>
        </p:nvSpPr>
        <p:spPr>
          <a:xfrm>
            <a:off x="10874045" y="6267298"/>
            <a:ext cx="0" cy="149047"/>
          </a:xfrm>
          <a:prstGeom prst="line">
            <a:avLst/>
          </a:prstGeom>
          <a:noFill/>
          <a:ln w="12700">
            <a:solidFill>
              <a:srgbClr val="1E49E2"/>
            </a:solidFill>
            <a:prstDash val="solid"/>
          </a:ln>
        </p:spPr>
      </p:sp>
      <p:sp>
        <p:nvSpPr>
          <p:cNvPr id="8" name="Text 4"/>
          <p:cNvSpPr/>
          <p:nvPr/>
        </p:nvSpPr>
        <p:spPr>
          <a:xfrm>
            <a:off x="10908792"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9" name="Text 5"/>
          <p:cNvSpPr/>
          <p:nvPr/>
        </p:nvSpPr>
        <p:spPr>
          <a:xfrm>
            <a:off x="11128248"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10" name="Text 6"/>
          <p:cNvSpPr/>
          <p:nvPr/>
        </p:nvSpPr>
        <p:spPr>
          <a:xfrm>
            <a:off x="11347704"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11" name="Text 7"/>
          <p:cNvSpPr/>
          <p:nvPr/>
        </p:nvSpPr>
        <p:spPr>
          <a:xfrm>
            <a:off x="11567160"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kpmg.com" TargetMode="External"/><Relationship Id="rId2" Type="http://schemas.openxmlformats.org/officeDocument/2006/relationships/slideLayout" Target="../slideLayouts/slideLayout8.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Lorem Ipsum Generator Stress Test</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Comprehensive placeholder-content run February 2026</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995782" y="431597"/>
            <a:ext cx="2743200" cy="566928"/>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Contents</a:t>
            </a:r>
            <a:endParaRPr lang="en-US" sz="3200" dirty="0"/>
          </a:p>
        </p:txBody>
      </p:sp>
      <p:sp>
        <p:nvSpPr>
          <p:cNvPr id="3" name="Text 1"/>
          <p:cNvSpPr/>
          <p:nvPr/>
        </p:nvSpPr>
        <p:spPr>
          <a:xfrm>
            <a:off x="995782"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01</a:t>
            </a:r>
            <a:endParaRPr lang="en-US" sz="3400" dirty="0"/>
          </a:p>
        </p:txBody>
      </p:sp>
      <p:sp>
        <p:nvSpPr>
          <p:cNvPr id="4" name="Shape 2"/>
          <p:cNvSpPr/>
          <p:nvPr/>
        </p:nvSpPr>
        <p:spPr>
          <a:xfrm>
            <a:off x="995782" y="1737360"/>
            <a:ext cx="502920" cy="0"/>
          </a:xfrm>
          <a:prstGeom prst="line">
            <a:avLst/>
          </a:prstGeom>
          <a:noFill/>
          <a:ln w="12700">
            <a:solidFill>
              <a:srgbClr val="00338D"/>
            </a:solidFill>
            <a:prstDash val="solid"/>
          </a:ln>
        </p:spPr>
      </p:sp>
      <p:sp>
        <p:nvSpPr>
          <p:cNvPr id="5" name="Text 3"/>
          <p:cNvSpPr/>
          <p:nvPr/>
        </p:nvSpPr>
        <p:spPr>
          <a:xfrm>
            <a:off x="995782"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Executive summary</a:t>
            </a:r>
            <a:endParaRPr lang="en-US" sz="1200" dirty="0"/>
          </a:p>
        </p:txBody>
      </p:sp>
      <p:sp>
        <p:nvSpPr>
          <p:cNvPr id="6" name="Text 4"/>
          <p:cNvSpPr/>
          <p:nvPr/>
        </p:nvSpPr>
        <p:spPr>
          <a:xfrm>
            <a:off x="995782"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3-25)</a:t>
            </a:r>
            <a:endParaRPr lang="en-US" sz="1000" dirty="0"/>
          </a:p>
        </p:txBody>
      </p:sp>
      <p:sp>
        <p:nvSpPr>
          <p:cNvPr id="7" name="Text 5"/>
          <p:cNvSpPr/>
          <p:nvPr/>
        </p:nvSpPr>
        <p:spPr>
          <a:xfrm>
            <a:off x="995782"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Business overview</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Summary financials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Key findings</a:t>
            </a:r>
            <a:endParaRPr lang="en-US" sz="1000" dirty="0"/>
          </a:p>
        </p:txBody>
      </p:sp>
      <p:sp>
        <p:nvSpPr>
          <p:cNvPr id="8" name="Text 6"/>
          <p:cNvSpPr/>
          <p:nvPr/>
        </p:nvSpPr>
        <p:spPr>
          <a:xfrm>
            <a:off x="3068361"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02</a:t>
            </a:r>
            <a:endParaRPr lang="en-US" sz="3400" dirty="0"/>
          </a:p>
        </p:txBody>
      </p:sp>
      <p:sp>
        <p:nvSpPr>
          <p:cNvPr id="9" name="Shape 7"/>
          <p:cNvSpPr/>
          <p:nvPr/>
        </p:nvSpPr>
        <p:spPr>
          <a:xfrm>
            <a:off x="3068361" y="1737360"/>
            <a:ext cx="502920" cy="0"/>
          </a:xfrm>
          <a:prstGeom prst="line">
            <a:avLst/>
          </a:prstGeom>
          <a:noFill/>
          <a:ln w="12700">
            <a:solidFill>
              <a:srgbClr val="00338D"/>
            </a:solidFill>
            <a:prstDash val="solid"/>
          </a:ln>
        </p:spPr>
      </p:sp>
      <p:sp>
        <p:nvSpPr>
          <p:cNvPr id="10" name="Text 8"/>
          <p:cNvSpPr/>
          <p:nvPr/>
        </p:nvSpPr>
        <p:spPr>
          <a:xfrm>
            <a:off x="3068361"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Historical trading</a:t>
            </a:r>
            <a:endParaRPr lang="en-US" sz="1200" dirty="0"/>
          </a:p>
        </p:txBody>
      </p:sp>
      <p:sp>
        <p:nvSpPr>
          <p:cNvPr id="11" name="Text 9"/>
          <p:cNvSpPr/>
          <p:nvPr/>
        </p:nvSpPr>
        <p:spPr>
          <a:xfrm>
            <a:off x="3068361"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26-35)</a:t>
            </a:r>
            <a:endParaRPr lang="en-US" sz="1000" dirty="0"/>
          </a:p>
        </p:txBody>
      </p:sp>
      <p:sp>
        <p:nvSpPr>
          <p:cNvPr id="12" name="Text 10"/>
          <p:cNvSpPr/>
          <p:nvPr/>
        </p:nvSpPr>
        <p:spPr>
          <a:xfrm>
            <a:off x="3068361"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Profit &amp; loss overview</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Quality of earnings</a:t>
            </a:r>
            <a:endParaRPr lang="en-US" sz="1000" dirty="0"/>
          </a:p>
        </p:txBody>
      </p:sp>
      <p:sp>
        <p:nvSpPr>
          <p:cNvPr id="13" name="Text 11"/>
          <p:cNvSpPr/>
          <p:nvPr/>
        </p:nvSpPr>
        <p:spPr>
          <a:xfrm>
            <a:off x="5140940"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03</a:t>
            </a:r>
            <a:endParaRPr lang="en-US" sz="3400" dirty="0"/>
          </a:p>
        </p:txBody>
      </p:sp>
      <p:sp>
        <p:nvSpPr>
          <p:cNvPr id="14" name="Shape 12"/>
          <p:cNvSpPr/>
          <p:nvPr/>
        </p:nvSpPr>
        <p:spPr>
          <a:xfrm>
            <a:off x="5140940" y="1737360"/>
            <a:ext cx="502920" cy="0"/>
          </a:xfrm>
          <a:prstGeom prst="line">
            <a:avLst/>
          </a:prstGeom>
          <a:noFill/>
          <a:ln w="12700">
            <a:solidFill>
              <a:srgbClr val="00338D"/>
            </a:solidFill>
            <a:prstDash val="solid"/>
          </a:ln>
        </p:spPr>
      </p:sp>
      <p:sp>
        <p:nvSpPr>
          <p:cNvPr id="15" name="Text 13"/>
          <p:cNvSpPr/>
          <p:nvPr/>
        </p:nvSpPr>
        <p:spPr>
          <a:xfrm>
            <a:off x="5140940"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Forecast trading</a:t>
            </a:r>
            <a:endParaRPr lang="en-US" sz="1200" dirty="0"/>
          </a:p>
        </p:txBody>
      </p:sp>
      <p:sp>
        <p:nvSpPr>
          <p:cNvPr id="16" name="Text 14"/>
          <p:cNvSpPr/>
          <p:nvPr/>
        </p:nvSpPr>
        <p:spPr>
          <a:xfrm>
            <a:off x="5140940"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36-43)</a:t>
            </a:r>
            <a:endParaRPr lang="en-US" sz="1000" dirty="0"/>
          </a:p>
        </p:txBody>
      </p:sp>
      <p:sp>
        <p:nvSpPr>
          <p:cNvPr id="17" name="Text 15"/>
          <p:cNvSpPr/>
          <p:nvPr/>
        </p:nvSpPr>
        <p:spPr>
          <a:xfrm>
            <a:off x="5140940"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Forecast overview</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Forecast assumptions</a:t>
            </a:r>
            <a:endParaRPr lang="en-US" sz="1000" dirty="0"/>
          </a:p>
        </p:txBody>
      </p:sp>
      <p:sp>
        <p:nvSpPr>
          <p:cNvPr id="18" name="Text 16"/>
          <p:cNvSpPr/>
          <p:nvPr/>
        </p:nvSpPr>
        <p:spPr>
          <a:xfrm>
            <a:off x="7213519"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04</a:t>
            </a:r>
            <a:endParaRPr lang="en-US" sz="3400" dirty="0"/>
          </a:p>
        </p:txBody>
      </p:sp>
      <p:sp>
        <p:nvSpPr>
          <p:cNvPr id="19" name="Shape 17"/>
          <p:cNvSpPr/>
          <p:nvPr/>
        </p:nvSpPr>
        <p:spPr>
          <a:xfrm>
            <a:off x="7213519" y="1737360"/>
            <a:ext cx="502920" cy="0"/>
          </a:xfrm>
          <a:prstGeom prst="line">
            <a:avLst/>
          </a:prstGeom>
          <a:noFill/>
          <a:ln w="12700">
            <a:solidFill>
              <a:srgbClr val="00338D"/>
            </a:solidFill>
            <a:prstDash val="solid"/>
          </a:ln>
        </p:spPr>
      </p:sp>
      <p:sp>
        <p:nvSpPr>
          <p:cNvPr id="20" name="Text 18"/>
          <p:cNvSpPr/>
          <p:nvPr/>
        </p:nvSpPr>
        <p:spPr>
          <a:xfrm>
            <a:off x="7213519"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Balance sheet</a:t>
            </a:r>
            <a:endParaRPr lang="en-US" sz="1200" dirty="0"/>
          </a:p>
        </p:txBody>
      </p:sp>
      <p:sp>
        <p:nvSpPr>
          <p:cNvPr id="21" name="Text 19"/>
          <p:cNvSpPr/>
          <p:nvPr/>
        </p:nvSpPr>
        <p:spPr>
          <a:xfrm>
            <a:off x="7213519"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44-48)</a:t>
            </a:r>
            <a:endParaRPr lang="en-US" sz="1000" dirty="0"/>
          </a:p>
        </p:txBody>
      </p:sp>
      <p:sp>
        <p:nvSpPr>
          <p:cNvPr id="22" name="Text 20"/>
          <p:cNvSpPr/>
          <p:nvPr/>
        </p:nvSpPr>
        <p:spPr>
          <a:xfrm>
            <a:off x="7213519"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Balance sheet overview</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Net debt</a:t>
            </a:r>
            <a:endParaRPr lang="en-US" sz="1000" dirty="0"/>
          </a:p>
        </p:txBody>
      </p:sp>
      <p:sp>
        <p:nvSpPr>
          <p:cNvPr id="23" name="Text 21"/>
          <p:cNvSpPr/>
          <p:nvPr/>
        </p:nvSpPr>
        <p:spPr>
          <a:xfrm>
            <a:off x="9286098"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05</a:t>
            </a:r>
            <a:endParaRPr lang="en-US" sz="3400" dirty="0"/>
          </a:p>
        </p:txBody>
      </p:sp>
      <p:sp>
        <p:nvSpPr>
          <p:cNvPr id="24" name="Shape 22"/>
          <p:cNvSpPr/>
          <p:nvPr/>
        </p:nvSpPr>
        <p:spPr>
          <a:xfrm>
            <a:off x="9286098" y="1737360"/>
            <a:ext cx="502920" cy="0"/>
          </a:xfrm>
          <a:prstGeom prst="line">
            <a:avLst/>
          </a:prstGeom>
          <a:noFill/>
          <a:ln w="12700">
            <a:solidFill>
              <a:srgbClr val="00338D"/>
            </a:solidFill>
            <a:prstDash val="solid"/>
          </a:ln>
        </p:spPr>
      </p:sp>
      <p:sp>
        <p:nvSpPr>
          <p:cNvPr id="25" name="Text 23"/>
          <p:cNvSpPr/>
          <p:nvPr/>
        </p:nvSpPr>
        <p:spPr>
          <a:xfrm>
            <a:off x="9286098"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Cash flows</a:t>
            </a:r>
            <a:endParaRPr lang="en-US" sz="1200" dirty="0"/>
          </a:p>
        </p:txBody>
      </p:sp>
      <p:sp>
        <p:nvSpPr>
          <p:cNvPr id="26" name="Text 24"/>
          <p:cNvSpPr/>
          <p:nvPr/>
        </p:nvSpPr>
        <p:spPr>
          <a:xfrm>
            <a:off x="9286098"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49-50)</a:t>
            </a:r>
            <a:endParaRPr lang="en-US" sz="1000" dirty="0"/>
          </a:p>
        </p:txBody>
      </p:sp>
      <p:sp>
        <p:nvSpPr>
          <p:cNvPr id="27" name="Text 25"/>
          <p:cNvSpPr/>
          <p:nvPr/>
        </p:nvSpPr>
        <p:spPr>
          <a:xfrm>
            <a:off x="9286098"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Operating cash flows</a:t>
            </a:r>
            <a:endParaRPr lang="en-US" sz="1000" dirty="0"/>
          </a:p>
        </p:txBody>
      </p:sp>
      <p:sp>
        <p:nvSpPr>
          <p:cNvPr id="28" name="Text 26"/>
          <p:cNvSpPr/>
          <p:nvPr/>
        </p:nvSpPr>
        <p:spPr>
          <a:xfrm>
            <a:off x="995782"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06</a:t>
            </a:r>
            <a:endParaRPr lang="en-US" sz="3400" dirty="0"/>
          </a:p>
        </p:txBody>
      </p:sp>
      <p:sp>
        <p:nvSpPr>
          <p:cNvPr id="29" name="Shape 27"/>
          <p:cNvSpPr/>
          <p:nvPr/>
        </p:nvSpPr>
        <p:spPr>
          <a:xfrm>
            <a:off x="995782" y="4169664"/>
            <a:ext cx="502920" cy="0"/>
          </a:xfrm>
          <a:prstGeom prst="line">
            <a:avLst/>
          </a:prstGeom>
          <a:noFill/>
          <a:ln w="12700">
            <a:solidFill>
              <a:srgbClr val="00338D"/>
            </a:solidFill>
            <a:prstDash val="solid"/>
          </a:ln>
        </p:spPr>
      </p:sp>
      <p:sp>
        <p:nvSpPr>
          <p:cNvPr id="30" name="Text 28"/>
          <p:cNvSpPr/>
          <p:nvPr/>
        </p:nvSpPr>
        <p:spPr>
          <a:xfrm>
            <a:off x="995782"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Reporting</a:t>
            </a:r>
            <a:endParaRPr lang="en-US" sz="1200" dirty="0"/>
          </a:p>
        </p:txBody>
      </p:sp>
      <p:sp>
        <p:nvSpPr>
          <p:cNvPr id="31" name="Text 29"/>
          <p:cNvSpPr/>
          <p:nvPr/>
        </p:nvSpPr>
        <p:spPr>
          <a:xfrm>
            <a:off x="995782"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51-53)</a:t>
            </a:r>
            <a:endParaRPr lang="en-US" sz="1000" dirty="0"/>
          </a:p>
        </p:txBody>
      </p:sp>
      <p:sp>
        <p:nvSpPr>
          <p:cNvPr id="32" name="Text 30"/>
          <p:cNvSpPr/>
          <p:nvPr/>
        </p:nvSpPr>
        <p:spPr>
          <a:xfrm>
            <a:off x="995782"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Reporting environment</a:t>
            </a:r>
            <a:endParaRPr lang="en-US" sz="1000" dirty="0"/>
          </a:p>
        </p:txBody>
      </p:sp>
      <p:sp>
        <p:nvSpPr>
          <p:cNvPr id="33" name="Text 31"/>
          <p:cNvSpPr/>
          <p:nvPr/>
        </p:nvSpPr>
        <p:spPr>
          <a:xfrm>
            <a:off x="3068361"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07</a:t>
            </a:r>
            <a:endParaRPr lang="en-US" sz="3400" dirty="0"/>
          </a:p>
        </p:txBody>
      </p:sp>
      <p:sp>
        <p:nvSpPr>
          <p:cNvPr id="34" name="Shape 32"/>
          <p:cNvSpPr/>
          <p:nvPr/>
        </p:nvSpPr>
        <p:spPr>
          <a:xfrm>
            <a:off x="3068361" y="4169664"/>
            <a:ext cx="502920" cy="0"/>
          </a:xfrm>
          <a:prstGeom prst="line">
            <a:avLst/>
          </a:prstGeom>
          <a:noFill/>
          <a:ln w="12700">
            <a:solidFill>
              <a:srgbClr val="00338D"/>
            </a:solidFill>
            <a:prstDash val="solid"/>
          </a:ln>
        </p:spPr>
      </p:sp>
      <p:sp>
        <p:nvSpPr>
          <p:cNvPr id="35" name="Text 33"/>
          <p:cNvSpPr/>
          <p:nvPr/>
        </p:nvSpPr>
        <p:spPr>
          <a:xfrm>
            <a:off x="3068361"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Value creation</a:t>
            </a:r>
            <a:endParaRPr lang="en-US" sz="1200" dirty="0"/>
          </a:p>
        </p:txBody>
      </p:sp>
      <p:sp>
        <p:nvSpPr>
          <p:cNvPr id="36" name="Text 34"/>
          <p:cNvSpPr/>
          <p:nvPr/>
        </p:nvSpPr>
        <p:spPr>
          <a:xfrm>
            <a:off x="3068361"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54-60)</a:t>
            </a:r>
            <a:endParaRPr lang="en-US" sz="1000" dirty="0"/>
          </a:p>
        </p:txBody>
      </p:sp>
      <p:sp>
        <p:nvSpPr>
          <p:cNvPr id="37" name="Text 35"/>
          <p:cNvSpPr/>
          <p:nvPr/>
        </p:nvSpPr>
        <p:spPr>
          <a:xfrm>
            <a:off x="3068361"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Financial benchmarking</a:t>
            </a:r>
            <a:endParaRPr lang="en-US" sz="1000" dirty="0"/>
          </a:p>
        </p:txBody>
      </p:sp>
      <p:sp>
        <p:nvSpPr>
          <p:cNvPr id="38" name="Text 36"/>
          <p:cNvSpPr/>
          <p:nvPr/>
        </p:nvSpPr>
        <p:spPr>
          <a:xfrm>
            <a:off x="5140940"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08</a:t>
            </a:r>
            <a:endParaRPr lang="en-US" sz="3400" dirty="0"/>
          </a:p>
        </p:txBody>
      </p:sp>
      <p:sp>
        <p:nvSpPr>
          <p:cNvPr id="39" name="Shape 37"/>
          <p:cNvSpPr/>
          <p:nvPr/>
        </p:nvSpPr>
        <p:spPr>
          <a:xfrm>
            <a:off x="5140940" y="4169664"/>
            <a:ext cx="502920" cy="0"/>
          </a:xfrm>
          <a:prstGeom prst="line">
            <a:avLst/>
          </a:prstGeom>
          <a:noFill/>
          <a:ln w="12700">
            <a:solidFill>
              <a:srgbClr val="00338D"/>
            </a:solidFill>
            <a:prstDash val="solid"/>
          </a:ln>
        </p:spPr>
      </p:sp>
      <p:sp>
        <p:nvSpPr>
          <p:cNvPr id="40" name="Text 38"/>
          <p:cNvSpPr/>
          <p:nvPr/>
        </p:nvSpPr>
        <p:spPr>
          <a:xfrm>
            <a:off x="5140940"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Pre-Deal PPA</a:t>
            </a:r>
            <a:endParaRPr lang="en-US" sz="1200" dirty="0"/>
          </a:p>
        </p:txBody>
      </p:sp>
      <p:sp>
        <p:nvSpPr>
          <p:cNvPr id="41" name="Text 39"/>
          <p:cNvSpPr/>
          <p:nvPr/>
        </p:nvSpPr>
        <p:spPr>
          <a:xfrm>
            <a:off x="5140940"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61-65)</a:t>
            </a:r>
            <a:endParaRPr lang="en-US" sz="1000" dirty="0"/>
          </a:p>
        </p:txBody>
      </p:sp>
      <p:sp>
        <p:nvSpPr>
          <p:cNvPr id="42" name="Text 40"/>
          <p:cNvSpPr/>
          <p:nvPr/>
        </p:nvSpPr>
        <p:spPr>
          <a:xfrm>
            <a:off x="5140940"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Methodology &amp; procedures</a:t>
            </a:r>
            <a:endParaRPr lang="en-US" sz="1000" dirty="0"/>
          </a:p>
        </p:txBody>
      </p:sp>
      <p:sp>
        <p:nvSpPr>
          <p:cNvPr id="43" name="Text 41"/>
          <p:cNvSpPr/>
          <p:nvPr/>
        </p:nvSpPr>
        <p:spPr>
          <a:xfrm>
            <a:off x="7213519"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09</a:t>
            </a:r>
            <a:endParaRPr lang="en-US" sz="3400" dirty="0"/>
          </a:p>
        </p:txBody>
      </p:sp>
      <p:sp>
        <p:nvSpPr>
          <p:cNvPr id="44" name="Shape 42"/>
          <p:cNvSpPr/>
          <p:nvPr/>
        </p:nvSpPr>
        <p:spPr>
          <a:xfrm>
            <a:off x="7213519" y="4169664"/>
            <a:ext cx="502920" cy="0"/>
          </a:xfrm>
          <a:prstGeom prst="line">
            <a:avLst/>
          </a:prstGeom>
          <a:noFill/>
          <a:ln w="12700">
            <a:solidFill>
              <a:srgbClr val="00338D"/>
            </a:solidFill>
            <a:prstDash val="solid"/>
          </a:ln>
        </p:spPr>
      </p:sp>
      <p:sp>
        <p:nvSpPr>
          <p:cNvPr id="45" name="Text 43"/>
          <p:cNvSpPr/>
          <p:nvPr/>
        </p:nvSpPr>
        <p:spPr>
          <a:xfrm>
            <a:off x="7213519"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Taxation</a:t>
            </a:r>
            <a:endParaRPr lang="en-US" sz="1200" dirty="0"/>
          </a:p>
        </p:txBody>
      </p:sp>
      <p:sp>
        <p:nvSpPr>
          <p:cNvPr id="46" name="Text 44"/>
          <p:cNvSpPr/>
          <p:nvPr/>
        </p:nvSpPr>
        <p:spPr>
          <a:xfrm>
            <a:off x="7213519"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66-68)</a:t>
            </a:r>
            <a:endParaRPr lang="en-US" sz="1000" dirty="0"/>
          </a:p>
        </p:txBody>
      </p:sp>
      <p:sp>
        <p:nvSpPr>
          <p:cNvPr id="47" name="Text 45"/>
          <p:cNvSpPr/>
          <p:nvPr/>
        </p:nvSpPr>
        <p:spPr>
          <a:xfrm>
            <a:off x="7213519"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Add title</a:t>
            </a:r>
            <a:endParaRPr lang="en-US" sz="1000" dirty="0"/>
          </a:p>
        </p:txBody>
      </p:sp>
      <p:sp>
        <p:nvSpPr>
          <p:cNvPr id="48" name="Text 46"/>
          <p:cNvSpPr/>
          <p:nvPr/>
        </p:nvSpPr>
        <p:spPr>
          <a:xfrm>
            <a:off x="9286098"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10</a:t>
            </a:r>
            <a:endParaRPr lang="en-US" sz="3400" dirty="0"/>
          </a:p>
        </p:txBody>
      </p:sp>
      <p:sp>
        <p:nvSpPr>
          <p:cNvPr id="49" name="Shape 47"/>
          <p:cNvSpPr/>
          <p:nvPr/>
        </p:nvSpPr>
        <p:spPr>
          <a:xfrm>
            <a:off x="9286098" y="4169664"/>
            <a:ext cx="502920" cy="0"/>
          </a:xfrm>
          <a:prstGeom prst="line">
            <a:avLst/>
          </a:prstGeom>
          <a:noFill/>
          <a:ln w="12700">
            <a:solidFill>
              <a:srgbClr val="00338D"/>
            </a:solidFill>
            <a:prstDash val="solid"/>
          </a:ln>
        </p:spPr>
      </p:sp>
      <p:sp>
        <p:nvSpPr>
          <p:cNvPr id="50" name="Text 48"/>
          <p:cNvSpPr/>
          <p:nvPr/>
        </p:nvSpPr>
        <p:spPr>
          <a:xfrm>
            <a:off x="9286098"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Appendices</a:t>
            </a:r>
            <a:endParaRPr lang="en-US" sz="1200" dirty="0"/>
          </a:p>
        </p:txBody>
      </p:sp>
      <p:sp>
        <p:nvSpPr>
          <p:cNvPr id="51" name="Text 49"/>
          <p:cNvSpPr/>
          <p:nvPr/>
        </p:nvSpPr>
        <p:spPr>
          <a:xfrm>
            <a:off x="9286098"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69-77)</a:t>
            </a:r>
            <a:endParaRPr lang="en-US" sz="1000" dirty="0"/>
          </a:p>
        </p:txBody>
      </p:sp>
      <p:sp>
        <p:nvSpPr>
          <p:cNvPr id="52" name="Text 50"/>
          <p:cNvSpPr/>
          <p:nvPr/>
        </p:nvSpPr>
        <p:spPr>
          <a:xfrm>
            <a:off x="9286098"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Engagement appendices</a:t>
            </a:r>
            <a:endParaRPr lang="en-US" sz="1000" dirty="0"/>
          </a:p>
        </p:txBody>
      </p:sp>
      <p:sp>
        <p:nvSpPr>
          <p:cNvPr id="53" name="Text 51"/>
          <p:cNvSpPr/>
          <p:nvPr/>
        </p:nvSpPr>
        <p:spPr>
          <a:xfrm>
            <a:off x="10607040" y="475488"/>
            <a:ext cx="640080" cy="164592"/>
          </a:xfrm>
          <a:prstGeom prst="rect">
            <a:avLst/>
          </a:prstGeom>
          <a:noFill/>
          <a:ln/>
        </p:spPr>
        <p:txBody>
          <a:bodyPr wrap="square" lIns="0" tIns="0" rIns="0" bIns="0" rtlCol="0" anchor="t"/>
          <a:lstStyle/>
          <a:p>
            <a:pPr algn="r" indent="0" marL="0">
              <a:buNone/>
            </a:pPr>
            <a:r>
              <a:rPr lang="en-US" sz="1000" dirty="0">
                <a:solidFill>
                  <a:srgbClr val="00338D"/>
                </a:solidFill>
                <a:latin typeface="Arial" pitchFamily="34" charset="0"/>
                <a:ea typeface="Arial" pitchFamily="34" charset="-122"/>
                <a:cs typeface="Arial" pitchFamily="34" charset="-120"/>
              </a:rPr>
              <a:t>Glossary</a:t>
            </a:r>
            <a:endParaRPr lang="en-US" sz="1000" dirty="0"/>
          </a:p>
        </p:txBody>
      </p:sp>
      <p:sp>
        <p:nvSpPr>
          <p:cNvPr id="54" name="Text 52"/>
          <p:cNvSpPr/>
          <p:nvPr/>
        </p:nvSpPr>
        <p:spPr>
          <a:xfrm>
            <a:off x="10451592" y="786384"/>
            <a:ext cx="795528" cy="164592"/>
          </a:xfrm>
          <a:prstGeom prst="rect">
            <a:avLst/>
          </a:prstGeom>
          <a:noFill/>
          <a:ln/>
        </p:spPr>
        <p:txBody>
          <a:bodyPr wrap="square" lIns="0" tIns="0" rIns="0" bIns="0" rtlCol="0" anchor="t"/>
          <a:lstStyle/>
          <a:p>
            <a:pPr algn="r" indent="0" marL="0">
              <a:buNone/>
            </a:pPr>
            <a:r>
              <a:rPr lang="en-US" sz="1000" dirty="0">
                <a:solidFill>
                  <a:srgbClr val="00338D"/>
                </a:solidFill>
                <a:latin typeface="Arial" pitchFamily="34" charset="0"/>
                <a:ea typeface="Arial" pitchFamily="34" charset="-122"/>
                <a:cs typeface="Arial" pitchFamily="34" charset="-120"/>
              </a:rPr>
              <a:t>KPMG contacts</a:t>
            </a:r>
            <a:endParaRPr lang="en-US" sz="1000" dirty="0"/>
          </a:p>
        </p:txBody>
      </p:sp>
      <p:sp>
        <p:nvSpPr>
          <p:cNvPr id="55" name="Text 5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8525" y="431597"/>
            <a:ext cx="10195560" cy="533095"/>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Profit &amp; loss overview</a:t>
            </a:r>
            <a:endParaRPr lang="en-US" sz="3200" dirty="0"/>
          </a:p>
        </p:txBody>
      </p:sp>
      <p:sp>
        <p:nvSpPr>
          <p:cNvPr id="3" name="Shape 1"/>
          <p:cNvSpPr/>
          <p:nvPr/>
        </p:nvSpPr>
        <p:spPr>
          <a:xfrm>
            <a:off x="995782" y="1179576"/>
            <a:ext cx="7587691" cy="482803"/>
          </a:xfrm>
          <a:prstGeom prst="rect">
            <a:avLst/>
          </a:prstGeom>
          <a:solidFill>
            <a:srgbClr val="FFFFFF">
              <a:alpha val="0"/>
            </a:srgbClr>
          </a:solidFill>
          <a:ln w="12700">
            <a:solidFill>
              <a:srgbClr val="9E9E9E"/>
            </a:solidFill>
            <a:prstDash val="solid"/>
          </a:ln>
        </p:spPr>
      </p:sp>
      <p:sp>
        <p:nvSpPr>
          <p:cNvPr id="4" name="Text 2"/>
          <p:cNvSpPr/>
          <p:nvPr/>
        </p:nvSpPr>
        <p:spPr>
          <a:xfrm>
            <a:off x="995782" y="1179576"/>
            <a:ext cx="7587691" cy="482803"/>
          </a:xfrm>
          <a:prstGeom prst="rect">
            <a:avLst/>
          </a:prstGeom>
          <a:noFill/>
          <a:ln/>
        </p:spPr>
        <p:txBody>
          <a:bodyPr wrap="square" lIns="46800" tIns="72000" rIns="90000" bIns="46800" rtlCol="0" anchor="t"/>
          <a:lstStyle/>
          <a:p>
            <a:pPr indent="0" marL="0">
              <a:buNone/>
            </a:pPr>
            <a:r>
              <a:rPr lang="en-US" sz="900" b="1" dirty="0">
                <a:solidFill>
                  <a:srgbClr val="1E49E2"/>
                </a:solidFill>
                <a:latin typeface="Arial" pitchFamily="34" charset="0"/>
                <a:ea typeface="Arial" pitchFamily="34" charset="-122"/>
                <a:cs typeface="Arial" pitchFamily="34" charset="-120"/>
              </a:rPr>
              <a:t>Use this strapline to summarize the key message - Keep it concise and clear, preferably 1-2 sentences only.</a:t>
            </a:r>
            <a:endParaRPr lang="en-US" sz="900" dirty="0"/>
          </a:p>
        </p:txBody>
      </p:sp>
      <p:graphicFrame>
        <p:nvGraphicFramePr>
          <p:cNvPr id="5" name="Chart 0" descr=""/>
          <p:cNvGraphicFramePr/>
          <p:nvPr/>
        </p:nvGraphicFramePr>
        <p:xfrm>
          <a:off x="8717890" y="984809"/>
          <a:ext cx="2475281" cy="678485"/>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995782" y="1751990"/>
          <a:ext cx="3690518" cy="4122115"/>
        </p:xfrm>
        <a:graphic>
          <a:graphicData uri="http://schemas.openxmlformats.org/drawingml/2006/table">
            <a:tbl>
              <a:tblPr/>
              <a:tblGrid>
                <a:gridCol w="1230173"/>
                <a:gridCol w="1230173"/>
                <a:gridCol w="1230173"/>
              </a:tblGrid>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FY23</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FY24</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Revenue</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120</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144</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Gross profit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58</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71</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EBITDA</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26</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34</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EBITDA margin</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21.7%</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23.6%</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7" name="Shape 3"/>
          <p:cNvSpPr/>
          <p:nvPr/>
        </p:nvSpPr>
        <p:spPr>
          <a:xfrm>
            <a:off x="4817059" y="1751990"/>
            <a:ext cx="6378854" cy="252374"/>
          </a:xfrm>
          <a:prstGeom prst="rect">
            <a:avLst/>
          </a:prstGeom>
          <a:solidFill>
            <a:srgbClr val="00338D"/>
          </a:solidFill>
          <a:ln w="12700">
            <a:solidFill>
              <a:srgbClr val="00338D"/>
            </a:solidFill>
            <a:prstDash val="solid"/>
          </a:ln>
        </p:spPr>
      </p:sp>
      <p:sp>
        <p:nvSpPr>
          <p:cNvPr id="8" name="Text 4"/>
          <p:cNvSpPr/>
          <p:nvPr/>
        </p:nvSpPr>
        <p:spPr>
          <a:xfrm>
            <a:off x="4890211" y="1751990"/>
            <a:ext cx="6232550" cy="25237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Illustrative revenue bridge</a:t>
            </a:r>
            <a:endParaRPr lang="en-US" sz="1200" dirty="0"/>
          </a:p>
        </p:txBody>
      </p:sp>
      <p:sp>
        <p:nvSpPr>
          <p:cNvPr id="9" name="Shape 5"/>
          <p:cNvSpPr/>
          <p:nvPr/>
        </p:nvSpPr>
        <p:spPr>
          <a:xfrm>
            <a:off x="4817059" y="2003450"/>
            <a:ext cx="6377940" cy="3869741"/>
          </a:xfrm>
          <a:prstGeom prst="rect">
            <a:avLst/>
          </a:prstGeom>
          <a:solidFill>
            <a:srgbClr val="FFFFFF">
              <a:alpha val="0"/>
            </a:srgbClr>
          </a:solidFill>
          <a:ln w="12700">
            <a:solidFill>
              <a:srgbClr val="9E9E9E"/>
            </a:solidFill>
            <a:prstDash val="solid"/>
          </a:ln>
        </p:spPr>
      </p:sp>
      <p:sp>
        <p:nvSpPr>
          <p:cNvPr id="10" name="Text 6"/>
          <p:cNvSpPr/>
          <p:nvPr/>
        </p:nvSpPr>
        <p:spPr>
          <a:xfrm>
            <a:off x="4817059" y="2003450"/>
            <a:ext cx="6377940" cy="3869741"/>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Excepteur sint occaecat cupidatat non proident, sunt in culpa qui officia deserunt mollit anim id est laborum.</a:t>
            </a:r>
            <a:endParaRPr lang="en-US" sz="1000" dirty="0"/>
          </a:p>
        </p:txBody>
      </p:sp>
      <p:sp>
        <p:nvSpPr>
          <p:cNvPr id="11" name="Text 7"/>
          <p:cNvSpPr/>
          <p:nvPr/>
        </p:nvSpPr>
        <p:spPr>
          <a:xfrm>
            <a:off x="994867" y="5907024"/>
            <a:ext cx="3599993" cy="210312"/>
          </a:xfrm>
          <a:prstGeom prst="rect">
            <a:avLst/>
          </a:prstGeom>
          <a:noFill/>
          <a:ln/>
        </p:spPr>
        <p:txBody>
          <a:bodyPr wrap="square" lIns="0" tIns="0" rIns="0" bIns="0" rtlCol="0" anchor="t"/>
          <a:lstStyle/>
          <a:p>
            <a:pPr indent="0" marL="0">
              <a:buNone/>
            </a:pPr>
            <a:r>
              <a:rPr lang="en-US" sz="600" b="1" dirty="0">
                <a:solidFill>
                  <a:srgbClr val="00338D"/>
                </a:solidFill>
                <a:latin typeface="Arial" pitchFamily="34" charset="0"/>
                <a:ea typeface="Arial" pitchFamily="34" charset="-122"/>
                <a:cs typeface="Arial" pitchFamily="34" charset="-120"/>
              </a:rPr>
              <a:t>Note: Placeholder data. Source: Synthetic sample.</a:t>
            </a:r>
            <a:endParaRPr lang="en-US" sz="600" dirty="0"/>
          </a:p>
        </p:txBody>
      </p:sp>
      <p:sp>
        <p:nvSpPr>
          <p:cNvPr id="12"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Long-Form Text and Layout Stress Test</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Summary Financials — Lorem Scenario</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4" name="Shape 2"/>
          <p:cNvSpPr/>
          <p:nvPr/>
        </p:nvSpPr>
        <p:spPr>
          <a:xfrm>
            <a:off x="998433" y="1783080"/>
            <a:ext cx="2194560" cy="1005840"/>
          </a:xfrm>
          <a:prstGeom prst="roundRect">
            <a:avLst>
              <a:gd name="adj" fmla="val 5455"/>
            </a:avLst>
          </a:prstGeom>
          <a:solidFill>
            <a:srgbClr val="00338D"/>
          </a:solidFill>
          <a:ln/>
        </p:spPr>
      </p:sp>
      <p:sp>
        <p:nvSpPr>
          <p:cNvPr id="5" name="Text 3"/>
          <p:cNvSpPr/>
          <p:nvPr/>
        </p:nvSpPr>
        <p:spPr>
          <a:xfrm>
            <a:off x="1044153"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$123.4M</a:t>
            </a:r>
            <a:endParaRPr lang="en-US" sz="1800" dirty="0"/>
          </a:p>
        </p:txBody>
      </p:sp>
      <p:sp>
        <p:nvSpPr>
          <p:cNvPr id="6" name="Text 4"/>
          <p:cNvSpPr/>
          <p:nvPr/>
        </p:nvSpPr>
        <p:spPr>
          <a:xfrm>
            <a:off x="1044153"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Revenue</a:t>
            </a:r>
            <a:endParaRPr lang="en-US" sz="700" dirty="0"/>
          </a:p>
        </p:txBody>
      </p:sp>
      <p:sp>
        <p:nvSpPr>
          <p:cNvPr id="7" name="Text 5"/>
          <p:cNvSpPr/>
          <p:nvPr/>
        </p:nvSpPr>
        <p:spPr>
          <a:xfrm>
            <a:off x="1044153"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+12.3%</a:t>
            </a:r>
            <a:endParaRPr lang="en-US" sz="600" dirty="0"/>
          </a:p>
        </p:txBody>
      </p:sp>
      <p:sp>
        <p:nvSpPr>
          <p:cNvPr id="8" name="Shape 6"/>
          <p:cNvSpPr/>
          <p:nvPr/>
        </p:nvSpPr>
        <p:spPr>
          <a:xfrm>
            <a:off x="3337560" y="1783080"/>
            <a:ext cx="2194560" cy="1005840"/>
          </a:xfrm>
          <a:prstGeom prst="roundRect">
            <a:avLst>
              <a:gd name="adj" fmla="val 5455"/>
            </a:avLst>
          </a:prstGeom>
          <a:solidFill>
            <a:srgbClr val="1E49E2"/>
          </a:solidFill>
          <a:ln/>
        </p:spPr>
      </p:sp>
      <p:sp>
        <p:nvSpPr>
          <p:cNvPr id="9" name="Text 7"/>
          <p:cNvSpPr/>
          <p:nvPr/>
        </p:nvSpPr>
        <p:spPr>
          <a:xfrm>
            <a:off x="338328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48.7%</a:t>
            </a:r>
            <a:endParaRPr lang="en-US" sz="1800" dirty="0"/>
          </a:p>
        </p:txBody>
      </p:sp>
      <p:sp>
        <p:nvSpPr>
          <p:cNvPr id="10" name="Text 8"/>
          <p:cNvSpPr/>
          <p:nvPr/>
        </p:nvSpPr>
        <p:spPr>
          <a:xfrm>
            <a:off x="338328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Gross Margin</a:t>
            </a:r>
            <a:endParaRPr lang="en-US" sz="700" dirty="0"/>
          </a:p>
        </p:txBody>
      </p:sp>
      <p:sp>
        <p:nvSpPr>
          <p:cNvPr id="11" name="Text 9"/>
          <p:cNvSpPr/>
          <p:nvPr/>
        </p:nvSpPr>
        <p:spPr>
          <a:xfrm>
            <a:off x="338328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-1.4pp</a:t>
            </a:r>
            <a:endParaRPr lang="en-US" sz="600" dirty="0"/>
          </a:p>
        </p:txBody>
      </p:sp>
      <p:sp>
        <p:nvSpPr>
          <p:cNvPr id="12" name="Shape 10"/>
          <p:cNvSpPr/>
          <p:nvPr/>
        </p:nvSpPr>
        <p:spPr>
          <a:xfrm>
            <a:off x="5669280" y="1783080"/>
            <a:ext cx="2194560" cy="1005840"/>
          </a:xfrm>
          <a:prstGeom prst="roundRect">
            <a:avLst>
              <a:gd name="adj" fmla="val 5455"/>
            </a:avLst>
          </a:prstGeom>
          <a:solidFill>
            <a:srgbClr val="7213EA"/>
          </a:solidFill>
          <a:ln/>
        </p:spPr>
      </p:sp>
      <p:sp>
        <p:nvSpPr>
          <p:cNvPr id="13" name="Text 11"/>
          <p:cNvSpPr/>
          <p:nvPr/>
        </p:nvSpPr>
        <p:spPr>
          <a:xfrm>
            <a:off x="571500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$67.8M</a:t>
            </a:r>
            <a:endParaRPr lang="en-US" sz="1800" dirty="0"/>
          </a:p>
        </p:txBody>
      </p:sp>
      <p:sp>
        <p:nvSpPr>
          <p:cNvPr id="14" name="Text 12"/>
          <p:cNvSpPr/>
          <p:nvPr/>
        </p:nvSpPr>
        <p:spPr>
          <a:xfrm>
            <a:off x="571500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EBITDA</a:t>
            </a:r>
            <a:endParaRPr lang="en-US" sz="700" dirty="0"/>
          </a:p>
        </p:txBody>
      </p:sp>
      <p:sp>
        <p:nvSpPr>
          <p:cNvPr id="15" name="Text 13"/>
          <p:cNvSpPr/>
          <p:nvPr/>
        </p:nvSpPr>
        <p:spPr>
          <a:xfrm>
            <a:off x="571500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+8.9%</a:t>
            </a:r>
            <a:endParaRPr lang="en-US" sz="600" dirty="0"/>
          </a:p>
        </p:txBody>
      </p:sp>
      <p:sp>
        <p:nvSpPr>
          <p:cNvPr id="16" name="Shape 14"/>
          <p:cNvSpPr/>
          <p:nvPr/>
        </p:nvSpPr>
        <p:spPr>
          <a:xfrm>
            <a:off x="8001000" y="1783080"/>
            <a:ext cx="2194560" cy="1005840"/>
          </a:xfrm>
          <a:prstGeom prst="roundRect">
            <a:avLst>
              <a:gd name="adj" fmla="val 5455"/>
            </a:avLst>
          </a:prstGeom>
          <a:solidFill>
            <a:srgbClr val="00B8F5"/>
          </a:solidFill>
          <a:ln/>
        </p:spPr>
      </p:sp>
      <p:sp>
        <p:nvSpPr>
          <p:cNvPr id="17" name="Text 15"/>
          <p:cNvSpPr/>
          <p:nvPr/>
        </p:nvSpPr>
        <p:spPr>
          <a:xfrm>
            <a:off x="804672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3.2x</a:t>
            </a:r>
            <a:endParaRPr lang="en-US" sz="1800" dirty="0"/>
          </a:p>
        </p:txBody>
      </p:sp>
      <p:sp>
        <p:nvSpPr>
          <p:cNvPr id="18" name="Text 16"/>
          <p:cNvSpPr/>
          <p:nvPr/>
        </p:nvSpPr>
        <p:spPr>
          <a:xfrm>
            <a:off x="804672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Leverage</a:t>
            </a:r>
            <a:endParaRPr lang="en-US" sz="700" dirty="0"/>
          </a:p>
        </p:txBody>
      </p:sp>
      <p:sp>
        <p:nvSpPr>
          <p:cNvPr id="19" name="Text 17"/>
          <p:cNvSpPr/>
          <p:nvPr/>
        </p:nvSpPr>
        <p:spPr>
          <a:xfrm>
            <a:off x="804672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Stable</a:t>
            </a:r>
            <a:endParaRPr lang="en-US" sz="600" dirty="0"/>
          </a:p>
        </p:txBody>
      </p:sp>
      <p:graphicFrame>
        <p:nvGraphicFramePr>
          <p:cNvPr id="20" name="Chart 0" descr=""/>
          <p:cNvGraphicFramePr/>
          <p:nvPr/>
        </p:nvGraphicFramePr>
        <p:xfrm>
          <a:off x="998433" y="3063240"/>
          <a:ext cx="10204338" cy="3291840"/>
        </p:xfrm>
        <a:graphic xmlns:a="http://schemas.openxmlformats.org/drawingml/2006/main">
          <a:graphicData uri="http://schemas.openxmlformats.org/drawingml/2006/chart">
            <c:chart xmlns:c="http://schemas.openxmlformats.org/drawingml/2006/chart" r:id="rId1"/>
          </a:graphicData>
        </a:graphic>
      </p:graphicFrame>
      <p:sp>
        <p:nvSpPr>
          <p:cNvPr id="21" name="Text 1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Two Columns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Two Columns (Lorem)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Table + Text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p:txBody>
      </p:sp>
      <p:graphicFrame>
        <p:nvGraphicFramePr>
          <p:cNvPr id="5" name="Chart 0" descr=""/>
          <p:cNvGraphicFramePr/>
          <p:nvPr/>
        </p:nvGraphicFramePr>
        <p:xfrm>
          <a:off x="998433" y="3794760"/>
          <a:ext cx="10204338" cy="210677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7258"/>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Table + Text (Lorem)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graphicFrame>
        <p:nvGraphicFramePr>
          <p:cNvPr id="5" name="Chart 0" descr=""/>
          <p:cNvGraphicFramePr/>
          <p:nvPr/>
        </p:nvGraphicFramePr>
        <p:xfrm>
          <a:off x="998433" y="3794760"/>
          <a:ext cx="10204338" cy="210677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7258"/>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Narrow Table (Lorem)</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 Integer posuere erat a ante venenatis dapibus posuere velit aliquet. Cras mattis consectetur purus sit amet fermentum. Maecenas faucibus mollis interdum. Aenean lacinia bibendum nulla sed consectetur.</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1331940"/>
                <a:gridCol w="1331940"/>
                <a:gridCol w="790839"/>
                <a:gridCol w="790839"/>
                <a:gridCol w="79083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Category</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Description</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 A</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 B</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Delta</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Alpha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Beta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Gamma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175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169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Delta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Epsilon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+43</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Key takeaways synthesized from the table inputs for quick scan and discussion.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Use as a working view; confirm all figures during confirmatory diligence.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Two Column Text (Lorem)</a:t>
            </a:r>
            <a:endParaRPr lang="en-US" sz="3200" dirty="0"/>
          </a:p>
        </p:txBody>
      </p:sp>
      <p:sp>
        <p:nvSpPr>
          <p:cNvPr id="3" name="Text 1"/>
          <p:cNvSpPr/>
          <p:nvPr/>
        </p:nvSpPr>
        <p:spPr>
          <a:xfrm>
            <a:off x="998400" y="1010920"/>
            <a:ext cx="10195200"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4" name="Text 2"/>
          <p:cNvSpPr/>
          <p:nvPr/>
        </p:nvSpPr>
        <p:spPr>
          <a:xfrm>
            <a:off x="9972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sp>
        <p:nvSpPr>
          <p:cNvPr id="5" name="Text 3"/>
          <p:cNvSpPr/>
          <p:nvPr/>
        </p:nvSpPr>
        <p:spPr>
          <a:xfrm>
            <a:off x="61596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Two Columns Text (Lorem)</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4" name="Text 2"/>
          <p:cNvSpPr/>
          <p:nvPr/>
        </p:nvSpPr>
        <p:spPr>
          <a:xfrm>
            <a:off x="998433" y="1600200"/>
            <a:ext cx="5212080" cy="45756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p:txBody>
      </p:sp>
      <p:sp>
        <p:nvSpPr>
          <p:cNvPr id="5" name="Text 3"/>
          <p:cNvSpPr/>
          <p:nvPr/>
        </p:nvSpPr>
        <p:spPr>
          <a:xfrm>
            <a:off x="6438748" y="1600200"/>
            <a:ext cx="4754880" cy="45756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One Column Text (Lorem)</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 Lorem ipsum dolor sit amet, consectetur adipiscing elit, sed do eiusmod tempor incididunt ut labore et dolore magna aliqua. Ut enim ad minim veniam, quis nostrud exercitation ullamco laboris nisi ut aliquip ex ea commodo consequat.</a:t>
            </a:r>
            <a:endParaRPr lang="en-US" sz="900" dirty="0"/>
          </a:p>
        </p:txBody>
      </p:sp>
      <p:sp>
        <p:nvSpPr>
          <p:cNvPr id="4" name="Text 2"/>
          <p:cNvSpPr/>
          <p:nvPr/>
        </p:nvSpPr>
        <p:spPr>
          <a:xfrm>
            <a:off x="998433" y="1691640"/>
            <a:ext cx="10204338"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Title + Strapline + 4 Text Boxes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 Integer posuere erat a ante venenatis dapibus posuere velit aliquet. Cras mattis consectetur purus sit amet fermentum. Maecenas faucibus mollis interdum. Aenean lacinia bibendum nulla sed consectetur.</a:t>
            </a:r>
            <a:endParaRPr lang="en-US" sz="900" dirty="0"/>
          </a:p>
        </p:txBody>
      </p:sp>
      <p:sp>
        <p:nvSpPr>
          <p:cNvPr id="4" name="Text 2"/>
          <p:cNvSpPr/>
          <p:nvPr/>
        </p:nvSpPr>
        <p:spPr>
          <a:xfrm>
            <a:off x="998433"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1</a:t>
            </a:r>
            <a:endParaRPr lang="en-US" sz="1000" dirty="0"/>
          </a:p>
        </p:txBody>
      </p:sp>
      <p:sp>
        <p:nvSpPr>
          <p:cNvPr id="5" name="Text 3"/>
          <p:cNvSpPr/>
          <p:nvPr/>
        </p:nvSpPr>
        <p:spPr>
          <a:xfrm>
            <a:off x="998433"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sp>
        <p:nvSpPr>
          <p:cNvPr id="6" name="Text 4"/>
          <p:cNvSpPr/>
          <p:nvPr/>
        </p:nvSpPr>
        <p:spPr>
          <a:xfrm>
            <a:off x="356616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2</a:t>
            </a:r>
            <a:endParaRPr lang="en-US" sz="1000" dirty="0"/>
          </a:p>
        </p:txBody>
      </p:sp>
      <p:sp>
        <p:nvSpPr>
          <p:cNvPr id="7" name="Text 5"/>
          <p:cNvSpPr/>
          <p:nvPr/>
        </p:nvSpPr>
        <p:spPr>
          <a:xfrm>
            <a:off x="356616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sp>
        <p:nvSpPr>
          <p:cNvPr id="8" name="Text 6"/>
          <p:cNvSpPr/>
          <p:nvPr/>
        </p:nvSpPr>
        <p:spPr>
          <a:xfrm>
            <a:off x="612648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3</a:t>
            </a:r>
            <a:endParaRPr lang="en-US" sz="1000" dirty="0"/>
          </a:p>
        </p:txBody>
      </p:sp>
      <p:sp>
        <p:nvSpPr>
          <p:cNvPr id="9" name="Text 7"/>
          <p:cNvSpPr/>
          <p:nvPr/>
        </p:nvSpPr>
        <p:spPr>
          <a:xfrm>
            <a:off x="612648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p:txBody>
      </p:sp>
      <p:sp>
        <p:nvSpPr>
          <p:cNvPr id="10" name="Text 8"/>
          <p:cNvSpPr/>
          <p:nvPr/>
        </p:nvSpPr>
        <p:spPr>
          <a:xfrm>
            <a:off x="868680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4</a:t>
            </a:r>
            <a:endParaRPr lang="en-US" sz="1000" dirty="0"/>
          </a:p>
        </p:txBody>
      </p:sp>
      <p:sp>
        <p:nvSpPr>
          <p:cNvPr id="11" name="Text 9"/>
          <p:cNvSpPr/>
          <p:nvPr/>
        </p:nvSpPr>
        <p:spPr>
          <a:xfrm>
            <a:off x="868680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sp>
        <p:nvSpPr>
          <p:cNvPr id="12" name="Text 10"/>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00338D"/>
                </a:solidFill>
                <a:latin typeface="Arial" pitchFamily="34" charset="0"/>
                <a:ea typeface="Arial" pitchFamily="34" charset="-122"/>
                <a:cs typeface="Arial" pitchFamily="34" charset="-120"/>
              </a:rPr>
              <a:t>02</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00338D"/>
                </a:solidFill>
                <a:latin typeface="Arial" pitchFamily="34" charset="0"/>
                <a:ea typeface="Arial" pitchFamily="34" charset="-122"/>
                <a:cs typeface="Arial" pitchFamily="34" charset="-120"/>
              </a:rPr>
              <a:t>Quality of Earnings and Summary Scaffold</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(Lorem)</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 Integer posuere erat a ante venenatis dapibus posuere velit aliquet. Cras mattis consectetur purus sit amet fermentum. Maecenas faucibus mollis interdum. Aenean lacinia bibendum nulla sed consectetur.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7200" y="1408113"/>
            <a:ext cx="10195200" cy="44658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sp>
        <p:nvSpPr>
          <p:cNvPr id="5" name="Shape 3"/>
          <p:cNvSpPr/>
          <p:nvPr/>
        </p:nvSpPr>
        <p:spPr>
          <a:xfrm>
            <a:off x="997200" y="1179513"/>
            <a:ext cx="10195200" cy="4694400"/>
          </a:xfrm>
          <a:prstGeom prst="rect">
            <a:avLst/>
          </a:prstGeom>
          <a:solidFill>
            <a:srgbClr val="A5C7E5"/>
          </a:solidFill>
          <a:ln w="12700">
            <a:solidFill>
              <a:srgbClr val="00338D"/>
            </a:solidFill>
            <a:prstDash val="solid"/>
          </a:ln>
        </p:spPr>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13</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98525" y="431597"/>
            <a:ext cx="10195560" cy="533095"/>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Summary financials (Scaffold Preview)</a:t>
            </a:r>
            <a:endParaRPr lang="en-US" sz="3200" dirty="0"/>
          </a:p>
        </p:txBody>
      </p:sp>
      <p:sp>
        <p:nvSpPr>
          <p:cNvPr id="3" name="Shape 1"/>
          <p:cNvSpPr/>
          <p:nvPr/>
        </p:nvSpPr>
        <p:spPr>
          <a:xfrm>
            <a:off x="995362" y="1179513"/>
            <a:ext cx="3302806" cy="2296973"/>
          </a:xfrm>
          <a:prstGeom prst="rect">
            <a:avLst/>
          </a:prstGeom>
          <a:solidFill>
            <a:srgbClr val="EDEDED"/>
          </a:solidFill>
          <a:ln w="12700">
            <a:solidFill>
              <a:srgbClr val="EDEDED"/>
            </a:solidFill>
            <a:prstDash val="solid"/>
          </a:ln>
        </p:spPr>
      </p:sp>
      <p:sp>
        <p:nvSpPr>
          <p:cNvPr id="4" name="Text 2"/>
          <p:cNvSpPr/>
          <p:nvPr/>
        </p:nvSpPr>
        <p:spPr>
          <a:xfrm>
            <a:off x="106851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Quality of earnings</a:t>
            </a:r>
            <a:endParaRPr lang="en-US" sz="1000" dirty="0"/>
          </a:p>
        </p:txBody>
      </p:sp>
      <p:sp>
        <p:nvSpPr>
          <p:cNvPr id="5" name="Shape 3"/>
          <p:cNvSpPr/>
          <p:nvPr/>
        </p:nvSpPr>
        <p:spPr>
          <a:xfrm>
            <a:off x="3502640" y="1206945"/>
            <a:ext cx="749808" cy="201168"/>
          </a:xfrm>
          <a:prstGeom prst="roundRect">
            <a:avLst>
              <a:gd name="adj" fmla="val 13636"/>
            </a:avLst>
          </a:prstGeom>
          <a:solidFill>
            <a:srgbClr val="5A1CD7"/>
          </a:solidFill>
          <a:ln w="12700">
            <a:solidFill>
              <a:srgbClr val="5A1CD7"/>
            </a:solidFill>
            <a:prstDash val="solid"/>
          </a:ln>
        </p:spPr>
      </p:sp>
      <p:sp>
        <p:nvSpPr>
          <p:cNvPr id="6" name="Text 4"/>
          <p:cNvSpPr/>
          <p:nvPr/>
        </p:nvSpPr>
        <p:spPr>
          <a:xfrm>
            <a:off x="350264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7" name="Shape 5"/>
          <p:cNvSpPr/>
          <p:nvPr/>
        </p:nvSpPr>
        <p:spPr>
          <a:xfrm>
            <a:off x="4441587" y="1179513"/>
            <a:ext cx="3302806" cy="2296973"/>
          </a:xfrm>
          <a:prstGeom prst="rect">
            <a:avLst/>
          </a:prstGeom>
          <a:solidFill>
            <a:srgbClr val="EDEDED"/>
          </a:solidFill>
          <a:ln w="12700">
            <a:solidFill>
              <a:srgbClr val="EDEDED"/>
            </a:solidFill>
            <a:prstDash val="solid"/>
          </a:ln>
        </p:spPr>
      </p:sp>
      <p:sp>
        <p:nvSpPr>
          <p:cNvPr id="8" name="Text 6"/>
          <p:cNvSpPr/>
          <p:nvPr/>
        </p:nvSpPr>
        <p:spPr>
          <a:xfrm>
            <a:off x="4514739"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Net working capital</a:t>
            </a:r>
            <a:endParaRPr lang="en-US" sz="1000" dirty="0"/>
          </a:p>
        </p:txBody>
      </p:sp>
      <p:sp>
        <p:nvSpPr>
          <p:cNvPr id="9" name="Shape 7"/>
          <p:cNvSpPr/>
          <p:nvPr/>
        </p:nvSpPr>
        <p:spPr>
          <a:xfrm>
            <a:off x="6948865" y="1206945"/>
            <a:ext cx="749808" cy="201168"/>
          </a:xfrm>
          <a:prstGeom prst="roundRect">
            <a:avLst>
              <a:gd name="adj" fmla="val 13636"/>
            </a:avLst>
          </a:prstGeom>
          <a:solidFill>
            <a:srgbClr val="5A1CD7"/>
          </a:solidFill>
          <a:ln w="12700">
            <a:solidFill>
              <a:srgbClr val="5A1CD7"/>
            </a:solidFill>
            <a:prstDash val="solid"/>
          </a:ln>
        </p:spPr>
      </p:sp>
      <p:sp>
        <p:nvSpPr>
          <p:cNvPr id="10" name="Text 8"/>
          <p:cNvSpPr/>
          <p:nvPr/>
        </p:nvSpPr>
        <p:spPr>
          <a:xfrm>
            <a:off x="6948865"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1" name="Shape 9"/>
          <p:cNvSpPr/>
          <p:nvPr/>
        </p:nvSpPr>
        <p:spPr>
          <a:xfrm>
            <a:off x="7887812" y="1179513"/>
            <a:ext cx="3302806" cy="2296973"/>
          </a:xfrm>
          <a:prstGeom prst="rect">
            <a:avLst/>
          </a:prstGeom>
          <a:solidFill>
            <a:srgbClr val="EDEDED"/>
          </a:solidFill>
          <a:ln w="12700">
            <a:solidFill>
              <a:srgbClr val="EDEDED"/>
            </a:solidFill>
            <a:prstDash val="solid"/>
          </a:ln>
        </p:spPr>
      </p:sp>
      <p:sp>
        <p:nvSpPr>
          <p:cNvPr id="12" name="Text 10"/>
          <p:cNvSpPr/>
          <p:nvPr/>
        </p:nvSpPr>
        <p:spPr>
          <a:xfrm>
            <a:off x="796096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Net debt</a:t>
            </a:r>
            <a:endParaRPr lang="en-US" sz="1000" dirty="0"/>
          </a:p>
        </p:txBody>
      </p:sp>
      <p:sp>
        <p:nvSpPr>
          <p:cNvPr id="13" name="Shape 11"/>
          <p:cNvSpPr/>
          <p:nvPr/>
        </p:nvSpPr>
        <p:spPr>
          <a:xfrm>
            <a:off x="10395090" y="1206945"/>
            <a:ext cx="749808" cy="201168"/>
          </a:xfrm>
          <a:prstGeom prst="roundRect">
            <a:avLst>
              <a:gd name="adj" fmla="val 13636"/>
            </a:avLst>
          </a:prstGeom>
          <a:solidFill>
            <a:srgbClr val="5A1CD7"/>
          </a:solidFill>
          <a:ln w="12700">
            <a:solidFill>
              <a:srgbClr val="5A1CD7"/>
            </a:solidFill>
            <a:prstDash val="solid"/>
          </a:ln>
        </p:spPr>
      </p:sp>
      <p:sp>
        <p:nvSpPr>
          <p:cNvPr id="14" name="Text 12"/>
          <p:cNvSpPr/>
          <p:nvPr/>
        </p:nvSpPr>
        <p:spPr>
          <a:xfrm>
            <a:off x="1039509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5" name="Shape 13"/>
          <p:cNvSpPr/>
          <p:nvPr/>
        </p:nvSpPr>
        <p:spPr>
          <a:xfrm>
            <a:off x="995361" y="3581757"/>
            <a:ext cx="5036400" cy="2296973"/>
          </a:xfrm>
          <a:prstGeom prst="rect">
            <a:avLst/>
          </a:prstGeom>
          <a:solidFill>
            <a:srgbClr val="EDEDED"/>
          </a:solidFill>
          <a:ln w="12700">
            <a:solidFill>
              <a:srgbClr val="EDEDED"/>
            </a:solidFill>
            <a:prstDash val="solid"/>
          </a:ln>
        </p:spPr>
      </p:sp>
      <p:sp>
        <p:nvSpPr>
          <p:cNvPr id="16" name="Text 14"/>
          <p:cNvSpPr/>
          <p:nvPr/>
        </p:nvSpPr>
        <p:spPr>
          <a:xfrm>
            <a:off x="1068513"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Cash conversion</a:t>
            </a:r>
            <a:endParaRPr lang="en-US" sz="1000" dirty="0"/>
          </a:p>
        </p:txBody>
      </p:sp>
      <p:sp>
        <p:nvSpPr>
          <p:cNvPr id="17" name="Shape 15"/>
          <p:cNvSpPr/>
          <p:nvPr/>
        </p:nvSpPr>
        <p:spPr>
          <a:xfrm>
            <a:off x="6159600" y="3581757"/>
            <a:ext cx="5036400" cy="2296973"/>
          </a:xfrm>
          <a:prstGeom prst="rect">
            <a:avLst/>
          </a:prstGeom>
          <a:solidFill>
            <a:srgbClr val="EDEDED"/>
          </a:solidFill>
          <a:ln w="12700">
            <a:solidFill>
              <a:srgbClr val="EDEDED"/>
            </a:solidFill>
            <a:prstDash val="solid"/>
          </a:ln>
        </p:spPr>
      </p:sp>
      <p:sp>
        <p:nvSpPr>
          <p:cNvPr id="18" name="Text 16"/>
          <p:cNvSpPr/>
          <p:nvPr/>
        </p:nvSpPr>
        <p:spPr>
          <a:xfrm>
            <a:off x="6232752"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Other bridge</a:t>
            </a:r>
            <a:endParaRPr lang="en-US" sz="1000" dirty="0"/>
          </a:p>
        </p:txBody>
      </p:sp>
      <p:sp>
        <p:nvSpPr>
          <p:cNvPr id="19" name="Text 17"/>
          <p:cNvSpPr/>
          <p:nvPr/>
        </p:nvSpPr>
        <p:spPr>
          <a:xfrm>
            <a:off x="998433" y="5897880"/>
            <a:ext cx="4754880" cy="182880"/>
          </a:xfrm>
          <a:prstGeom prst="rect">
            <a:avLst/>
          </a:prstGeom>
          <a:noFill/>
          <a:ln/>
        </p:spPr>
        <p:txBody>
          <a:bodyPr wrap="square" lIns="0" tIns="0" rIns="0" bIns="0" rtlCol="0" anchor="ctr"/>
          <a:lstStyle/>
          <a:p>
            <a:pPr indent="0" marL="0">
              <a:buNone/>
            </a:pPr>
            <a:r>
              <a:rPr lang="en-US" sz="600" dirty="0">
                <a:solidFill>
                  <a:srgbClr val="666666"/>
                </a:solidFill>
                <a:latin typeface="Arial" pitchFamily="34" charset="0"/>
                <a:ea typeface="Arial" pitchFamily="34" charset="-122"/>
                <a:cs typeface="Arial" pitchFamily="34" charset="-120"/>
              </a:rPr>
              <a:t>Placeholder scaffold only</a:t>
            </a:r>
            <a:endParaRPr lang="en-US" sz="600" dirty="0"/>
          </a:p>
        </p:txBody>
      </p:sp>
      <p:sp>
        <p:nvSpPr>
          <p:cNvPr id="20" name="Text 1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14</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914400" y="3291840"/>
            <a:ext cx="10241280" cy="2194560"/>
          </a:xfrm>
          <a:prstGeom prst="rect">
            <a:avLst/>
          </a:prstGeom>
          <a:noFill/>
          <a:ln/>
        </p:spPr>
        <p:txBody>
          <a:bodyPr wrap="square" rtlCol="0" anchor="t"/>
          <a:lstStyle/>
          <a:p>
            <a:pPr indent="0" marL="0">
              <a:buNone/>
            </a:pPr>
            <a:r>
              <a:rPr lang="en-US" sz="1000" dirty="0">
                <a:solidFill>
                  <a:srgbClr val="FFFFFF"/>
                </a:solidFill>
                <a:latin typeface="Arial" pitchFamily="34" charset="0"/>
                <a:ea typeface="Arial" pitchFamily="34" charset="-122"/>
                <a:cs typeface="Arial" pitchFamily="34" charset="-120"/>
              </a:rPr>
              <a:t>Lorem ipsum disclaimer: synthetic content for generator layout preview only.</a:t>
            </a:r>
            <a:endParaRPr lang="en-US" sz="1000" dirty="0"/>
          </a:p>
        </p:txBody>
      </p:sp>
      <p:sp>
        <p:nvSpPr>
          <p:cNvPr id="3" name="Text 1">
            <a:hlinkClick r:id="rId1" tooltip=""/>
          </p:cNvPr>
          <p:cNvSpPr/>
          <p:nvPr/>
        </p:nvSpPr>
        <p:spPr>
          <a:xfrm>
            <a:off x="914400" y="5760720"/>
            <a:ext cx="3657600" cy="274320"/>
          </a:xfrm>
          <a:prstGeom prst="rect">
            <a:avLst/>
          </a:prstGeom>
          <a:noFill/>
          <a:ln/>
        </p:spPr>
        <p:txBody>
          <a:bodyPr wrap="square" rtlCol="0" anchor="ctr"/>
          <a:lstStyle/>
          <a:p>
            <a:pPr indent="0" marL="0">
              <a:buNone/>
            </a:pPr>
            <a:r>
              <a:rPr lang="en-US" sz="1000" b="1" u="sng" dirty="0">
                <a:solidFill>
                  <a:srgbClr val="FFFF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www.kpmg.com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KPMG Lorem Ipsum Stress Test Deck (v3 contents + pnl)</dc:title>
  <dc:subject>Layout and overflow stress-test using placeholder prose</dc:subject>
  <dc:creator>kpmg-slidegen</dc:creator>
  <cp:lastModifiedBy>kpmg-slidegen</cp:lastModifiedBy>
  <cp:revision>1</cp:revision>
  <dcterms:created xsi:type="dcterms:W3CDTF">2026-02-20T02:08:50Z</dcterms:created>
  <dcterms:modified xsi:type="dcterms:W3CDTF">2026-02-20T02:08:50Z</dcterms:modified>
</cp:coreProperties>
</file>