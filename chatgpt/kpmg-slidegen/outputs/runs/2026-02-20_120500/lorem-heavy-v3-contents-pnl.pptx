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5.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6.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ong-Form Text and Layout Stress Test" id="{45375e6b-e470-7ffd-7373-9c7816104c00}">
          <p14:sldIdLst/>
        </p14:section>
        <p14:section name="Default-1" id="{a0b7476b-1f2f-c782-caf5-f5a57389d111}">
          <p14:sldIdLst>
            <p14:sldId id="259"/>
            <p14:sldId id="260"/>
            <p14:sldId id="261"/>
            <p14:sldId id="262"/>
            <p14:sldId id="263"/>
            <p14:sldId id="264"/>
            <p14:sldId id="265"/>
            <p14:sldId id="266"/>
            <p14:sldId id="267"/>
            <p14:sldId id="268"/>
            <p14:sldId id="269"/>
          </p14:sldIdLst>
        </p14:section>
        <p14:section name="Quality of Earnings and Summary Scaffold" id="{1659b005-8dc1-3541-1969-321ee1c0da7a}">
          <p14:sldIdLst/>
        </p14:section>
        <p14:section name="Default-2" id="{343b4270-f5c1-a0b4-8b58-b076b140864e}">
          <p14:sldIdLst>
            <p14:sldId id="270"/>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Summary</c:v>
                </c:pt>
              </c:strCache>
            </c:strRef>
          </c:tx>
          <c:spPr>
            <a:solidFill>
              <a:srgbClr val="00338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Q1</c:v>
                  </c:pt>
                  <c:pt idx="1">
                    <c:v>Q2</c:v>
                  </c:pt>
                  <c:pt idx="2">
                    <c:v>Q3</c:v>
                  </c:pt>
                  <c:pt idx="3">
                    <c:v>Q4</c:v>
                  </c:pt>
                </c:lvl>
              </c:multiLvlStrCache>
            </c:multiLvlStrRef>
          </c:cat>
          <c:val>
            <c:numRef>
              <c:f>Sheet1!$B$2:$B$5</c:f>
              <c:numCache>
                <c:formatCode>General</c:formatCode>
                <c:ptCount val="4"/>
                <c:pt idx="0">
                  <c:v>11</c:v>
                </c:pt>
                <c:pt idx="1">
                  <c:v>16</c:v>
                </c:pt>
                <c:pt idx="2">
                  <c:v>21</c:v>
                </c:pt>
                <c:pt idx="3">
                  <c:v>28</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areaChart>
        <c:varyColors val="0"/>
        <c:ser>
          <c:idx val="0"/>
          <c:order val="0"/>
          <c:tx>
            <c:strRef>
              <c:f>Sheet1!$B$1</c:f>
              <c:strCache>
                <c:ptCount val="1"/>
                <c:pt idx="0">
                  <c:v>Illustrative Quarterly Revenue</c:v>
                </c:pt>
              </c:strCache>
            </c:strRef>
          </c:tx>
          <c:spPr>
            <a:solidFill>
              <a:srgbClr val="00338D"/>
            </a:solidFill>
            <a:effectLst/>
          </c:spPr>
          <c:invertIfNegative val="0"/>
          <c:dLbls>
            <c:numFmt formatCode="#,##0" sourceLinked="0"/>
            <c:spPr>
              <a:solidFill>
                <a:srgbClr val="00338D"/>
              </a:solidFill>
            </c:spPr>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cat>
            <c:multiLvlStrRef>
              <c:f>Sheet1!$A$2:$A$7</c:f>
              <c:multiLvlStrCache>
                <c:ptCount val="6"/>
                <c:lvl>
                  <c:pt idx="0">
                    <c:v>Q1</c:v>
                  </c:pt>
                  <c:pt idx="1">
                    <c:v>Q2</c:v>
                  </c:pt>
                  <c:pt idx="2">
                    <c:v>Q3</c:v>
                  </c:pt>
                  <c:pt idx="3">
                    <c:v>Q4</c:v>
                  </c:pt>
                  <c:pt idx="4">
                    <c:v>Q5</c:v>
                  </c:pt>
                  <c:pt idx="5">
                    <c:v>Q6</c:v>
                  </c:pt>
                </c:lvl>
              </c:multiLvlStrCache>
            </c:multiLvlStrRef>
          </c:cat>
          <c:val>
            <c:numRef>
              <c:f>Sheet1!$B$2:$B$7</c:f>
              <c:numCache>
                <c:formatCode>General</c:formatCode>
                <c:ptCount val="6"/>
                <c:pt idx="0">
                  <c:v>12</c:v>
                </c:pt>
                <c:pt idx="1">
                  <c:v>18</c:v>
                </c:pt>
                <c:pt idx="2">
                  <c:v>17</c:v>
                </c:pt>
                <c:pt idx="3">
                  <c:v>24</c:v>
                </c:pt>
                <c:pt idx="4">
                  <c:v>29</c:v>
                </c:pt>
                <c:pt idx="5">
                  <c:v>31</c:v>
                </c:pt>
              </c:numCache>
            </c:numRef>
          </c:val>
        </c:ser>
        <c:dLbls>
          <c:numFmt formatCode="#,##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axId val="2094734554"/>
        <c:axId val="2094734552"/>
        <c:axId val="2094734556"/>
      </c:area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Series 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Y1</c:v>
                  </c:pt>
                  <c:pt idx="1">
                    <c:v>Y2</c:v>
                  </c:pt>
                  <c:pt idx="2">
                    <c:v>Y3</c:v>
                  </c:pt>
                  <c:pt idx="3">
                    <c:v>Y4</c:v>
                  </c:pt>
                  <c:pt idx="4">
                    <c:v>Y5</c:v>
                  </c:pt>
                </c:lvl>
              </c:multiLvlStrCache>
            </c:multiLvlStrRef>
          </c:cat>
          <c:val>
            <c:numRef>
              <c:f>Sheet1!$B$2:$B$6</c:f>
              <c:numCache>
                <c:formatCode>General</c:formatCode>
                <c:ptCount val="5"/>
                <c:pt idx="0">
                  <c:v>10</c:v>
                </c:pt>
                <c:pt idx="1">
                  <c:v>14</c:v>
                </c:pt>
                <c:pt idx="2">
                  <c:v>19</c:v>
                </c:pt>
                <c:pt idx="3">
                  <c:v>27</c:v>
                </c:pt>
                <c:pt idx="4">
                  <c:v>35</c:v>
                </c:pt>
              </c:numCache>
            </c:numRef>
          </c:val>
        </c:ser>
        <c:ser>
          <c:idx val="1"/>
          <c:order val="1"/>
          <c:tx>
            <c:strRef>
              <c:f>Sheet1!$C$1</c:f>
              <c:strCache>
                <c:ptCount val="1"/>
                <c:pt idx="0">
                  <c:v>Series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Y1</c:v>
                  </c:pt>
                  <c:pt idx="1">
                    <c:v>Y2</c:v>
                  </c:pt>
                  <c:pt idx="2">
                    <c:v>Y3</c:v>
                  </c:pt>
                  <c:pt idx="3">
                    <c:v>Y4</c:v>
                  </c:pt>
                  <c:pt idx="4">
                    <c:v>Y5</c:v>
                  </c:pt>
                </c:lvl>
              </c:multiLvlStrCache>
            </c:multiLvlStrRef>
          </c:cat>
          <c:val>
            <c:numRef>
              <c:f>Sheet1!$C$2:$C$6</c:f>
              <c:numCache>
                <c:formatCode>General</c:formatCode>
                <c:ptCount val="5"/>
                <c:pt idx="0">
                  <c:v>8</c:v>
                </c:pt>
                <c:pt idx="1">
                  <c:v>11</c:v>
                </c:pt>
                <c:pt idx="2">
                  <c:v>15</c:v>
                </c:pt>
                <c:pt idx="3">
                  <c:v>21</c:v>
                </c:pt>
                <c:pt idx="4">
                  <c:v>28</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Series 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Y1</c:v>
                  </c:pt>
                  <c:pt idx="1">
                    <c:v>Y2</c:v>
                  </c:pt>
                  <c:pt idx="2">
                    <c:v>Y3</c:v>
                  </c:pt>
                  <c:pt idx="3">
                    <c:v>Y4</c:v>
                  </c:pt>
                  <c:pt idx="4">
                    <c:v>Y5</c:v>
                  </c:pt>
                </c:lvl>
              </c:multiLvlStrCache>
            </c:multiLvlStrRef>
          </c:cat>
          <c:val>
            <c:numRef>
              <c:f>Sheet1!$B$2:$B$6</c:f>
              <c:numCache>
                <c:formatCode>General</c:formatCode>
                <c:ptCount val="5"/>
                <c:pt idx="0">
                  <c:v>10</c:v>
                </c:pt>
                <c:pt idx="1">
                  <c:v>14</c:v>
                </c:pt>
                <c:pt idx="2">
                  <c:v>19</c:v>
                </c:pt>
                <c:pt idx="3">
                  <c:v>27</c:v>
                </c:pt>
                <c:pt idx="4">
                  <c:v>35</c:v>
                </c:pt>
              </c:numCache>
            </c:numRef>
          </c:val>
        </c:ser>
        <c:ser>
          <c:idx val="1"/>
          <c:order val="1"/>
          <c:tx>
            <c:strRef>
              <c:f>Sheet1!$C$1</c:f>
              <c:strCache>
                <c:ptCount val="1"/>
                <c:pt idx="0">
                  <c:v>Series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Y1</c:v>
                  </c:pt>
                  <c:pt idx="1">
                    <c:v>Y2</c:v>
                  </c:pt>
                  <c:pt idx="2">
                    <c:v>Y3</c:v>
                  </c:pt>
                  <c:pt idx="3">
                    <c:v>Y4</c:v>
                  </c:pt>
                  <c:pt idx="4">
                    <c:v>Y5</c:v>
                  </c:pt>
                </c:lvl>
              </c:multiLvlStrCache>
            </c:multiLvlStrRef>
          </c:cat>
          <c:val>
            <c:numRef>
              <c:f>Sheet1!$C$2:$C$6</c:f>
              <c:numCache>
                <c:formatCode>General</c:formatCode>
                <c:ptCount val="5"/>
                <c:pt idx="0">
                  <c:v>8</c:v>
                </c:pt>
                <c:pt idx="1">
                  <c:v>11</c:v>
                </c:pt>
                <c:pt idx="2">
                  <c:v>15</c:v>
                </c:pt>
                <c:pt idx="3">
                  <c:v>21</c:v>
                </c:pt>
                <c:pt idx="4">
                  <c:v>28</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Scenario Base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Sheet1!$A$2:$A$7</c:f>
              <c:multiLvlStrCache>
                <c:ptCount val="6"/>
                <c:lvl>
                  <c:pt idx="0">
                    <c:v>M1</c:v>
                  </c:pt>
                  <c:pt idx="1">
                    <c:v>M2</c:v>
                  </c:pt>
                  <c:pt idx="2">
                    <c:v>M3</c:v>
                  </c:pt>
                  <c:pt idx="3">
                    <c:v>M4</c:v>
                  </c:pt>
                  <c:pt idx="4">
                    <c:v>M5</c:v>
                  </c:pt>
                  <c:pt idx="5">
                    <c:v>M6</c:v>
                  </c:pt>
                </c:lvl>
              </c:multiLvlStrCache>
            </c:multiLvlStrRef>
          </c:cat>
          <c:val>
            <c:numRef>
              <c:f>Sheet1!$B$2:$B$7</c:f>
              <c:numCache>
                <c:formatCode>General</c:formatCode>
                <c:ptCount val="6"/>
                <c:pt idx="0">
                  <c:v>5</c:v>
                </c:pt>
                <c:pt idx="1">
                  <c:v>9</c:v>
                </c:pt>
                <c:pt idx="2">
                  <c:v>11</c:v>
                </c:pt>
                <c:pt idx="3">
                  <c:v>13</c:v>
                </c:pt>
                <c:pt idx="4">
                  <c:v>16</c:v>
                </c:pt>
                <c:pt idx="5">
                  <c:v>18</c:v>
                </c:pt>
              </c:numCache>
            </c:numRef>
          </c:val>
        </c:ser>
        <c:ser>
          <c:idx val="1"/>
          <c:order val="1"/>
          <c:tx>
            <c:strRef>
              <c:f>Sheet1!$C$1</c:f>
              <c:strCache>
                <c:ptCount val="1"/>
                <c:pt idx="0">
                  <c:v>Scenario Upside</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Sheet1!$A$2:$A$7</c:f>
              <c:multiLvlStrCache>
                <c:ptCount val="6"/>
                <c:lvl>
                  <c:pt idx="0">
                    <c:v>M1</c:v>
                  </c:pt>
                  <c:pt idx="1">
                    <c:v>M2</c:v>
                  </c:pt>
                  <c:pt idx="2">
                    <c:v>M3</c:v>
                  </c:pt>
                  <c:pt idx="3">
                    <c:v>M4</c:v>
                  </c:pt>
                  <c:pt idx="4">
                    <c:v>M5</c:v>
                  </c:pt>
                  <c:pt idx="5">
                    <c:v>M6</c:v>
                  </c:pt>
                </c:lvl>
              </c:multiLvlStrCache>
            </c:multiLvlStrRef>
          </c:cat>
          <c:val>
            <c:numRef>
              <c:f>Sheet1!$C$2:$C$7</c:f>
              <c:numCache>
                <c:formatCode>General</c:formatCode>
                <c:ptCount val="6"/>
                <c:pt idx="0">
                  <c:v>6</c:v>
                </c:pt>
                <c:pt idx="1">
                  <c:v>10</c:v>
                </c:pt>
                <c:pt idx="2">
                  <c:v>13</c:v>
                </c:pt>
                <c:pt idx="3">
                  <c:v>16</c:v>
                </c:pt>
                <c:pt idx="4">
                  <c:v>20</c:v>
                </c:pt>
                <c:pt idx="5">
                  <c:v>24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Scenario Base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Sheet1!$A$2:$A$7</c:f>
              <c:multiLvlStrCache>
                <c:ptCount val="6"/>
                <c:lvl>
                  <c:pt idx="0">
                    <c:v>M1</c:v>
                  </c:pt>
                  <c:pt idx="1">
                    <c:v>M2</c:v>
                  </c:pt>
                  <c:pt idx="2">
                    <c:v>M3</c:v>
                  </c:pt>
                  <c:pt idx="3">
                    <c:v>M4</c:v>
                  </c:pt>
                  <c:pt idx="4">
                    <c:v>M5</c:v>
                  </c:pt>
                  <c:pt idx="5">
                    <c:v>M6</c:v>
                  </c:pt>
                </c:lvl>
              </c:multiLvlStrCache>
            </c:multiLvlStrRef>
          </c:cat>
          <c:val>
            <c:numRef>
              <c:f>Sheet1!$B$2:$B$7</c:f>
              <c:numCache>
                <c:formatCode>General</c:formatCode>
                <c:ptCount val="6"/>
                <c:pt idx="0">
                  <c:v>5</c:v>
                </c:pt>
                <c:pt idx="1">
                  <c:v>9</c:v>
                </c:pt>
                <c:pt idx="2">
                  <c:v>11</c:v>
                </c:pt>
                <c:pt idx="3">
                  <c:v>13</c:v>
                </c:pt>
                <c:pt idx="4">
                  <c:v>16</c:v>
                </c:pt>
                <c:pt idx="5">
                  <c:v>18</c:v>
                </c:pt>
              </c:numCache>
            </c:numRef>
          </c:val>
        </c:ser>
        <c:ser>
          <c:idx val="1"/>
          <c:order val="1"/>
          <c:tx>
            <c:strRef>
              <c:f>Sheet1!$C$1</c:f>
              <c:strCache>
                <c:ptCount val="1"/>
                <c:pt idx="0">
                  <c:v>Scenario Upside</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Sheet1!$A$2:$A$7</c:f>
              <c:multiLvlStrCache>
                <c:ptCount val="6"/>
                <c:lvl>
                  <c:pt idx="0">
                    <c:v>M1</c:v>
                  </c:pt>
                  <c:pt idx="1">
                    <c:v>M2</c:v>
                  </c:pt>
                  <c:pt idx="2">
                    <c:v>M3</c:v>
                  </c:pt>
                  <c:pt idx="3">
                    <c:v>M4</c:v>
                  </c:pt>
                  <c:pt idx="4">
                    <c:v>M5</c:v>
                  </c:pt>
                  <c:pt idx="5">
                    <c:v>M6</c:v>
                  </c:pt>
                </c:lvl>
              </c:multiLvlStrCache>
            </c:multiLvlStrRef>
          </c:cat>
          <c:val>
            <c:numRef>
              <c:f>Sheet1!$C$2:$C$7</c:f>
              <c:numCache>
                <c:formatCode>General</c:formatCode>
                <c:ptCount val="6"/>
                <c:pt idx="0">
                  <c:v>6</c:v>
                </c:pt>
                <c:pt idx="1">
                  <c:v>10</c:v>
                </c:pt>
                <c:pt idx="2">
                  <c:v>13</c:v>
                </c:pt>
                <c:pt idx="3">
                  <c:v>16</c:v>
                </c:pt>
                <c:pt idx="4">
                  <c:v>20</c:v>
                </c:pt>
                <c:pt idx="5">
                  <c:v>24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sv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1007-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PMG_WHITE">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templates/kpmg-diligence/assets/kpmg-logo.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097" y="6267298"/>
            <a:ext cx="483718" cy="196596"/>
          </a:xfrm>
          <a:prstGeom prst="rect">
            <a:avLst/>
          </a:prstGeom>
        </p:spPr>
      </p:pic>
      <p:sp>
        <p:nvSpPr>
          <p:cNvPr id="3"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[year] [legal member firm name], a [jurisdiction] [legal structure] and a member firm of the KPMG global organization of independent member firms affiliated with KPMG International Limited, a private English company limited by guarantee. All rights reserved.</a:t>
            </a:r>
            <a:endParaRPr lang="en-US" sz="600" dirty="0"/>
          </a:p>
        </p:txBody>
      </p:sp>
      <p:sp>
        <p:nvSpPr>
          <p:cNvPr id="4" name="Text 1"/>
          <p:cNvSpPr/>
          <p:nvPr/>
        </p:nvSpPr>
        <p:spPr>
          <a:xfrm>
            <a:off x="9326880" y="6267298"/>
            <a:ext cx="1536192" cy="184709"/>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5" name="Text 2"/>
          <p:cNvSpPr/>
          <p:nvPr/>
        </p:nvSpPr>
        <p:spPr>
          <a:xfrm>
            <a:off x="11448288" y="6556248"/>
            <a:ext cx="621792" cy="164592"/>
          </a:xfrm>
          <a:prstGeom prst="rect">
            <a:avLst/>
          </a:prstGeom>
          <a:noFill/>
          <a:ln/>
        </p:spPr>
        <p:txBody>
          <a:bodyPr wrap="square" rtlCol="0" anchor="ctr"/>
          <a:lstStyle/>
          <a:p>
            <a:pPr algn="r" indent="0" marL="0">
              <a:buNone/>
            </a:pPr>
            <a:r>
              <a:rPr lang="en-US" sz="1400" b="1" dirty="0">
                <a:solidFill>
                  <a:srgbClr val="FD349C"/>
                </a:solidFill>
                <a:latin typeface="Arial" pitchFamily="34" charset="0"/>
                <a:ea typeface="Arial" pitchFamily="34" charset="-122"/>
                <a:cs typeface="Arial" pitchFamily="34" charset="-120"/>
              </a:rPr>
              <a:t>DRAFT</a:t>
            </a:r>
            <a:endParaRPr lang="en-US" sz="1400" dirty="0"/>
          </a:p>
        </p:txBody>
      </p:sp>
      <p:sp>
        <p:nvSpPr>
          <p:cNvPr id="6" name="Shape 3"/>
          <p:cNvSpPr/>
          <p:nvPr/>
        </p:nvSpPr>
        <p:spPr>
          <a:xfrm>
            <a:off x="10927080" y="6267298"/>
            <a:ext cx="0" cy="149047"/>
          </a:xfrm>
          <a:prstGeom prst="line">
            <a:avLst/>
          </a:prstGeom>
          <a:noFill/>
          <a:ln w="12700">
            <a:solidFill>
              <a:srgbClr val="1E49E2"/>
            </a:solidFill>
            <a:prstDash val="solid"/>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PMG_SUMMARY">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accent_chip_300dpi.png">    </p:cNvPr>
          <p:cNvPicPr>
            <a:picLocks noChangeAspect="1"/>
          </p:cNvPicPr>
          <p:nvPr/>
        </p:nvPicPr>
        <p:blipFill>
          <a:blip r:embed="rId1"/>
          <a:stretch>
            <a:fillRect/>
          </a:stretch>
        </p:blipFill>
        <p:spPr>
          <a:xfrm>
            <a:off x="11534242" y="103327"/>
            <a:ext cx="222199" cy="222199"/>
          </a:xfrm>
          <a:prstGeom prst="rect">
            <a:avLst/>
          </a:prstGeom>
        </p:spPr>
      </p:pic>
      <p:pic>
        <p:nvPicPr>
          <p:cNvPr id="3" name="Image 1" descr="/Users/rishi/Code/ai-tools/chatgpt/kpmg-slidegen/templates/kpmg-diligence/assets/kpmg-logo.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3097" y="6267298"/>
            <a:ext cx="483718" cy="196596"/>
          </a:xfrm>
          <a:prstGeom prst="rect">
            <a:avLst/>
          </a:prstGeom>
        </p:spPr>
      </p:pic>
      <p:sp>
        <p:nvSpPr>
          <p:cNvPr id="4"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[year] [legal member firm name], a [jurisdiction] [legal structure] and a member firm of the KPMG global organization of independent member firms affiliated with KPMG International Limited, a private English company limited by guarantee. All rights reserved.</a:t>
            </a:r>
            <a:endParaRPr lang="en-US" sz="600" dirty="0"/>
          </a:p>
        </p:txBody>
      </p:sp>
      <p:sp>
        <p:nvSpPr>
          <p:cNvPr id="5" name="Text 1"/>
          <p:cNvSpPr/>
          <p:nvPr/>
        </p:nvSpPr>
        <p:spPr>
          <a:xfrm>
            <a:off x="9326880" y="6267298"/>
            <a:ext cx="1536192" cy="184709"/>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6" name="Text 2"/>
          <p:cNvSpPr/>
          <p:nvPr/>
        </p:nvSpPr>
        <p:spPr>
          <a:xfrm>
            <a:off x="11448288" y="6556248"/>
            <a:ext cx="621792" cy="164592"/>
          </a:xfrm>
          <a:prstGeom prst="rect">
            <a:avLst/>
          </a:prstGeom>
          <a:noFill/>
          <a:ln/>
        </p:spPr>
        <p:txBody>
          <a:bodyPr wrap="square" rtlCol="0" anchor="ctr"/>
          <a:lstStyle/>
          <a:p>
            <a:pPr algn="r" indent="0" marL="0">
              <a:buNone/>
            </a:pPr>
            <a:r>
              <a:rPr lang="en-US" sz="1400" b="1" dirty="0">
                <a:solidFill>
                  <a:srgbClr val="FD349C"/>
                </a:solidFill>
                <a:latin typeface="Arial" pitchFamily="34" charset="0"/>
                <a:ea typeface="Arial" pitchFamily="34" charset="-122"/>
                <a:cs typeface="Arial" pitchFamily="34" charset="-120"/>
              </a:rPr>
              <a:t>DRAFT</a:t>
            </a:r>
            <a:endParaRPr lang="en-US" sz="1400" dirty="0"/>
          </a:p>
        </p:txBody>
      </p:sp>
      <p:sp>
        <p:nvSpPr>
          <p:cNvPr id="7" name="Shape 3"/>
          <p:cNvSpPr/>
          <p:nvPr/>
        </p:nvSpPr>
        <p:spPr>
          <a:xfrm>
            <a:off x="10927080" y="6267298"/>
            <a:ext cx="0" cy="149047"/>
          </a:xfrm>
          <a:prstGeom prst="line">
            <a:avLst/>
          </a:prstGeom>
          <a:noFill/>
          <a:ln w="12700">
            <a:solidFill>
              <a:srgbClr val="1E49E2"/>
            </a:solidFill>
            <a:prstDash val="solid"/>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PMG_COVER">
    <p:bg>
      <p:bgPr>
        <a:solidFill>
          <a:srgbClr val="1E49E2"/>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PMG_SECTION_DARK">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KPMG_SECTION_LIGH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KPMG_CLOSING">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back_cover_300dpi.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e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kpmg.com" TargetMode="External"/><Relationship Id="rId2" Type="http://schemas.openxmlformats.org/officeDocument/2006/relationships/slideLayout" Target="../slideLayouts/slideLayout7.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998476" y="371311"/>
            <a:ext cx="914400" cy="368346"/>
          </a:xfrm>
          <a:prstGeom prst="rect">
            <a:avLst/>
          </a:prstGeom>
        </p:spPr>
      </p:pic>
      <p:sp>
        <p:nvSpPr>
          <p:cNvPr id="3" name="Text 0"/>
          <p:cNvSpPr/>
          <p:nvPr/>
        </p:nvSpPr>
        <p:spPr>
          <a:xfrm>
            <a:off x="998478" y="1456388"/>
            <a:ext cx="3697810" cy="3427743"/>
          </a:xfrm>
          <a:prstGeom prst="rect">
            <a:avLst/>
          </a:prstGeom>
          <a:noFill/>
          <a:ln/>
        </p:spPr>
        <p:txBody>
          <a:bodyPr wrap="square" lIns="0" tIns="0" rIns="0" bIns="0" rtlCol="0" anchor="t"/>
          <a:lstStyle/>
          <a:p>
            <a:pPr algn="l" indent="0" marL="0">
              <a:buNone/>
            </a:pPr>
            <a:r>
              <a:rPr lang="en-US" sz="4000" b="1" dirty="0">
                <a:solidFill>
                  <a:srgbClr val="FFFFFF"/>
                </a:solidFill>
                <a:latin typeface="Arial" pitchFamily="34" charset="0"/>
                <a:ea typeface="Arial" pitchFamily="34" charset="-122"/>
                <a:cs typeface="Arial" pitchFamily="34" charset="-120"/>
              </a:rPr>
              <a:t>Lorem Ipsum Generator Stress Test</a:t>
            </a:r>
            <a:endParaRPr lang="en-US" sz="4000" dirty="0"/>
          </a:p>
        </p:txBody>
      </p:sp>
      <p:sp>
        <p:nvSpPr>
          <p:cNvPr id="4" name="Text 1"/>
          <p:cNvSpPr/>
          <p:nvPr/>
        </p:nvSpPr>
        <p:spPr>
          <a:xfrm>
            <a:off x="998433" y="5005883"/>
            <a:ext cx="3697834" cy="809976"/>
          </a:xfrm>
          <a:prstGeom prst="rect">
            <a:avLst/>
          </a:prstGeom>
          <a:noFill/>
          <a:ln/>
        </p:spPr>
        <p:txBody>
          <a:bodyPr wrap="square" lIns="0" tIns="0" rIns="0" bIns="0" rtlCol="0" anchor="t"/>
          <a:lstStyle/>
          <a:p>
            <a:pPr algn="l" indent="0" marL="0">
              <a:buNone/>
            </a:pPr>
            <a:r>
              <a:rPr lang="en-US" sz="1400" dirty="0">
                <a:solidFill>
                  <a:srgbClr val="FFFFFF"/>
                </a:solidFill>
                <a:latin typeface="Arial" pitchFamily="34" charset="0"/>
                <a:ea typeface="Arial" pitchFamily="34" charset="-122"/>
                <a:cs typeface="Arial" pitchFamily="34" charset="-120"/>
              </a:rPr>
              <a:t>Comprehensive placeholder-content run February 2026</a:t>
            </a:r>
            <a:endParaRPr lang="en-US" sz="1400" dirty="0"/>
          </a:p>
        </p:txBody>
      </p:sp>
      <p:pic>
        <p:nvPicPr>
          <p:cNvPr id="5" name="Image 1" descr="Cover photograph">    </p:cNvPr>
          <p:cNvPicPr>
            <a:picLocks noChangeAspect="1"/>
          </p:cNvPicPr>
          <p:nvPr/>
        </p:nvPicPr>
        <p:blipFill>
          <a:blip r:embed="rId2"/>
          <a:srcRect l="4986" r="4986" t="0" b="0"/>
          <a:stretch/>
        </p:blipFill>
        <p:spPr>
          <a:xfrm>
            <a:off x="4915965" y="1456388"/>
            <a:ext cx="6283848" cy="43649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995782" y="431597"/>
            <a:ext cx="2743200" cy="566928"/>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Contents</a:t>
            </a:r>
            <a:endParaRPr lang="en-US" sz="3200" dirty="0"/>
          </a:p>
        </p:txBody>
      </p:sp>
      <p:sp>
        <p:nvSpPr>
          <p:cNvPr id="3" name="Text 1"/>
          <p:cNvSpPr/>
          <p:nvPr/>
        </p:nvSpPr>
        <p:spPr>
          <a:xfrm>
            <a:off x="995782"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01</a:t>
            </a:r>
            <a:endParaRPr lang="en-US" sz="3400" dirty="0"/>
          </a:p>
        </p:txBody>
      </p:sp>
      <p:sp>
        <p:nvSpPr>
          <p:cNvPr id="4" name="Shape 2"/>
          <p:cNvSpPr/>
          <p:nvPr/>
        </p:nvSpPr>
        <p:spPr>
          <a:xfrm>
            <a:off x="995782" y="1737360"/>
            <a:ext cx="502920" cy="0"/>
          </a:xfrm>
          <a:prstGeom prst="line">
            <a:avLst/>
          </a:prstGeom>
          <a:noFill/>
          <a:ln w="12700">
            <a:solidFill>
              <a:srgbClr val="00338D"/>
            </a:solidFill>
            <a:prstDash val="solid"/>
          </a:ln>
        </p:spPr>
      </p:sp>
      <p:sp>
        <p:nvSpPr>
          <p:cNvPr id="5" name="Text 3"/>
          <p:cNvSpPr/>
          <p:nvPr/>
        </p:nvSpPr>
        <p:spPr>
          <a:xfrm>
            <a:off x="995782"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Executive summary</a:t>
            </a:r>
            <a:endParaRPr lang="en-US" sz="1200" dirty="0"/>
          </a:p>
        </p:txBody>
      </p:sp>
      <p:sp>
        <p:nvSpPr>
          <p:cNvPr id="6" name="Text 4"/>
          <p:cNvSpPr/>
          <p:nvPr/>
        </p:nvSpPr>
        <p:spPr>
          <a:xfrm>
            <a:off x="995782"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3-25)</a:t>
            </a:r>
            <a:endParaRPr lang="en-US" sz="1000" dirty="0"/>
          </a:p>
        </p:txBody>
      </p:sp>
      <p:sp>
        <p:nvSpPr>
          <p:cNvPr id="7" name="Text 5"/>
          <p:cNvSpPr/>
          <p:nvPr/>
        </p:nvSpPr>
        <p:spPr>
          <a:xfrm>
            <a:off x="995782" y="2286000"/>
            <a:ext cx="1907987" cy="1124712"/>
          </a:xfrm>
          <a:prstGeom prst="rect">
            <a:avLst/>
          </a:prstGeom>
          <a:noFill/>
          <a:ln/>
        </p:spPr>
        <p:txBody>
          <a:bodyPr wrap="square" lIns="46800" tIns="72000" rIns="90000" bIns="46800" rtlCol="0" anchor="t"/>
          <a:lstStyle/>
          <a:p>
            <a:pPr indent="0" marL="0">
              <a:buNone/>
            </a:pPr>
            <a:r>
              <a:rPr lang="en-US" sz="900" dirty="0">
                <a:solidFill>
                  <a:srgbClr val="000000"/>
                </a:solidFill>
                <a:latin typeface="Arial" pitchFamily="34" charset="0"/>
                <a:ea typeface="Arial" pitchFamily="34" charset="-122"/>
                <a:cs typeface="Arial" pitchFamily="34" charset="-120"/>
              </a:rPr>
              <a:t>Business overview</a:t>
            </a:r>
            <a:endParaRPr lang="en-US" sz="900" dirty="0"/>
          </a:p>
          <a:p>
            <a:pPr indent="0" marL="0">
              <a:buNone/>
            </a:pPr>
            <a:r>
              <a:rPr lang="en-US" sz="900" dirty="0">
                <a:solidFill>
                  <a:srgbClr val="000000"/>
                </a:solidFill>
                <a:latin typeface="Arial" pitchFamily="34" charset="0"/>
                <a:ea typeface="Arial" pitchFamily="34" charset="-122"/>
                <a:cs typeface="Arial" pitchFamily="34" charset="-120"/>
              </a:rPr>
              <a:t>Summary financials</a:t>
            </a:r>
            <a:endParaRPr lang="en-US" sz="900" dirty="0"/>
          </a:p>
          <a:p>
            <a:pPr indent="0" marL="0">
              <a:buNone/>
            </a:pPr>
            <a:r>
              <a:rPr lang="en-US" sz="900" dirty="0">
                <a:solidFill>
                  <a:srgbClr val="000000"/>
                </a:solidFill>
                <a:latin typeface="Arial" pitchFamily="34" charset="0"/>
                <a:ea typeface="Arial" pitchFamily="34" charset="-122"/>
                <a:cs typeface="Arial" pitchFamily="34" charset="-120"/>
              </a:rPr>
              <a:t>Key findings</a:t>
            </a:r>
            <a:endParaRPr lang="en-US" sz="900" dirty="0"/>
          </a:p>
        </p:txBody>
      </p:sp>
      <p:sp>
        <p:nvSpPr>
          <p:cNvPr id="8" name="Text 6"/>
          <p:cNvSpPr/>
          <p:nvPr/>
        </p:nvSpPr>
        <p:spPr>
          <a:xfrm>
            <a:off x="3068361"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02</a:t>
            </a:r>
            <a:endParaRPr lang="en-US" sz="3400" dirty="0"/>
          </a:p>
        </p:txBody>
      </p:sp>
      <p:sp>
        <p:nvSpPr>
          <p:cNvPr id="9" name="Shape 7"/>
          <p:cNvSpPr/>
          <p:nvPr/>
        </p:nvSpPr>
        <p:spPr>
          <a:xfrm>
            <a:off x="3068361" y="1737360"/>
            <a:ext cx="502920" cy="0"/>
          </a:xfrm>
          <a:prstGeom prst="line">
            <a:avLst/>
          </a:prstGeom>
          <a:noFill/>
          <a:ln w="12700">
            <a:solidFill>
              <a:srgbClr val="00338D"/>
            </a:solidFill>
            <a:prstDash val="solid"/>
          </a:ln>
        </p:spPr>
      </p:sp>
      <p:sp>
        <p:nvSpPr>
          <p:cNvPr id="10" name="Text 8"/>
          <p:cNvSpPr/>
          <p:nvPr/>
        </p:nvSpPr>
        <p:spPr>
          <a:xfrm>
            <a:off x="3068361"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Historical trading</a:t>
            </a:r>
            <a:endParaRPr lang="en-US" sz="1200" dirty="0"/>
          </a:p>
        </p:txBody>
      </p:sp>
      <p:sp>
        <p:nvSpPr>
          <p:cNvPr id="11" name="Text 9"/>
          <p:cNvSpPr/>
          <p:nvPr/>
        </p:nvSpPr>
        <p:spPr>
          <a:xfrm>
            <a:off x="3068361"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26-35)</a:t>
            </a:r>
            <a:endParaRPr lang="en-US" sz="1000" dirty="0"/>
          </a:p>
        </p:txBody>
      </p:sp>
      <p:sp>
        <p:nvSpPr>
          <p:cNvPr id="12" name="Text 10"/>
          <p:cNvSpPr/>
          <p:nvPr/>
        </p:nvSpPr>
        <p:spPr>
          <a:xfrm>
            <a:off x="3068361" y="2286000"/>
            <a:ext cx="1907987" cy="1124712"/>
          </a:xfrm>
          <a:prstGeom prst="rect">
            <a:avLst/>
          </a:prstGeom>
          <a:noFill/>
          <a:ln/>
        </p:spPr>
        <p:txBody>
          <a:bodyPr wrap="square" lIns="46800" tIns="72000" rIns="90000" bIns="46800" rtlCol="0" anchor="t"/>
          <a:lstStyle/>
          <a:p>
            <a:pPr indent="0" marL="0">
              <a:buNone/>
            </a:pPr>
            <a:r>
              <a:rPr lang="en-US" sz="900" dirty="0">
                <a:solidFill>
                  <a:srgbClr val="000000"/>
                </a:solidFill>
                <a:latin typeface="Arial" pitchFamily="34" charset="0"/>
                <a:ea typeface="Arial" pitchFamily="34" charset="-122"/>
                <a:cs typeface="Arial" pitchFamily="34" charset="-120"/>
              </a:rPr>
              <a:t>Profit &amp; loss overview</a:t>
            </a:r>
            <a:endParaRPr lang="en-US" sz="900" dirty="0"/>
          </a:p>
          <a:p>
            <a:pPr indent="0" marL="0">
              <a:buNone/>
            </a:pPr>
            <a:r>
              <a:rPr lang="en-US" sz="900" dirty="0">
                <a:solidFill>
                  <a:srgbClr val="000000"/>
                </a:solidFill>
                <a:latin typeface="Arial" pitchFamily="34" charset="0"/>
                <a:ea typeface="Arial" pitchFamily="34" charset="-122"/>
                <a:cs typeface="Arial" pitchFamily="34" charset="-120"/>
              </a:rPr>
              <a:t>Quality of earnings</a:t>
            </a:r>
            <a:endParaRPr lang="en-US" sz="900" dirty="0"/>
          </a:p>
        </p:txBody>
      </p:sp>
      <p:sp>
        <p:nvSpPr>
          <p:cNvPr id="13" name="Text 11"/>
          <p:cNvSpPr/>
          <p:nvPr/>
        </p:nvSpPr>
        <p:spPr>
          <a:xfrm>
            <a:off x="5140940"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03</a:t>
            </a:r>
            <a:endParaRPr lang="en-US" sz="3400" dirty="0"/>
          </a:p>
        </p:txBody>
      </p:sp>
      <p:sp>
        <p:nvSpPr>
          <p:cNvPr id="14" name="Shape 12"/>
          <p:cNvSpPr/>
          <p:nvPr/>
        </p:nvSpPr>
        <p:spPr>
          <a:xfrm>
            <a:off x="5140940" y="1737360"/>
            <a:ext cx="502920" cy="0"/>
          </a:xfrm>
          <a:prstGeom prst="line">
            <a:avLst/>
          </a:prstGeom>
          <a:noFill/>
          <a:ln w="12700">
            <a:solidFill>
              <a:srgbClr val="00338D"/>
            </a:solidFill>
            <a:prstDash val="solid"/>
          </a:ln>
        </p:spPr>
      </p:sp>
      <p:sp>
        <p:nvSpPr>
          <p:cNvPr id="15" name="Text 13"/>
          <p:cNvSpPr/>
          <p:nvPr/>
        </p:nvSpPr>
        <p:spPr>
          <a:xfrm>
            <a:off x="5140940"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Forecast trading</a:t>
            </a:r>
            <a:endParaRPr lang="en-US" sz="1200" dirty="0"/>
          </a:p>
        </p:txBody>
      </p:sp>
      <p:sp>
        <p:nvSpPr>
          <p:cNvPr id="16" name="Text 14"/>
          <p:cNvSpPr/>
          <p:nvPr/>
        </p:nvSpPr>
        <p:spPr>
          <a:xfrm>
            <a:off x="5140940"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36-43)</a:t>
            </a:r>
            <a:endParaRPr lang="en-US" sz="1000" dirty="0"/>
          </a:p>
        </p:txBody>
      </p:sp>
      <p:sp>
        <p:nvSpPr>
          <p:cNvPr id="17" name="Text 15"/>
          <p:cNvSpPr/>
          <p:nvPr/>
        </p:nvSpPr>
        <p:spPr>
          <a:xfrm>
            <a:off x="5140940" y="2286000"/>
            <a:ext cx="1907987" cy="1124712"/>
          </a:xfrm>
          <a:prstGeom prst="rect">
            <a:avLst/>
          </a:prstGeom>
          <a:noFill/>
          <a:ln/>
        </p:spPr>
        <p:txBody>
          <a:bodyPr wrap="square" lIns="46800" tIns="72000" rIns="90000" bIns="46800" rtlCol="0" anchor="t"/>
          <a:lstStyle/>
          <a:p>
            <a:pPr indent="0" marL="0">
              <a:buNone/>
            </a:pPr>
            <a:r>
              <a:rPr lang="en-US" sz="900" dirty="0">
                <a:solidFill>
                  <a:srgbClr val="000000"/>
                </a:solidFill>
                <a:latin typeface="Arial" pitchFamily="34" charset="0"/>
                <a:ea typeface="Arial" pitchFamily="34" charset="-122"/>
                <a:cs typeface="Arial" pitchFamily="34" charset="-120"/>
              </a:rPr>
              <a:t>Forecast overview</a:t>
            </a:r>
            <a:endParaRPr lang="en-US" sz="900" dirty="0"/>
          </a:p>
          <a:p>
            <a:pPr indent="0" marL="0">
              <a:buNone/>
            </a:pPr>
            <a:r>
              <a:rPr lang="en-US" sz="900" dirty="0">
                <a:solidFill>
                  <a:srgbClr val="000000"/>
                </a:solidFill>
                <a:latin typeface="Arial" pitchFamily="34" charset="0"/>
                <a:ea typeface="Arial" pitchFamily="34" charset="-122"/>
                <a:cs typeface="Arial" pitchFamily="34" charset="-120"/>
              </a:rPr>
              <a:t>Forecast assumptions</a:t>
            </a:r>
            <a:endParaRPr lang="en-US" sz="900" dirty="0"/>
          </a:p>
        </p:txBody>
      </p:sp>
      <p:sp>
        <p:nvSpPr>
          <p:cNvPr id="18" name="Text 16"/>
          <p:cNvSpPr/>
          <p:nvPr/>
        </p:nvSpPr>
        <p:spPr>
          <a:xfrm>
            <a:off x="7213519"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04</a:t>
            </a:r>
            <a:endParaRPr lang="en-US" sz="3400" dirty="0"/>
          </a:p>
        </p:txBody>
      </p:sp>
      <p:sp>
        <p:nvSpPr>
          <p:cNvPr id="19" name="Shape 17"/>
          <p:cNvSpPr/>
          <p:nvPr/>
        </p:nvSpPr>
        <p:spPr>
          <a:xfrm>
            <a:off x="7213519" y="1737360"/>
            <a:ext cx="502920" cy="0"/>
          </a:xfrm>
          <a:prstGeom prst="line">
            <a:avLst/>
          </a:prstGeom>
          <a:noFill/>
          <a:ln w="12700">
            <a:solidFill>
              <a:srgbClr val="00338D"/>
            </a:solidFill>
            <a:prstDash val="solid"/>
          </a:ln>
        </p:spPr>
      </p:sp>
      <p:sp>
        <p:nvSpPr>
          <p:cNvPr id="20" name="Text 18"/>
          <p:cNvSpPr/>
          <p:nvPr/>
        </p:nvSpPr>
        <p:spPr>
          <a:xfrm>
            <a:off x="7213519"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Balance sheet</a:t>
            </a:r>
            <a:endParaRPr lang="en-US" sz="1200" dirty="0"/>
          </a:p>
        </p:txBody>
      </p:sp>
      <p:sp>
        <p:nvSpPr>
          <p:cNvPr id="21" name="Text 19"/>
          <p:cNvSpPr/>
          <p:nvPr/>
        </p:nvSpPr>
        <p:spPr>
          <a:xfrm>
            <a:off x="7213519"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44-48)</a:t>
            </a:r>
            <a:endParaRPr lang="en-US" sz="1000" dirty="0"/>
          </a:p>
        </p:txBody>
      </p:sp>
      <p:sp>
        <p:nvSpPr>
          <p:cNvPr id="22" name="Text 20"/>
          <p:cNvSpPr/>
          <p:nvPr/>
        </p:nvSpPr>
        <p:spPr>
          <a:xfrm>
            <a:off x="7213519" y="2286000"/>
            <a:ext cx="1907987" cy="1124712"/>
          </a:xfrm>
          <a:prstGeom prst="rect">
            <a:avLst/>
          </a:prstGeom>
          <a:noFill/>
          <a:ln/>
        </p:spPr>
        <p:txBody>
          <a:bodyPr wrap="square" lIns="46800" tIns="72000" rIns="90000" bIns="46800" rtlCol="0" anchor="t"/>
          <a:lstStyle/>
          <a:p>
            <a:pPr indent="0" marL="0">
              <a:buNone/>
            </a:pPr>
            <a:r>
              <a:rPr lang="en-US" sz="900" dirty="0">
                <a:solidFill>
                  <a:srgbClr val="000000"/>
                </a:solidFill>
                <a:latin typeface="Arial" pitchFamily="34" charset="0"/>
                <a:ea typeface="Arial" pitchFamily="34" charset="-122"/>
                <a:cs typeface="Arial" pitchFamily="34" charset="-120"/>
              </a:rPr>
              <a:t>Balance sheet overview</a:t>
            </a:r>
            <a:endParaRPr lang="en-US" sz="900" dirty="0"/>
          </a:p>
          <a:p>
            <a:pPr indent="0" marL="0">
              <a:buNone/>
            </a:pPr>
            <a:r>
              <a:rPr lang="en-US" sz="900" dirty="0">
                <a:solidFill>
                  <a:srgbClr val="000000"/>
                </a:solidFill>
                <a:latin typeface="Arial" pitchFamily="34" charset="0"/>
                <a:ea typeface="Arial" pitchFamily="34" charset="-122"/>
                <a:cs typeface="Arial" pitchFamily="34" charset="-120"/>
              </a:rPr>
              <a:t>Net debt</a:t>
            </a:r>
            <a:endParaRPr lang="en-US" sz="900" dirty="0"/>
          </a:p>
        </p:txBody>
      </p:sp>
      <p:sp>
        <p:nvSpPr>
          <p:cNvPr id="23" name="Text 21"/>
          <p:cNvSpPr/>
          <p:nvPr/>
        </p:nvSpPr>
        <p:spPr>
          <a:xfrm>
            <a:off x="9286098"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05</a:t>
            </a:r>
            <a:endParaRPr lang="en-US" sz="3400" dirty="0"/>
          </a:p>
        </p:txBody>
      </p:sp>
      <p:sp>
        <p:nvSpPr>
          <p:cNvPr id="24" name="Shape 22"/>
          <p:cNvSpPr/>
          <p:nvPr/>
        </p:nvSpPr>
        <p:spPr>
          <a:xfrm>
            <a:off x="9286098" y="1737360"/>
            <a:ext cx="502920" cy="0"/>
          </a:xfrm>
          <a:prstGeom prst="line">
            <a:avLst/>
          </a:prstGeom>
          <a:noFill/>
          <a:ln w="12700">
            <a:solidFill>
              <a:srgbClr val="00338D"/>
            </a:solidFill>
            <a:prstDash val="solid"/>
          </a:ln>
        </p:spPr>
      </p:sp>
      <p:sp>
        <p:nvSpPr>
          <p:cNvPr id="25" name="Text 23"/>
          <p:cNvSpPr/>
          <p:nvPr/>
        </p:nvSpPr>
        <p:spPr>
          <a:xfrm>
            <a:off x="9286098"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Cash flows</a:t>
            </a:r>
            <a:endParaRPr lang="en-US" sz="1200" dirty="0"/>
          </a:p>
        </p:txBody>
      </p:sp>
      <p:sp>
        <p:nvSpPr>
          <p:cNvPr id="26" name="Text 24"/>
          <p:cNvSpPr/>
          <p:nvPr/>
        </p:nvSpPr>
        <p:spPr>
          <a:xfrm>
            <a:off x="9286098"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49-50)</a:t>
            </a:r>
            <a:endParaRPr lang="en-US" sz="1000" dirty="0"/>
          </a:p>
        </p:txBody>
      </p:sp>
      <p:sp>
        <p:nvSpPr>
          <p:cNvPr id="27" name="Text 25"/>
          <p:cNvSpPr/>
          <p:nvPr/>
        </p:nvSpPr>
        <p:spPr>
          <a:xfrm>
            <a:off x="9286098" y="2286000"/>
            <a:ext cx="1907987" cy="1124712"/>
          </a:xfrm>
          <a:prstGeom prst="rect">
            <a:avLst/>
          </a:prstGeom>
          <a:noFill/>
          <a:ln/>
        </p:spPr>
        <p:txBody>
          <a:bodyPr wrap="square" lIns="46800" tIns="72000" rIns="90000" bIns="46800" rtlCol="0" anchor="t"/>
          <a:lstStyle/>
          <a:p>
            <a:pPr indent="0" marL="0">
              <a:buNone/>
            </a:pPr>
            <a:r>
              <a:rPr lang="en-US" sz="900" dirty="0">
                <a:solidFill>
                  <a:srgbClr val="000000"/>
                </a:solidFill>
                <a:latin typeface="Arial" pitchFamily="34" charset="0"/>
                <a:ea typeface="Arial" pitchFamily="34" charset="-122"/>
                <a:cs typeface="Arial" pitchFamily="34" charset="-120"/>
              </a:rPr>
              <a:t>Operating cash flows</a:t>
            </a:r>
            <a:endParaRPr lang="en-US" sz="900" dirty="0"/>
          </a:p>
        </p:txBody>
      </p:sp>
      <p:sp>
        <p:nvSpPr>
          <p:cNvPr id="28" name="Text 26"/>
          <p:cNvSpPr/>
          <p:nvPr/>
        </p:nvSpPr>
        <p:spPr>
          <a:xfrm>
            <a:off x="995782"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06</a:t>
            </a:r>
            <a:endParaRPr lang="en-US" sz="3400" dirty="0"/>
          </a:p>
        </p:txBody>
      </p:sp>
      <p:sp>
        <p:nvSpPr>
          <p:cNvPr id="29" name="Shape 27"/>
          <p:cNvSpPr/>
          <p:nvPr/>
        </p:nvSpPr>
        <p:spPr>
          <a:xfrm>
            <a:off x="995782" y="4169664"/>
            <a:ext cx="502920" cy="0"/>
          </a:xfrm>
          <a:prstGeom prst="line">
            <a:avLst/>
          </a:prstGeom>
          <a:noFill/>
          <a:ln w="12700">
            <a:solidFill>
              <a:srgbClr val="00338D"/>
            </a:solidFill>
            <a:prstDash val="solid"/>
          </a:ln>
        </p:spPr>
      </p:sp>
      <p:sp>
        <p:nvSpPr>
          <p:cNvPr id="30" name="Text 28"/>
          <p:cNvSpPr/>
          <p:nvPr/>
        </p:nvSpPr>
        <p:spPr>
          <a:xfrm>
            <a:off x="995782"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Reporting</a:t>
            </a:r>
            <a:endParaRPr lang="en-US" sz="1200" dirty="0"/>
          </a:p>
        </p:txBody>
      </p:sp>
      <p:sp>
        <p:nvSpPr>
          <p:cNvPr id="31" name="Text 29"/>
          <p:cNvSpPr/>
          <p:nvPr/>
        </p:nvSpPr>
        <p:spPr>
          <a:xfrm>
            <a:off x="995782"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51-53)</a:t>
            </a:r>
            <a:endParaRPr lang="en-US" sz="1000" dirty="0"/>
          </a:p>
        </p:txBody>
      </p:sp>
      <p:sp>
        <p:nvSpPr>
          <p:cNvPr id="32" name="Text 30"/>
          <p:cNvSpPr/>
          <p:nvPr/>
        </p:nvSpPr>
        <p:spPr>
          <a:xfrm>
            <a:off x="995782" y="4718304"/>
            <a:ext cx="1907987" cy="1124712"/>
          </a:xfrm>
          <a:prstGeom prst="rect">
            <a:avLst/>
          </a:prstGeom>
          <a:noFill/>
          <a:ln/>
        </p:spPr>
        <p:txBody>
          <a:bodyPr wrap="square" lIns="46800" tIns="72000" rIns="90000" bIns="46800" rtlCol="0" anchor="t"/>
          <a:lstStyle/>
          <a:p>
            <a:pPr indent="0" marL="0">
              <a:buNone/>
            </a:pPr>
            <a:r>
              <a:rPr lang="en-US" sz="900" dirty="0">
                <a:solidFill>
                  <a:srgbClr val="000000"/>
                </a:solidFill>
                <a:latin typeface="Arial" pitchFamily="34" charset="0"/>
                <a:ea typeface="Arial" pitchFamily="34" charset="-122"/>
                <a:cs typeface="Arial" pitchFamily="34" charset="-120"/>
              </a:rPr>
              <a:t>Reporting environment</a:t>
            </a:r>
            <a:endParaRPr lang="en-US" sz="900" dirty="0"/>
          </a:p>
        </p:txBody>
      </p:sp>
      <p:sp>
        <p:nvSpPr>
          <p:cNvPr id="33" name="Text 31"/>
          <p:cNvSpPr/>
          <p:nvPr/>
        </p:nvSpPr>
        <p:spPr>
          <a:xfrm>
            <a:off x="3068361"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07</a:t>
            </a:r>
            <a:endParaRPr lang="en-US" sz="3400" dirty="0"/>
          </a:p>
        </p:txBody>
      </p:sp>
      <p:sp>
        <p:nvSpPr>
          <p:cNvPr id="34" name="Shape 32"/>
          <p:cNvSpPr/>
          <p:nvPr/>
        </p:nvSpPr>
        <p:spPr>
          <a:xfrm>
            <a:off x="3068361" y="4169664"/>
            <a:ext cx="502920" cy="0"/>
          </a:xfrm>
          <a:prstGeom prst="line">
            <a:avLst/>
          </a:prstGeom>
          <a:noFill/>
          <a:ln w="12700">
            <a:solidFill>
              <a:srgbClr val="00338D"/>
            </a:solidFill>
            <a:prstDash val="solid"/>
          </a:ln>
        </p:spPr>
      </p:sp>
      <p:sp>
        <p:nvSpPr>
          <p:cNvPr id="35" name="Text 33"/>
          <p:cNvSpPr/>
          <p:nvPr/>
        </p:nvSpPr>
        <p:spPr>
          <a:xfrm>
            <a:off x="3068361"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Value creation</a:t>
            </a:r>
            <a:endParaRPr lang="en-US" sz="1200" dirty="0"/>
          </a:p>
        </p:txBody>
      </p:sp>
      <p:sp>
        <p:nvSpPr>
          <p:cNvPr id="36" name="Text 34"/>
          <p:cNvSpPr/>
          <p:nvPr/>
        </p:nvSpPr>
        <p:spPr>
          <a:xfrm>
            <a:off x="3068361"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54-60)</a:t>
            </a:r>
            <a:endParaRPr lang="en-US" sz="1000" dirty="0"/>
          </a:p>
        </p:txBody>
      </p:sp>
      <p:sp>
        <p:nvSpPr>
          <p:cNvPr id="37" name="Text 35"/>
          <p:cNvSpPr/>
          <p:nvPr/>
        </p:nvSpPr>
        <p:spPr>
          <a:xfrm>
            <a:off x="3068361" y="4718304"/>
            <a:ext cx="1907987" cy="1124712"/>
          </a:xfrm>
          <a:prstGeom prst="rect">
            <a:avLst/>
          </a:prstGeom>
          <a:noFill/>
          <a:ln/>
        </p:spPr>
        <p:txBody>
          <a:bodyPr wrap="square" lIns="46800" tIns="72000" rIns="90000" bIns="46800" rtlCol="0" anchor="t"/>
          <a:lstStyle/>
          <a:p>
            <a:pPr indent="0" marL="0">
              <a:buNone/>
            </a:pPr>
            <a:r>
              <a:rPr lang="en-US" sz="900" dirty="0">
                <a:solidFill>
                  <a:srgbClr val="000000"/>
                </a:solidFill>
                <a:latin typeface="Arial" pitchFamily="34" charset="0"/>
                <a:ea typeface="Arial" pitchFamily="34" charset="-122"/>
                <a:cs typeface="Arial" pitchFamily="34" charset="-120"/>
              </a:rPr>
              <a:t>Financial benchmarking</a:t>
            </a:r>
            <a:endParaRPr lang="en-US" sz="900" dirty="0"/>
          </a:p>
        </p:txBody>
      </p:sp>
      <p:sp>
        <p:nvSpPr>
          <p:cNvPr id="38" name="Text 36"/>
          <p:cNvSpPr/>
          <p:nvPr/>
        </p:nvSpPr>
        <p:spPr>
          <a:xfrm>
            <a:off x="5140940"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08</a:t>
            </a:r>
            <a:endParaRPr lang="en-US" sz="3400" dirty="0"/>
          </a:p>
        </p:txBody>
      </p:sp>
      <p:sp>
        <p:nvSpPr>
          <p:cNvPr id="39" name="Shape 37"/>
          <p:cNvSpPr/>
          <p:nvPr/>
        </p:nvSpPr>
        <p:spPr>
          <a:xfrm>
            <a:off x="5140940" y="4169664"/>
            <a:ext cx="502920" cy="0"/>
          </a:xfrm>
          <a:prstGeom prst="line">
            <a:avLst/>
          </a:prstGeom>
          <a:noFill/>
          <a:ln w="12700">
            <a:solidFill>
              <a:srgbClr val="00338D"/>
            </a:solidFill>
            <a:prstDash val="solid"/>
          </a:ln>
        </p:spPr>
      </p:sp>
      <p:sp>
        <p:nvSpPr>
          <p:cNvPr id="40" name="Text 38"/>
          <p:cNvSpPr/>
          <p:nvPr/>
        </p:nvSpPr>
        <p:spPr>
          <a:xfrm>
            <a:off x="5140940"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Pre-Deal PPA</a:t>
            </a:r>
            <a:endParaRPr lang="en-US" sz="1200" dirty="0"/>
          </a:p>
        </p:txBody>
      </p:sp>
      <p:sp>
        <p:nvSpPr>
          <p:cNvPr id="41" name="Text 39"/>
          <p:cNvSpPr/>
          <p:nvPr/>
        </p:nvSpPr>
        <p:spPr>
          <a:xfrm>
            <a:off x="5140940"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61-65)</a:t>
            </a:r>
            <a:endParaRPr lang="en-US" sz="1000" dirty="0"/>
          </a:p>
        </p:txBody>
      </p:sp>
      <p:sp>
        <p:nvSpPr>
          <p:cNvPr id="42" name="Text 40"/>
          <p:cNvSpPr/>
          <p:nvPr/>
        </p:nvSpPr>
        <p:spPr>
          <a:xfrm>
            <a:off x="5140940" y="4718304"/>
            <a:ext cx="1907987" cy="1124712"/>
          </a:xfrm>
          <a:prstGeom prst="rect">
            <a:avLst/>
          </a:prstGeom>
          <a:noFill/>
          <a:ln/>
        </p:spPr>
        <p:txBody>
          <a:bodyPr wrap="square" lIns="46800" tIns="72000" rIns="90000" bIns="46800" rtlCol="0" anchor="t"/>
          <a:lstStyle/>
          <a:p>
            <a:pPr indent="0" marL="0">
              <a:buNone/>
            </a:pPr>
            <a:r>
              <a:rPr lang="en-US" sz="900" dirty="0">
                <a:solidFill>
                  <a:srgbClr val="000000"/>
                </a:solidFill>
                <a:latin typeface="Arial" pitchFamily="34" charset="0"/>
                <a:ea typeface="Arial" pitchFamily="34" charset="-122"/>
                <a:cs typeface="Arial" pitchFamily="34" charset="-120"/>
              </a:rPr>
              <a:t>Methodology &amp; procedures</a:t>
            </a:r>
            <a:endParaRPr lang="en-US" sz="900" dirty="0"/>
          </a:p>
        </p:txBody>
      </p:sp>
      <p:sp>
        <p:nvSpPr>
          <p:cNvPr id="43" name="Text 41"/>
          <p:cNvSpPr/>
          <p:nvPr/>
        </p:nvSpPr>
        <p:spPr>
          <a:xfrm>
            <a:off x="7213519"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09</a:t>
            </a:r>
            <a:endParaRPr lang="en-US" sz="3400" dirty="0"/>
          </a:p>
        </p:txBody>
      </p:sp>
      <p:sp>
        <p:nvSpPr>
          <p:cNvPr id="44" name="Shape 42"/>
          <p:cNvSpPr/>
          <p:nvPr/>
        </p:nvSpPr>
        <p:spPr>
          <a:xfrm>
            <a:off x="7213519" y="4169664"/>
            <a:ext cx="502920" cy="0"/>
          </a:xfrm>
          <a:prstGeom prst="line">
            <a:avLst/>
          </a:prstGeom>
          <a:noFill/>
          <a:ln w="12700">
            <a:solidFill>
              <a:srgbClr val="00338D"/>
            </a:solidFill>
            <a:prstDash val="solid"/>
          </a:ln>
        </p:spPr>
      </p:sp>
      <p:sp>
        <p:nvSpPr>
          <p:cNvPr id="45" name="Text 43"/>
          <p:cNvSpPr/>
          <p:nvPr/>
        </p:nvSpPr>
        <p:spPr>
          <a:xfrm>
            <a:off x="7213519"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Taxation</a:t>
            </a:r>
            <a:endParaRPr lang="en-US" sz="1200" dirty="0"/>
          </a:p>
        </p:txBody>
      </p:sp>
      <p:sp>
        <p:nvSpPr>
          <p:cNvPr id="46" name="Text 44"/>
          <p:cNvSpPr/>
          <p:nvPr/>
        </p:nvSpPr>
        <p:spPr>
          <a:xfrm>
            <a:off x="7213519"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66-68)</a:t>
            </a:r>
            <a:endParaRPr lang="en-US" sz="1000" dirty="0"/>
          </a:p>
        </p:txBody>
      </p:sp>
      <p:sp>
        <p:nvSpPr>
          <p:cNvPr id="47" name="Text 45"/>
          <p:cNvSpPr/>
          <p:nvPr/>
        </p:nvSpPr>
        <p:spPr>
          <a:xfrm>
            <a:off x="7213519" y="4718304"/>
            <a:ext cx="1907987" cy="1124712"/>
          </a:xfrm>
          <a:prstGeom prst="rect">
            <a:avLst/>
          </a:prstGeom>
          <a:noFill/>
          <a:ln/>
        </p:spPr>
        <p:txBody>
          <a:bodyPr wrap="square" lIns="46800" tIns="72000" rIns="90000" bIns="46800" rtlCol="0" anchor="t"/>
          <a:lstStyle/>
          <a:p>
            <a:pPr indent="0" marL="0">
              <a:buNone/>
            </a:pPr>
            <a:r>
              <a:rPr lang="en-US" sz="900" dirty="0">
                <a:solidFill>
                  <a:srgbClr val="000000"/>
                </a:solidFill>
                <a:latin typeface="Arial" pitchFamily="34" charset="0"/>
                <a:ea typeface="Arial" pitchFamily="34" charset="-122"/>
                <a:cs typeface="Arial" pitchFamily="34" charset="-120"/>
              </a:rPr>
              <a:t>Add title</a:t>
            </a:r>
            <a:endParaRPr lang="en-US" sz="900" dirty="0"/>
          </a:p>
        </p:txBody>
      </p:sp>
      <p:sp>
        <p:nvSpPr>
          <p:cNvPr id="48" name="Text 46"/>
          <p:cNvSpPr/>
          <p:nvPr/>
        </p:nvSpPr>
        <p:spPr>
          <a:xfrm>
            <a:off x="9286098"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10</a:t>
            </a:r>
            <a:endParaRPr lang="en-US" sz="3400" dirty="0"/>
          </a:p>
        </p:txBody>
      </p:sp>
      <p:sp>
        <p:nvSpPr>
          <p:cNvPr id="49" name="Shape 47"/>
          <p:cNvSpPr/>
          <p:nvPr/>
        </p:nvSpPr>
        <p:spPr>
          <a:xfrm>
            <a:off x="9286098" y="4169664"/>
            <a:ext cx="502920" cy="0"/>
          </a:xfrm>
          <a:prstGeom prst="line">
            <a:avLst/>
          </a:prstGeom>
          <a:noFill/>
          <a:ln w="12700">
            <a:solidFill>
              <a:srgbClr val="00338D"/>
            </a:solidFill>
            <a:prstDash val="solid"/>
          </a:ln>
        </p:spPr>
      </p:sp>
      <p:sp>
        <p:nvSpPr>
          <p:cNvPr id="50" name="Text 48"/>
          <p:cNvSpPr/>
          <p:nvPr/>
        </p:nvSpPr>
        <p:spPr>
          <a:xfrm>
            <a:off x="9286098"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Appendices</a:t>
            </a:r>
            <a:endParaRPr lang="en-US" sz="1200" dirty="0"/>
          </a:p>
        </p:txBody>
      </p:sp>
      <p:sp>
        <p:nvSpPr>
          <p:cNvPr id="51" name="Text 49"/>
          <p:cNvSpPr/>
          <p:nvPr/>
        </p:nvSpPr>
        <p:spPr>
          <a:xfrm>
            <a:off x="9286098"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69-77)</a:t>
            </a:r>
            <a:endParaRPr lang="en-US" sz="1000" dirty="0"/>
          </a:p>
        </p:txBody>
      </p:sp>
      <p:sp>
        <p:nvSpPr>
          <p:cNvPr id="52" name="Text 50"/>
          <p:cNvSpPr/>
          <p:nvPr/>
        </p:nvSpPr>
        <p:spPr>
          <a:xfrm>
            <a:off x="9286098" y="4718304"/>
            <a:ext cx="1907987" cy="1124712"/>
          </a:xfrm>
          <a:prstGeom prst="rect">
            <a:avLst/>
          </a:prstGeom>
          <a:noFill/>
          <a:ln/>
        </p:spPr>
        <p:txBody>
          <a:bodyPr wrap="square" lIns="46800" tIns="72000" rIns="90000" bIns="46800" rtlCol="0" anchor="t"/>
          <a:lstStyle/>
          <a:p>
            <a:pPr indent="0" marL="0">
              <a:buNone/>
            </a:pPr>
            <a:r>
              <a:rPr lang="en-US" sz="900" dirty="0">
                <a:solidFill>
                  <a:srgbClr val="000000"/>
                </a:solidFill>
                <a:latin typeface="Arial" pitchFamily="34" charset="0"/>
                <a:ea typeface="Arial" pitchFamily="34" charset="-122"/>
                <a:cs typeface="Arial" pitchFamily="34" charset="-120"/>
              </a:rPr>
              <a:t>Engagement appendices</a:t>
            </a:r>
            <a:endParaRPr lang="en-US" sz="900" dirty="0"/>
          </a:p>
        </p:txBody>
      </p:sp>
      <p:sp>
        <p:nvSpPr>
          <p:cNvPr id="53" name="Text 51"/>
          <p:cNvSpPr/>
          <p:nvPr/>
        </p:nvSpPr>
        <p:spPr>
          <a:xfrm>
            <a:off x="10607040" y="475488"/>
            <a:ext cx="640080" cy="164592"/>
          </a:xfrm>
          <a:prstGeom prst="rect">
            <a:avLst/>
          </a:prstGeom>
          <a:noFill/>
          <a:ln/>
        </p:spPr>
        <p:txBody>
          <a:bodyPr wrap="square" lIns="0" tIns="0" rIns="0" bIns="0" rtlCol="0" anchor="t"/>
          <a:lstStyle/>
          <a:p>
            <a:pPr algn="r" indent="0" marL="0">
              <a:buNone/>
            </a:pPr>
            <a:r>
              <a:rPr lang="en-US" sz="1000" dirty="0">
                <a:solidFill>
                  <a:srgbClr val="00338D"/>
                </a:solidFill>
                <a:latin typeface="Arial" pitchFamily="34" charset="0"/>
                <a:ea typeface="Arial" pitchFamily="34" charset="-122"/>
                <a:cs typeface="Arial" pitchFamily="34" charset="-120"/>
              </a:rPr>
              <a:t>Glossary</a:t>
            </a:r>
            <a:endParaRPr lang="en-US" sz="1000" dirty="0"/>
          </a:p>
        </p:txBody>
      </p:sp>
      <p:sp>
        <p:nvSpPr>
          <p:cNvPr id="54" name="Text 52"/>
          <p:cNvSpPr/>
          <p:nvPr/>
        </p:nvSpPr>
        <p:spPr>
          <a:xfrm>
            <a:off x="10451592" y="786384"/>
            <a:ext cx="795528" cy="164592"/>
          </a:xfrm>
          <a:prstGeom prst="rect">
            <a:avLst/>
          </a:prstGeom>
          <a:noFill/>
          <a:ln/>
        </p:spPr>
        <p:txBody>
          <a:bodyPr wrap="square" lIns="0" tIns="0" rIns="0" bIns="0" rtlCol="0" anchor="t"/>
          <a:lstStyle/>
          <a:p>
            <a:pPr algn="r" indent="0" marL="0">
              <a:buNone/>
            </a:pPr>
            <a:r>
              <a:rPr lang="en-US" sz="1000" dirty="0">
                <a:solidFill>
                  <a:srgbClr val="00338D"/>
                </a:solidFill>
                <a:latin typeface="Arial" pitchFamily="34" charset="0"/>
                <a:ea typeface="Arial" pitchFamily="34" charset="-122"/>
                <a:cs typeface="Arial" pitchFamily="34" charset="-120"/>
              </a:rPr>
              <a:t>KPMG contacts</a:t>
            </a:r>
            <a:endParaRPr lang="en-US" sz="1000" dirty="0"/>
          </a:p>
        </p:txBody>
      </p:sp>
      <p:sp>
        <p:nvSpPr>
          <p:cNvPr id="55" name="Text 5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998525" y="431597"/>
            <a:ext cx="10195560" cy="533095"/>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Profit &amp; loss overview</a:t>
            </a:r>
            <a:endParaRPr lang="en-US" sz="3200" dirty="0"/>
          </a:p>
        </p:txBody>
      </p:sp>
      <p:sp>
        <p:nvSpPr>
          <p:cNvPr id="3" name="Shape 1"/>
          <p:cNvSpPr/>
          <p:nvPr/>
        </p:nvSpPr>
        <p:spPr>
          <a:xfrm>
            <a:off x="995782" y="1179576"/>
            <a:ext cx="7587691" cy="482803"/>
          </a:xfrm>
          <a:prstGeom prst="rect">
            <a:avLst/>
          </a:prstGeom>
          <a:solidFill>
            <a:srgbClr val="FFFFFF">
              <a:alpha val="0"/>
            </a:srgbClr>
          </a:solidFill>
          <a:ln w="12700">
            <a:solidFill>
              <a:srgbClr val="9E9E9E"/>
            </a:solidFill>
            <a:prstDash val="solid"/>
          </a:ln>
        </p:spPr>
      </p:sp>
      <p:sp>
        <p:nvSpPr>
          <p:cNvPr id="4" name="Text 2"/>
          <p:cNvSpPr/>
          <p:nvPr/>
        </p:nvSpPr>
        <p:spPr>
          <a:xfrm>
            <a:off x="995782" y="1179576"/>
            <a:ext cx="7587691" cy="482803"/>
          </a:xfrm>
          <a:prstGeom prst="rect">
            <a:avLst/>
          </a:prstGeom>
          <a:noFill/>
          <a:ln/>
        </p:spPr>
        <p:txBody>
          <a:bodyPr wrap="square" lIns="46800" tIns="72000" rIns="90000" bIns="46800" rtlCol="0" anchor="t"/>
          <a:lstStyle/>
          <a:p>
            <a:pPr indent="0" marL="0">
              <a:buNone/>
            </a:pPr>
            <a:r>
              <a:rPr lang="en-US" sz="900" b="1" dirty="0">
                <a:solidFill>
                  <a:srgbClr val="1E49E2"/>
                </a:solidFill>
                <a:latin typeface="Arial" pitchFamily="34" charset="0"/>
                <a:ea typeface="Arial" pitchFamily="34" charset="-122"/>
                <a:cs typeface="Arial" pitchFamily="34" charset="-120"/>
              </a:rPr>
              <a:t>Use this strapline to summarize the key message - Keep it concise and clear, preferably 1-2 sentences only.</a:t>
            </a:r>
            <a:endParaRPr lang="en-US" sz="900" dirty="0"/>
          </a:p>
        </p:txBody>
      </p:sp>
      <p:graphicFrame>
        <p:nvGraphicFramePr>
          <p:cNvPr id="5" name="Chart 0" descr=""/>
          <p:cNvGraphicFramePr/>
          <p:nvPr/>
        </p:nvGraphicFramePr>
        <p:xfrm>
          <a:off x="8717890" y="984809"/>
          <a:ext cx="2475281" cy="678485"/>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995782" y="1751990"/>
          <a:ext cx="3690518" cy="4122115"/>
        </p:xfrm>
        <a:graphic>
          <a:graphicData uri="http://schemas.openxmlformats.org/drawingml/2006/table">
            <a:tbl>
              <a:tblPr/>
              <a:tblGrid>
                <a:gridCol w="1230173"/>
                <a:gridCol w="1230173"/>
                <a:gridCol w="1230173"/>
              </a:tblGrid>
              <a:tr h="824423">
                <a:tc>
                  <a:txBody>
                    <a:bodyPr/>
                    <a:lstStyle/>
                    <a:p>
                      <a:pPr indent="0" marL="0">
                        <a:buNone/>
                      </a:pPr>
                      <a:r>
                        <a:rPr lang="en-US" sz="800" dirty="0">
                          <a:solidFill>
                            <a:srgbClr val="000000"/>
                          </a:solidFill>
                          <a:latin typeface="Arial" pitchFamily="34" charset="0"/>
                          <a:ea typeface="Arial" pitchFamily="34" charset="-122"/>
                          <a:cs typeface="Arial" pitchFamily="34" charset="-120"/>
                        </a:rPr>
                        <a:t>Metric</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FY23</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FY24</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824423">
                <a:tc>
                  <a:txBody>
                    <a:bodyPr/>
                    <a:lstStyle/>
                    <a:p>
                      <a:pPr indent="0" marL="0">
                        <a:buNone/>
                      </a:pPr>
                      <a:r>
                        <a:rPr lang="en-US" sz="800" dirty="0">
                          <a:solidFill>
                            <a:srgbClr val="000000"/>
                          </a:solidFill>
                          <a:latin typeface="Arial" pitchFamily="34" charset="0"/>
                          <a:ea typeface="Arial" pitchFamily="34" charset="-122"/>
                          <a:cs typeface="Arial" pitchFamily="34" charset="-120"/>
                        </a:rPr>
                        <a:t>Revenue</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120</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144</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824423">
                <a:tc>
                  <a:txBody>
                    <a:bodyPr/>
                    <a:lstStyle/>
                    <a:p>
                      <a:pPr indent="0" marL="0">
                        <a:buNone/>
                      </a:pPr>
                      <a:r>
                        <a:rPr lang="en-US" sz="800" dirty="0">
                          <a:solidFill>
                            <a:srgbClr val="000000"/>
                          </a:solidFill>
                          <a:latin typeface="Arial" pitchFamily="34" charset="0"/>
                          <a:ea typeface="Arial" pitchFamily="34" charset="-122"/>
                          <a:cs typeface="Arial" pitchFamily="34" charset="-120"/>
                        </a:rPr>
                        <a:t>Gross profit</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58</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71</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824423">
                <a:tc>
                  <a:txBody>
                    <a:bodyPr/>
                    <a:lstStyle/>
                    <a:p>
                      <a:pPr indent="0" marL="0">
                        <a:buNone/>
                      </a:pPr>
                      <a:r>
                        <a:rPr lang="en-US" sz="800" dirty="0">
                          <a:solidFill>
                            <a:srgbClr val="000000"/>
                          </a:solidFill>
                          <a:latin typeface="Arial" pitchFamily="34" charset="0"/>
                          <a:ea typeface="Arial" pitchFamily="34" charset="-122"/>
                          <a:cs typeface="Arial" pitchFamily="34" charset="-120"/>
                        </a:rPr>
                        <a:t>EBITDA</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26</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34</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824423">
                <a:tc>
                  <a:txBody>
                    <a:bodyPr/>
                    <a:lstStyle/>
                    <a:p>
                      <a:pPr indent="0" marL="0">
                        <a:buNone/>
                      </a:pPr>
                      <a:r>
                        <a:rPr lang="en-US" sz="800" dirty="0">
                          <a:solidFill>
                            <a:srgbClr val="000000"/>
                          </a:solidFill>
                          <a:latin typeface="Arial" pitchFamily="34" charset="0"/>
                          <a:ea typeface="Arial" pitchFamily="34" charset="-122"/>
                          <a:cs typeface="Arial" pitchFamily="34" charset="-120"/>
                        </a:rPr>
                        <a:t>EBITDA margin</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21.7%</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23.6%</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
        <p:nvSpPr>
          <p:cNvPr id="7" name="Shape 3"/>
          <p:cNvSpPr/>
          <p:nvPr/>
        </p:nvSpPr>
        <p:spPr>
          <a:xfrm>
            <a:off x="4817059" y="1751990"/>
            <a:ext cx="6378854" cy="252374"/>
          </a:xfrm>
          <a:prstGeom prst="rect">
            <a:avLst/>
          </a:prstGeom>
          <a:solidFill>
            <a:srgbClr val="00338D"/>
          </a:solidFill>
          <a:ln w="12700">
            <a:solidFill>
              <a:srgbClr val="00338D"/>
            </a:solidFill>
            <a:prstDash val="solid"/>
          </a:ln>
        </p:spPr>
      </p:sp>
      <p:sp>
        <p:nvSpPr>
          <p:cNvPr id="8" name="Text 4"/>
          <p:cNvSpPr/>
          <p:nvPr/>
        </p:nvSpPr>
        <p:spPr>
          <a:xfrm>
            <a:off x="4890211" y="1751990"/>
            <a:ext cx="6232550" cy="25237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Illustrative revenue bridge</a:t>
            </a:r>
            <a:endParaRPr lang="en-US" sz="1200" dirty="0"/>
          </a:p>
        </p:txBody>
      </p:sp>
      <p:sp>
        <p:nvSpPr>
          <p:cNvPr id="9" name="Shape 5"/>
          <p:cNvSpPr/>
          <p:nvPr/>
        </p:nvSpPr>
        <p:spPr>
          <a:xfrm>
            <a:off x="4817059" y="2003450"/>
            <a:ext cx="6377940" cy="3869741"/>
          </a:xfrm>
          <a:prstGeom prst="rect">
            <a:avLst/>
          </a:prstGeom>
          <a:solidFill>
            <a:srgbClr val="FFFFFF">
              <a:alpha val="0"/>
            </a:srgbClr>
          </a:solidFill>
          <a:ln w="12700">
            <a:solidFill>
              <a:srgbClr val="9E9E9E"/>
            </a:solidFill>
            <a:prstDash val="solid"/>
          </a:ln>
        </p:spPr>
      </p:sp>
      <p:sp>
        <p:nvSpPr>
          <p:cNvPr id="10" name="Text 6"/>
          <p:cNvSpPr/>
          <p:nvPr/>
        </p:nvSpPr>
        <p:spPr>
          <a:xfrm>
            <a:off x="4817059" y="2003450"/>
            <a:ext cx="6377940" cy="3869741"/>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Excepteur sint occaecat cupidatat non proident, sunt in culpa qui officia deserunt mollit anim id est laborum.</a:t>
            </a:r>
            <a:endParaRPr lang="en-US" sz="900" dirty="0"/>
          </a:p>
        </p:txBody>
      </p:sp>
      <p:sp>
        <p:nvSpPr>
          <p:cNvPr id="11" name="Text 7"/>
          <p:cNvSpPr/>
          <p:nvPr/>
        </p:nvSpPr>
        <p:spPr>
          <a:xfrm>
            <a:off x="994867" y="5907024"/>
            <a:ext cx="3599993" cy="210312"/>
          </a:xfrm>
          <a:prstGeom prst="rect">
            <a:avLst/>
          </a:prstGeom>
          <a:noFill/>
          <a:ln/>
        </p:spPr>
        <p:txBody>
          <a:bodyPr wrap="square" lIns="0" tIns="0" rIns="0" bIns="0" rtlCol="0" anchor="t"/>
          <a:lstStyle/>
          <a:p>
            <a:pPr indent="0" marL="0">
              <a:buNone/>
            </a:pPr>
            <a:r>
              <a:rPr lang="en-US" sz="600" b="1" dirty="0">
                <a:solidFill>
                  <a:srgbClr val="00338D"/>
                </a:solidFill>
                <a:latin typeface="Arial" pitchFamily="34" charset="0"/>
                <a:ea typeface="Arial" pitchFamily="34" charset="-122"/>
                <a:cs typeface="Arial" pitchFamily="34" charset="-120"/>
              </a:rPr>
              <a:t>Note: Placeholder data. Source: Synthetic sample.</a:t>
            </a:r>
            <a:endParaRPr lang="en-US" sz="600" dirty="0"/>
          </a:p>
        </p:txBody>
      </p:sp>
      <p:sp>
        <p:nvSpPr>
          <p:cNvPr id="12" name="Text 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01</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Long-Form Text and Layout Stress Test</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Summary Financials — Lorem Scenario</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dirty="0"/>
          </a:p>
        </p:txBody>
      </p:sp>
      <p:sp>
        <p:nvSpPr>
          <p:cNvPr id="4" name="Shape 2"/>
          <p:cNvSpPr/>
          <p:nvPr/>
        </p:nvSpPr>
        <p:spPr>
          <a:xfrm>
            <a:off x="998433" y="1783080"/>
            <a:ext cx="2194560" cy="1005840"/>
          </a:xfrm>
          <a:prstGeom prst="roundRect">
            <a:avLst>
              <a:gd name="adj" fmla="val 5455"/>
            </a:avLst>
          </a:prstGeom>
          <a:solidFill>
            <a:srgbClr val="00338D"/>
          </a:solidFill>
          <a:ln/>
        </p:spPr>
      </p:sp>
      <p:sp>
        <p:nvSpPr>
          <p:cNvPr id="5" name="Text 3"/>
          <p:cNvSpPr/>
          <p:nvPr/>
        </p:nvSpPr>
        <p:spPr>
          <a:xfrm>
            <a:off x="1044153" y="18288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$123.4M</a:t>
            </a:r>
            <a:endParaRPr lang="en-US" sz="1800" dirty="0"/>
          </a:p>
        </p:txBody>
      </p:sp>
      <p:sp>
        <p:nvSpPr>
          <p:cNvPr id="6" name="Text 4"/>
          <p:cNvSpPr/>
          <p:nvPr/>
        </p:nvSpPr>
        <p:spPr>
          <a:xfrm>
            <a:off x="1044153" y="23061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Illustrative Revenue</a:t>
            </a:r>
            <a:endParaRPr lang="en-US" sz="700" dirty="0"/>
          </a:p>
        </p:txBody>
      </p:sp>
      <p:sp>
        <p:nvSpPr>
          <p:cNvPr id="7" name="Text 5"/>
          <p:cNvSpPr/>
          <p:nvPr/>
        </p:nvSpPr>
        <p:spPr>
          <a:xfrm>
            <a:off x="1044153" y="25173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+12.3%</a:t>
            </a:r>
            <a:endParaRPr lang="en-US" sz="600" dirty="0"/>
          </a:p>
        </p:txBody>
      </p:sp>
      <p:sp>
        <p:nvSpPr>
          <p:cNvPr id="8" name="Shape 6"/>
          <p:cNvSpPr/>
          <p:nvPr/>
        </p:nvSpPr>
        <p:spPr>
          <a:xfrm>
            <a:off x="3337560" y="1783080"/>
            <a:ext cx="2194560" cy="1005840"/>
          </a:xfrm>
          <a:prstGeom prst="roundRect">
            <a:avLst>
              <a:gd name="adj" fmla="val 5455"/>
            </a:avLst>
          </a:prstGeom>
          <a:solidFill>
            <a:srgbClr val="1E49E2"/>
          </a:solidFill>
          <a:ln/>
        </p:spPr>
      </p:sp>
      <p:sp>
        <p:nvSpPr>
          <p:cNvPr id="9" name="Text 7"/>
          <p:cNvSpPr/>
          <p:nvPr/>
        </p:nvSpPr>
        <p:spPr>
          <a:xfrm>
            <a:off x="3383280" y="18288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48.7%</a:t>
            </a:r>
            <a:endParaRPr lang="en-US" sz="1800" dirty="0"/>
          </a:p>
        </p:txBody>
      </p:sp>
      <p:sp>
        <p:nvSpPr>
          <p:cNvPr id="10" name="Text 8"/>
          <p:cNvSpPr/>
          <p:nvPr/>
        </p:nvSpPr>
        <p:spPr>
          <a:xfrm>
            <a:off x="3383280" y="23061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Illustrative Gross Margin</a:t>
            </a:r>
            <a:endParaRPr lang="en-US" sz="700" dirty="0"/>
          </a:p>
        </p:txBody>
      </p:sp>
      <p:sp>
        <p:nvSpPr>
          <p:cNvPr id="11" name="Text 9"/>
          <p:cNvSpPr/>
          <p:nvPr/>
        </p:nvSpPr>
        <p:spPr>
          <a:xfrm>
            <a:off x="3383280" y="25173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-1.4pp</a:t>
            </a:r>
            <a:endParaRPr lang="en-US" sz="600" dirty="0"/>
          </a:p>
        </p:txBody>
      </p:sp>
      <p:sp>
        <p:nvSpPr>
          <p:cNvPr id="12" name="Shape 10"/>
          <p:cNvSpPr/>
          <p:nvPr/>
        </p:nvSpPr>
        <p:spPr>
          <a:xfrm>
            <a:off x="5669280" y="1783080"/>
            <a:ext cx="2194560" cy="1005840"/>
          </a:xfrm>
          <a:prstGeom prst="roundRect">
            <a:avLst>
              <a:gd name="adj" fmla="val 5455"/>
            </a:avLst>
          </a:prstGeom>
          <a:solidFill>
            <a:srgbClr val="7213EA"/>
          </a:solidFill>
          <a:ln/>
        </p:spPr>
      </p:sp>
      <p:sp>
        <p:nvSpPr>
          <p:cNvPr id="13" name="Text 11"/>
          <p:cNvSpPr/>
          <p:nvPr/>
        </p:nvSpPr>
        <p:spPr>
          <a:xfrm>
            <a:off x="5715000" y="18288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$67.8M</a:t>
            </a:r>
            <a:endParaRPr lang="en-US" sz="1800" dirty="0"/>
          </a:p>
        </p:txBody>
      </p:sp>
      <p:sp>
        <p:nvSpPr>
          <p:cNvPr id="14" name="Text 12"/>
          <p:cNvSpPr/>
          <p:nvPr/>
        </p:nvSpPr>
        <p:spPr>
          <a:xfrm>
            <a:off x="5715000" y="23061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Illustrative EBITDA</a:t>
            </a:r>
            <a:endParaRPr lang="en-US" sz="700" dirty="0"/>
          </a:p>
        </p:txBody>
      </p:sp>
      <p:sp>
        <p:nvSpPr>
          <p:cNvPr id="15" name="Text 13"/>
          <p:cNvSpPr/>
          <p:nvPr/>
        </p:nvSpPr>
        <p:spPr>
          <a:xfrm>
            <a:off x="5715000" y="25173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+8.9%</a:t>
            </a:r>
            <a:endParaRPr lang="en-US" sz="600" dirty="0"/>
          </a:p>
        </p:txBody>
      </p:sp>
      <p:sp>
        <p:nvSpPr>
          <p:cNvPr id="16" name="Shape 14"/>
          <p:cNvSpPr/>
          <p:nvPr/>
        </p:nvSpPr>
        <p:spPr>
          <a:xfrm>
            <a:off x="8001000" y="1783080"/>
            <a:ext cx="2194560" cy="1005840"/>
          </a:xfrm>
          <a:prstGeom prst="roundRect">
            <a:avLst>
              <a:gd name="adj" fmla="val 5455"/>
            </a:avLst>
          </a:prstGeom>
          <a:solidFill>
            <a:srgbClr val="00B8F5"/>
          </a:solidFill>
          <a:ln/>
        </p:spPr>
      </p:sp>
      <p:sp>
        <p:nvSpPr>
          <p:cNvPr id="17" name="Text 15"/>
          <p:cNvSpPr/>
          <p:nvPr/>
        </p:nvSpPr>
        <p:spPr>
          <a:xfrm>
            <a:off x="8046720" y="18288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3.2x</a:t>
            </a:r>
            <a:endParaRPr lang="en-US" sz="1800" dirty="0"/>
          </a:p>
        </p:txBody>
      </p:sp>
      <p:sp>
        <p:nvSpPr>
          <p:cNvPr id="18" name="Text 16"/>
          <p:cNvSpPr/>
          <p:nvPr/>
        </p:nvSpPr>
        <p:spPr>
          <a:xfrm>
            <a:off x="8046720" y="23061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Illustrative Leverage</a:t>
            </a:r>
            <a:endParaRPr lang="en-US" sz="700" dirty="0"/>
          </a:p>
        </p:txBody>
      </p:sp>
      <p:sp>
        <p:nvSpPr>
          <p:cNvPr id="19" name="Text 17"/>
          <p:cNvSpPr/>
          <p:nvPr/>
        </p:nvSpPr>
        <p:spPr>
          <a:xfrm>
            <a:off x="8046720" y="25173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Stable</a:t>
            </a:r>
            <a:endParaRPr lang="en-US" sz="600" dirty="0"/>
          </a:p>
        </p:txBody>
      </p:sp>
      <p:graphicFrame>
        <p:nvGraphicFramePr>
          <p:cNvPr id="20" name="Chart 0" descr=""/>
          <p:cNvGraphicFramePr/>
          <p:nvPr/>
        </p:nvGraphicFramePr>
        <p:xfrm>
          <a:off x="998433" y="3063240"/>
          <a:ext cx="10204338" cy="3291840"/>
        </p:xfrm>
        <a:graphic xmlns:a="http://schemas.openxmlformats.org/drawingml/2006/main">
          <a:graphicData uri="http://schemas.openxmlformats.org/drawingml/2006/chart">
            <c:chart xmlns:c="http://schemas.openxmlformats.org/drawingml/2006/chart" r:id="rId1"/>
          </a:graphicData>
        </a:graphic>
      </p:graphicFrame>
      <p:sp>
        <p:nvSpPr>
          <p:cNvPr id="21" name="Text 1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Wide Chart + Two Columns (Lorem)</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 Curabitur blandit tempus porttitor. Vestibulum id ligula porta felis euismod semper. Praesent commodo cursus magna, vel scelerisque nisl consectetur et. Donec sed odio dui.</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Synthetic data for layout testing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Wide Chart + Two Columns (Lorem)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 Curabitur blandit tempus porttitor. Vestibulum id ligula porta felis euismod semper. Praesent commodo cursus magna, vel scelerisque nisl consectetur et. Donec sed odio dui.</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Synthetic data for layout testing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Wide Chart + Table + Text (Lorem)</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Curabitur blandit tempus porttitor. Vestibulum id ligula porta felis euismod semper. Praesent commodo cursus magna, vel scelerisque nisl consectetur et. Donec sed odio dui.</a:t>
            </a:r>
            <a:endParaRPr lang="en-US" sz="900" dirty="0"/>
          </a:p>
        </p:txBody>
      </p:sp>
      <p:sp>
        <p:nvSpPr>
          <p:cNvPr id="4" name="Text 2"/>
          <p:cNvSpPr/>
          <p:nvPr/>
        </p:nvSpPr>
        <p:spPr>
          <a:xfrm>
            <a:off x="998433" y="1691640"/>
            <a:ext cx="10204338" cy="178308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p:txBody>
      </p:sp>
      <p:graphicFrame>
        <p:nvGraphicFramePr>
          <p:cNvPr id="5" name="Chart 0" descr=""/>
          <p:cNvGraphicFramePr/>
          <p:nvPr/>
        </p:nvGraphicFramePr>
        <p:xfrm>
          <a:off x="998433" y="3794760"/>
          <a:ext cx="10204338" cy="210677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8433" y="5947258"/>
            <a:ext cx="10204338"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Synthetic data for layout testing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Wide Chart + Table + Text (Lorem)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Curabitur blandit tempus porttitor. Vestibulum id ligula porta felis euismod semper. Praesent commodo cursus magna, vel scelerisque nisl consectetur et. Donec sed odio dui.</a:t>
            </a:r>
            <a:endParaRPr lang="en-US" sz="900" dirty="0"/>
          </a:p>
        </p:txBody>
      </p:sp>
      <p:sp>
        <p:nvSpPr>
          <p:cNvPr id="4" name="Text 2"/>
          <p:cNvSpPr/>
          <p:nvPr/>
        </p:nvSpPr>
        <p:spPr>
          <a:xfrm>
            <a:off x="998433" y="1691640"/>
            <a:ext cx="10204338" cy="178308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p:txBody>
      </p:sp>
      <p:graphicFrame>
        <p:nvGraphicFramePr>
          <p:cNvPr id="5" name="Chart 0" descr=""/>
          <p:cNvGraphicFramePr/>
          <p:nvPr/>
        </p:nvGraphicFramePr>
        <p:xfrm>
          <a:off x="998433" y="3794760"/>
          <a:ext cx="10204338" cy="210677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8433" y="5947258"/>
            <a:ext cx="10204338"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Synthetic data for layout testing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Narrow Table (Lorem)</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 Integer posuere erat a ante venenatis dapibus posuere velit aliquet. Cras mattis consectetur purus sit amet fermentum. Maecenas faucibus mollis interdum. Aenean lacinia bibendum nulla sed consectetur.</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995361" y="1751579"/>
          <a:ext cx="5036396" cy="914400"/>
        </p:xfrm>
        <a:graphic>
          <a:graphicData uri="http://schemas.openxmlformats.org/drawingml/2006/table">
            <a:tbl>
              <a:tblPr/>
              <a:tblGrid>
                <a:gridCol w="1331940"/>
                <a:gridCol w="1331940"/>
                <a:gridCol w="790839"/>
                <a:gridCol w="790839"/>
                <a:gridCol w="790839"/>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Category</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Description</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Value A</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Value B</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Delta</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Alpha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100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114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+14</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Beta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200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215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+15</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Gamma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175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169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Delta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101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+11</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Epsilon</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145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188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+43</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Text 2"/>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900" b="1" dirty="0">
                <a:solidFill>
                  <a:srgbClr val="00338D"/>
                </a:solidFill>
                <a:latin typeface="Arial" pitchFamily="34" charset="0"/>
                <a:ea typeface="Arial" pitchFamily="34" charset="-122"/>
                <a:cs typeface="Arial" pitchFamily="34" charset="-120"/>
              </a:rPr>
              <a:t>Key takeaways</a:t>
            </a:r>
            <a:endParaRPr lang="en-US" sz="900" dirty="0"/>
          </a:p>
        </p:txBody>
      </p:sp>
      <p:sp>
        <p:nvSpPr>
          <p:cNvPr id="6" name="Text 3"/>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Key takeaways synthesized from the table inputs for quick scan and discussion.</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Use as a working view; confirm all figures during confirmatory diligence.</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9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Two Column Text (Lorem)</a:t>
            </a:r>
            <a:endParaRPr lang="en-US" sz="3200" dirty="0"/>
          </a:p>
        </p:txBody>
      </p:sp>
      <p:sp>
        <p:nvSpPr>
          <p:cNvPr id="3" name="Text 1"/>
          <p:cNvSpPr/>
          <p:nvPr/>
        </p:nvSpPr>
        <p:spPr>
          <a:xfrm>
            <a:off x="998400" y="1010920"/>
            <a:ext cx="10195200" cy="405765"/>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dirty="0"/>
          </a:p>
        </p:txBody>
      </p:sp>
      <p:sp>
        <p:nvSpPr>
          <p:cNvPr id="4" name="Text 2"/>
          <p:cNvSpPr/>
          <p:nvPr/>
        </p:nvSpPr>
        <p:spPr>
          <a:xfrm>
            <a:off x="997200" y="1408113"/>
            <a:ext cx="5036400" cy="4465800"/>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p:txBody>
      </p:sp>
      <p:sp>
        <p:nvSpPr>
          <p:cNvPr id="5" name="Text 3"/>
          <p:cNvSpPr/>
          <p:nvPr/>
        </p:nvSpPr>
        <p:spPr>
          <a:xfrm>
            <a:off x="6159600" y="1408113"/>
            <a:ext cx="5036400" cy="4465800"/>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Two Columns Text (Lorem)</a:t>
            </a:r>
            <a:endParaRPr lang="en-US" sz="3200" dirty="0"/>
          </a:p>
        </p:txBody>
      </p:sp>
      <p:sp>
        <p:nvSpPr>
          <p:cNvPr id="3" name="Text 1"/>
          <p:cNvSpPr/>
          <p:nvPr/>
        </p:nvSpPr>
        <p:spPr>
          <a:xfrm>
            <a:off x="998433" y="1143000"/>
            <a:ext cx="10204338" cy="405765"/>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 Duis aute irure dolor in reprehenderit in voluptate velit esse cillum dolore eu fugiat nulla pariatur. Excepteur sint occaecat cupidatat non proident, sunt in culpa qui officia deserunt mollit anim id est laborum.</a:t>
            </a:r>
            <a:endParaRPr lang="en-US" sz="900" dirty="0"/>
          </a:p>
        </p:txBody>
      </p:sp>
      <p:sp>
        <p:nvSpPr>
          <p:cNvPr id="4" name="Text 2"/>
          <p:cNvSpPr/>
          <p:nvPr/>
        </p:nvSpPr>
        <p:spPr>
          <a:xfrm>
            <a:off x="998433" y="1600200"/>
            <a:ext cx="5212080" cy="4575658"/>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p:txBody>
      </p:sp>
      <p:sp>
        <p:nvSpPr>
          <p:cNvPr id="5" name="Text 3"/>
          <p:cNvSpPr/>
          <p:nvPr/>
        </p:nvSpPr>
        <p:spPr>
          <a:xfrm>
            <a:off x="6438748" y="1600200"/>
            <a:ext cx="4754880" cy="4575658"/>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10</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One Column Text (Lorem)</a:t>
            </a:r>
            <a:endParaRPr lang="en-US" sz="3200" dirty="0"/>
          </a:p>
        </p:txBody>
      </p:sp>
      <p:sp>
        <p:nvSpPr>
          <p:cNvPr id="3" name="Text 1"/>
          <p:cNvSpPr/>
          <p:nvPr/>
        </p:nvSpPr>
        <p:spPr>
          <a:xfrm>
            <a:off x="998433" y="1143000"/>
            <a:ext cx="10204338" cy="405765"/>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 Lorem ipsum dolor sit amet, consectetur adipiscing elit, sed do eiusmod tempor incididunt ut labore et dolore magna aliqua. Ut enim ad minim veniam, quis nostrud exercitation ullamco laboris nisi ut aliquip ex ea commodo consequat.</a:t>
            </a:r>
            <a:endParaRPr lang="en-US" sz="900" dirty="0"/>
          </a:p>
        </p:txBody>
      </p:sp>
      <p:sp>
        <p:nvSpPr>
          <p:cNvPr id="4" name="Text 2"/>
          <p:cNvSpPr/>
          <p:nvPr/>
        </p:nvSpPr>
        <p:spPr>
          <a:xfrm>
            <a:off x="998433" y="1691640"/>
            <a:ext cx="10204338"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11</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Title + Strapline + 4 Text Boxes (Lorem)</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 Integer posuere erat a ante venenatis dapibus posuere velit aliquet. Cras mattis consectetur purus sit amet fermentum. Maecenas faucibus mollis interdum. Aenean lacinia bibendum nulla sed consectetur.</a:t>
            </a:r>
            <a:endParaRPr lang="en-US" sz="900" dirty="0"/>
          </a:p>
        </p:txBody>
      </p:sp>
      <p:sp>
        <p:nvSpPr>
          <p:cNvPr id="4" name="Text 2"/>
          <p:cNvSpPr/>
          <p:nvPr/>
        </p:nvSpPr>
        <p:spPr>
          <a:xfrm>
            <a:off x="998433" y="1554480"/>
            <a:ext cx="2377440" cy="274320"/>
          </a:xfrm>
          <a:prstGeom prst="rect">
            <a:avLst/>
          </a:prstGeom>
          <a:noFill/>
          <a:ln/>
        </p:spPr>
        <p:txBody>
          <a:bodyPr wrap="square" lIns="46800" tIns="72000" rIns="90000" bIns="46800" rtlCol="0" anchor="ctr"/>
          <a:lstStyle/>
          <a:p>
            <a:pPr indent="0" marL="0">
              <a:buNone/>
            </a:pPr>
            <a:r>
              <a:rPr lang="en-US" sz="900" b="1" dirty="0">
                <a:solidFill>
                  <a:srgbClr val="00338D"/>
                </a:solidFill>
                <a:latin typeface="Arial" pitchFamily="34" charset="0"/>
                <a:ea typeface="Arial" pitchFamily="34" charset="-122"/>
                <a:cs typeface="Arial" pitchFamily="34" charset="-120"/>
              </a:rPr>
              <a:t>Workstream 1</a:t>
            </a:r>
            <a:endParaRPr lang="en-US" sz="900" dirty="0"/>
          </a:p>
        </p:txBody>
      </p:sp>
      <p:sp>
        <p:nvSpPr>
          <p:cNvPr id="5" name="Text 3"/>
          <p:cNvSpPr/>
          <p:nvPr/>
        </p:nvSpPr>
        <p:spPr>
          <a:xfrm>
            <a:off x="998433"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p:txBody>
      </p:sp>
      <p:sp>
        <p:nvSpPr>
          <p:cNvPr id="6" name="Text 4"/>
          <p:cNvSpPr/>
          <p:nvPr/>
        </p:nvSpPr>
        <p:spPr>
          <a:xfrm>
            <a:off x="3566160" y="1554480"/>
            <a:ext cx="2377440" cy="274320"/>
          </a:xfrm>
          <a:prstGeom prst="rect">
            <a:avLst/>
          </a:prstGeom>
          <a:noFill/>
          <a:ln/>
        </p:spPr>
        <p:txBody>
          <a:bodyPr wrap="square" lIns="46800" tIns="72000" rIns="90000" bIns="46800" rtlCol="0" anchor="ctr"/>
          <a:lstStyle/>
          <a:p>
            <a:pPr indent="0" marL="0">
              <a:buNone/>
            </a:pPr>
            <a:r>
              <a:rPr lang="en-US" sz="900" b="1" dirty="0">
                <a:solidFill>
                  <a:srgbClr val="00338D"/>
                </a:solidFill>
                <a:latin typeface="Arial" pitchFamily="34" charset="0"/>
                <a:ea typeface="Arial" pitchFamily="34" charset="-122"/>
                <a:cs typeface="Arial" pitchFamily="34" charset="-120"/>
              </a:rPr>
              <a:t>Workstream 2</a:t>
            </a:r>
            <a:endParaRPr lang="en-US" sz="900" dirty="0"/>
          </a:p>
        </p:txBody>
      </p:sp>
      <p:sp>
        <p:nvSpPr>
          <p:cNvPr id="7" name="Text 5"/>
          <p:cNvSpPr/>
          <p:nvPr/>
        </p:nvSpPr>
        <p:spPr>
          <a:xfrm>
            <a:off x="356616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900" dirty="0"/>
          </a:p>
        </p:txBody>
      </p:sp>
      <p:sp>
        <p:nvSpPr>
          <p:cNvPr id="8" name="Text 6"/>
          <p:cNvSpPr/>
          <p:nvPr/>
        </p:nvSpPr>
        <p:spPr>
          <a:xfrm>
            <a:off x="6126480" y="1554480"/>
            <a:ext cx="2377440" cy="274320"/>
          </a:xfrm>
          <a:prstGeom prst="rect">
            <a:avLst/>
          </a:prstGeom>
          <a:noFill/>
          <a:ln/>
        </p:spPr>
        <p:txBody>
          <a:bodyPr wrap="square" lIns="46800" tIns="72000" rIns="90000" bIns="46800" rtlCol="0" anchor="ctr"/>
          <a:lstStyle/>
          <a:p>
            <a:pPr indent="0" marL="0">
              <a:buNone/>
            </a:pPr>
            <a:r>
              <a:rPr lang="en-US" sz="900" b="1" dirty="0">
                <a:solidFill>
                  <a:srgbClr val="00338D"/>
                </a:solidFill>
                <a:latin typeface="Arial" pitchFamily="34" charset="0"/>
                <a:ea typeface="Arial" pitchFamily="34" charset="-122"/>
                <a:cs typeface="Arial" pitchFamily="34" charset="-120"/>
              </a:rPr>
              <a:t>Workstream 3</a:t>
            </a:r>
            <a:endParaRPr lang="en-US" sz="900" dirty="0"/>
          </a:p>
        </p:txBody>
      </p:sp>
      <p:sp>
        <p:nvSpPr>
          <p:cNvPr id="9" name="Text 7"/>
          <p:cNvSpPr/>
          <p:nvPr/>
        </p:nvSpPr>
        <p:spPr>
          <a:xfrm>
            <a:off x="612648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900" dirty="0"/>
          </a:p>
        </p:txBody>
      </p:sp>
      <p:sp>
        <p:nvSpPr>
          <p:cNvPr id="10" name="Text 8"/>
          <p:cNvSpPr/>
          <p:nvPr/>
        </p:nvSpPr>
        <p:spPr>
          <a:xfrm>
            <a:off x="8686800" y="1554480"/>
            <a:ext cx="2377440" cy="274320"/>
          </a:xfrm>
          <a:prstGeom prst="rect">
            <a:avLst/>
          </a:prstGeom>
          <a:noFill/>
          <a:ln/>
        </p:spPr>
        <p:txBody>
          <a:bodyPr wrap="square" lIns="46800" tIns="72000" rIns="90000" bIns="46800" rtlCol="0" anchor="ctr"/>
          <a:lstStyle/>
          <a:p>
            <a:pPr indent="0" marL="0">
              <a:buNone/>
            </a:pPr>
            <a:r>
              <a:rPr lang="en-US" sz="900" b="1" dirty="0">
                <a:solidFill>
                  <a:srgbClr val="00338D"/>
                </a:solidFill>
                <a:latin typeface="Arial" pitchFamily="34" charset="0"/>
                <a:ea typeface="Arial" pitchFamily="34" charset="-122"/>
                <a:cs typeface="Arial" pitchFamily="34" charset="-120"/>
              </a:rPr>
              <a:t>Workstream 4</a:t>
            </a:r>
            <a:endParaRPr lang="en-US" sz="900" dirty="0"/>
          </a:p>
        </p:txBody>
      </p:sp>
      <p:sp>
        <p:nvSpPr>
          <p:cNvPr id="11" name="Text 9"/>
          <p:cNvSpPr/>
          <p:nvPr/>
        </p:nvSpPr>
        <p:spPr>
          <a:xfrm>
            <a:off x="868680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900" dirty="0"/>
          </a:p>
        </p:txBody>
      </p:sp>
      <p:sp>
        <p:nvSpPr>
          <p:cNvPr id="12" name="Text 10"/>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12</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00338D"/>
                </a:solidFill>
                <a:latin typeface="Arial" pitchFamily="34" charset="0"/>
                <a:ea typeface="Arial" pitchFamily="34" charset="-122"/>
                <a:cs typeface="Arial" pitchFamily="34" charset="-120"/>
              </a:rPr>
              <a:t>02</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00338D"/>
                </a:solidFill>
                <a:latin typeface="Arial" pitchFamily="34" charset="0"/>
                <a:ea typeface="Arial" pitchFamily="34" charset="-122"/>
                <a:cs typeface="Arial" pitchFamily="34" charset="-120"/>
              </a:rPr>
              <a:t>Quality of Earnings and Summary Scaffold</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(Lorem)</a:t>
            </a:r>
            <a:endParaRPr lang="en-US" sz="3200" dirty="0"/>
          </a:p>
        </p:txBody>
      </p:sp>
      <p:sp>
        <p:nvSpPr>
          <p:cNvPr id="3" name="Text 1"/>
          <p:cNvSpPr/>
          <p:nvPr/>
        </p:nvSpPr>
        <p:spPr>
          <a:xfrm>
            <a:off x="998433" y="1143000"/>
            <a:ext cx="10204338" cy="405765"/>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 Integer posuere erat a ante venenatis dapibus posuere velit aliquet. Cras mattis consectetur purus sit amet fermentum. Maecenas faucibus mollis interdum. Aenean lacinia bibendum nulla sed consectetur. Curabitur blandit tempus porttitor. Vestibulum id ligula porta felis euismod semper. Praesent commodo cursus magna, vel scelerisque nisl consectetur et. Donec sed odio dui.</a:t>
            </a:r>
            <a:endParaRPr lang="en-US" sz="900" dirty="0"/>
          </a:p>
        </p:txBody>
      </p:sp>
      <p:sp>
        <p:nvSpPr>
          <p:cNvPr id="4" name="Text 2"/>
          <p:cNvSpPr/>
          <p:nvPr/>
        </p:nvSpPr>
        <p:spPr>
          <a:xfrm>
            <a:off x="997200" y="1408113"/>
            <a:ext cx="10195200" cy="44658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900" dirty="0"/>
          </a:p>
          <a:p>
            <a:pPr marL="226800" indent="-226800">
              <a:lnSpc>
                <a:spcPts val="1200"/>
              </a:lnSpc>
              <a:spcAft>
                <a:spcPts val="300"/>
              </a:spcAft>
              <a:buSzPct val="100000"/>
              <a:buChar char="•"/>
            </a:pPr>
            <a:r>
              <a:rPr lang="en-US" sz="9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900" dirty="0"/>
          </a:p>
        </p:txBody>
      </p:sp>
      <p:sp>
        <p:nvSpPr>
          <p:cNvPr id="5" name="Shape 3"/>
          <p:cNvSpPr/>
          <p:nvPr/>
        </p:nvSpPr>
        <p:spPr>
          <a:xfrm>
            <a:off x="997200" y="1179513"/>
            <a:ext cx="10195200" cy="4694400"/>
          </a:xfrm>
          <a:prstGeom prst="rect">
            <a:avLst/>
          </a:prstGeom>
          <a:solidFill>
            <a:srgbClr val="A5C7E5"/>
          </a:solidFill>
          <a:ln w="12700">
            <a:solidFill>
              <a:srgbClr val="00338D"/>
            </a:solidFill>
            <a:prstDash val="solid"/>
          </a:ln>
        </p:spPr>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13</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998525" y="431597"/>
            <a:ext cx="10195560" cy="533095"/>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Summary financials (Scaffold Preview)</a:t>
            </a:r>
            <a:endParaRPr lang="en-US" sz="3200" dirty="0"/>
          </a:p>
        </p:txBody>
      </p:sp>
      <p:sp>
        <p:nvSpPr>
          <p:cNvPr id="3" name="Shape 1"/>
          <p:cNvSpPr/>
          <p:nvPr/>
        </p:nvSpPr>
        <p:spPr>
          <a:xfrm>
            <a:off x="995362" y="1179513"/>
            <a:ext cx="3302806" cy="2296973"/>
          </a:xfrm>
          <a:prstGeom prst="rect">
            <a:avLst/>
          </a:prstGeom>
          <a:solidFill>
            <a:srgbClr val="EDEDED"/>
          </a:solidFill>
          <a:ln w="12700">
            <a:solidFill>
              <a:srgbClr val="EDEDED"/>
            </a:solidFill>
            <a:prstDash val="solid"/>
          </a:ln>
        </p:spPr>
      </p:sp>
      <p:sp>
        <p:nvSpPr>
          <p:cNvPr id="4" name="Text 2"/>
          <p:cNvSpPr/>
          <p:nvPr/>
        </p:nvSpPr>
        <p:spPr>
          <a:xfrm>
            <a:off x="1068514" y="1206945"/>
            <a:ext cx="2479846"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Quality of earnings</a:t>
            </a:r>
            <a:endParaRPr lang="en-US" sz="1000" dirty="0"/>
          </a:p>
        </p:txBody>
      </p:sp>
      <p:sp>
        <p:nvSpPr>
          <p:cNvPr id="5" name="Shape 3"/>
          <p:cNvSpPr/>
          <p:nvPr/>
        </p:nvSpPr>
        <p:spPr>
          <a:xfrm>
            <a:off x="3502640" y="1206945"/>
            <a:ext cx="749808" cy="201168"/>
          </a:xfrm>
          <a:prstGeom prst="roundRect">
            <a:avLst>
              <a:gd name="adj" fmla="val 13636"/>
            </a:avLst>
          </a:prstGeom>
          <a:solidFill>
            <a:srgbClr val="5A1CD7"/>
          </a:solidFill>
          <a:ln w="12700">
            <a:solidFill>
              <a:srgbClr val="5A1CD7"/>
            </a:solidFill>
            <a:prstDash val="solid"/>
          </a:ln>
        </p:spPr>
      </p:sp>
      <p:sp>
        <p:nvSpPr>
          <p:cNvPr id="6" name="Text 4"/>
          <p:cNvSpPr/>
          <p:nvPr/>
        </p:nvSpPr>
        <p:spPr>
          <a:xfrm>
            <a:off x="3502640" y="1216089"/>
            <a:ext cx="74980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Read more</a:t>
            </a:r>
            <a:endParaRPr lang="en-US" sz="700" dirty="0"/>
          </a:p>
        </p:txBody>
      </p:sp>
      <p:sp>
        <p:nvSpPr>
          <p:cNvPr id="7" name="Shape 5"/>
          <p:cNvSpPr/>
          <p:nvPr/>
        </p:nvSpPr>
        <p:spPr>
          <a:xfrm>
            <a:off x="4441587" y="1179513"/>
            <a:ext cx="3302806" cy="2296973"/>
          </a:xfrm>
          <a:prstGeom prst="rect">
            <a:avLst/>
          </a:prstGeom>
          <a:solidFill>
            <a:srgbClr val="EDEDED"/>
          </a:solidFill>
          <a:ln w="12700">
            <a:solidFill>
              <a:srgbClr val="EDEDED"/>
            </a:solidFill>
            <a:prstDash val="solid"/>
          </a:ln>
        </p:spPr>
      </p:sp>
      <p:sp>
        <p:nvSpPr>
          <p:cNvPr id="8" name="Text 6"/>
          <p:cNvSpPr/>
          <p:nvPr/>
        </p:nvSpPr>
        <p:spPr>
          <a:xfrm>
            <a:off x="4514739" y="1206945"/>
            <a:ext cx="2479846"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Net working capital</a:t>
            </a:r>
            <a:endParaRPr lang="en-US" sz="1000" dirty="0"/>
          </a:p>
        </p:txBody>
      </p:sp>
      <p:sp>
        <p:nvSpPr>
          <p:cNvPr id="9" name="Shape 7"/>
          <p:cNvSpPr/>
          <p:nvPr/>
        </p:nvSpPr>
        <p:spPr>
          <a:xfrm>
            <a:off x="6948865" y="1206945"/>
            <a:ext cx="749808" cy="201168"/>
          </a:xfrm>
          <a:prstGeom prst="roundRect">
            <a:avLst>
              <a:gd name="adj" fmla="val 13636"/>
            </a:avLst>
          </a:prstGeom>
          <a:solidFill>
            <a:srgbClr val="5A1CD7"/>
          </a:solidFill>
          <a:ln w="12700">
            <a:solidFill>
              <a:srgbClr val="5A1CD7"/>
            </a:solidFill>
            <a:prstDash val="solid"/>
          </a:ln>
        </p:spPr>
      </p:sp>
      <p:sp>
        <p:nvSpPr>
          <p:cNvPr id="10" name="Text 8"/>
          <p:cNvSpPr/>
          <p:nvPr/>
        </p:nvSpPr>
        <p:spPr>
          <a:xfrm>
            <a:off x="6948865" y="1216089"/>
            <a:ext cx="74980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Read more</a:t>
            </a:r>
            <a:endParaRPr lang="en-US" sz="700" dirty="0"/>
          </a:p>
        </p:txBody>
      </p:sp>
      <p:sp>
        <p:nvSpPr>
          <p:cNvPr id="11" name="Shape 9"/>
          <p:cNvSpPr/>
          <p:nvPr/>
        </p:nvSpPr>
        <p:spPr>
          <a:xfrm>
            <a:off x="7887812" y="1179513"/>
            <a:ext cx="3302806" cy="2296973"/>
          </a:xfrm>
          <a:prstGeom prst="rect">
            <a:avLst/>
          </a:prstGeom>
          <a:solidFill>
            <a:srgbClr val="EDEDED"/>
          </a:solidFill>
          <a:ln w="12700">
            <a:solidFill>
              <a:srgbClr val="EDEDED"/>
            </a:solidFill>
            <a:prstDash val="solid"/>
          </a:ln>
        </p:spPr>
      </p:sp>
      <p:sp>
        <p:nvSpPr>
          <p:cNvPr id="12" name="Text 10"/>
          <p:cNvSpPr/>
          <p:nvPr/>
        </p:nvSpPr>
        <p:spPr>
          <a:xfrm>
            <a:off x="7960964" y="1206945"/>
            <a:ext cx="2479846"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Net debt</a:t>
            </a:r>
            <a:endParaRPr lang="en-US" sz="1000" dirty="0"/>
          </a:p>
        </p:txBody>
      </p:sp>
      <p:sp>
        <p:nvSpPr>
          <p:cNvPr id="13" name="Shape 11"/>
          <p:cNvSpPr/>
          <p:nvPr/>
        </p:nvSpPr>
        <p:spPr>
          <a:xfrm>
            <a:off x="10395090" y="1206945"/>
            <a:ext cx="749808" cy="201168"/>
          </a:xfrm>
          <a:prstGeom prst="roundRect">
            <a:avLst>
              <a:gd name="adj" fmla="val 13636"/>
            </a:avLst>
          </a:prstGeom>
          <a:solidFill>
            <a:srgbClr val="5A1CD7"/>
          </a:solidFill>
          <a:ln w="12700">
            <a:solidFill>
              <a:srgbClr val="5A1CD7"/>
            </a:solidFill>
            <a:prstDash val="solid"/>
          </a:ln>
        </p:spPr>
      </p:sp>
      <p:sp>
        <p:nvSpPr>
          <p:cNvPr id="14" name="Text 12"/>
          <p:cNvSpPr/>
          <p:nvPr/>
        </p:nvSpPr>
        <p:spPr>
          <a:xfrm>
            <a:off x="10395090" y="1216089"/>
            <a:ext cx="74980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Read more</a:t>
            </a:r>
            <a:endParaRPr lang="en-US" sz="700" dirty="0"/>
          </a:p>
        </p:txBody>
      </p:sp>
      <p:sp>
        <p:nvSpPr>
          <p:cNvPr id="15" name="Shape 13"/>
          <p:cNvSpPr/>
          <p:nvPr/>
        </p:nvSpPr>
        <p:spPr>
          <a:xfrm>
            <a:off x="995361" y="3581757"/>
            <a:ext cx="5036400" cy="2296973"/>
          </a:xfrm>
          <a:prstGeom prst="rect">
            <a:avLst/>
          </a:prstGeom>
          <a:solidFill>
            <a:srgbClr val="EDEDED"/>
          </a:solidFill>
          <a:ln w="12700">
            <a:solidFill>
              <a:srgbClr val="EDEDED"/>
            </a:solidFill>
            <a:prstDash val="solid"/>
          </a:ln>
        </p:spPr>
      </p:sp>
      <p:sp>
        <p:nvSpPr>
          <p:cNvPr id="16" name="Text 14"/>
          <p:cNvSpPr/>
          <p:nvPr/>
        </p:nvSpPr>
        <p:spPr>
          <a:xfrm>
            <a:off x="1068513" y="3609189"/>
            <a:ext cx="4899240"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Cash conversion</a:t>
            </a:r>
            <a:endParaRPr lang="en-US" sz="1000" dirty="0"/>
          </a:p>
        </p:txBody>
      </p:sp>
      <p:sp>
        <p:nvSpPr>
          <p:cNvPr id="17" name="Shape 15"/>
          <p:cNvSpPr/>
          <p:nvPr/>
        </p:nvSpPr>
        <p:spPr>
          <a:xfrm>
            <a:off x="6159600" y="3581757"/>
            <a:ext cx="5036400" cy="2296973"/>
          </a:xfrm>
          <a:prstGeom prst="rect">
            <a:avLst/>
          </a:prstGeom>
          <a:solidFill>
            <a:srgbClr val="EDEDED"/>
          </a:solidFill>
          <a:ln w="12700">
            <a:solidFill>
              <a:srgbClr val="EDEDED"/>
            </a:solidFill>
            <a:prstDash val="solid"/>
          </a:ln>
        </p:spPr>
      </p:sp>
      <p:sp>
        <p:nvSpPr>
          <p:cNvPr id="18" name="Text 16"/>
          <p:cNvSpPr/>
          <p:nvPr/>
        </p:nvSpPr>
        <p:spPr>
          <a:xfrm>
            <a:off x="6232752" y="3609189"/>
            <a:ext cx="4899240"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Other bridge</a:t>
            </a:r>
            <a:endParaRPr lang="en-US" sz="1000" dirty="0"/>
          </a:p>
        </p:txBody>
      </p:sp>
      <p:sp>
        <p:nvSpPr>
          <p:cNvPr id="19" name="Text 17"/>
          <p:cNvSpPr/>
          <p:nvPr/>
        </p:nvSpPr>
        <p:spPr>
          <a:xfrm>
            <a:off x="998433" y="5897880"/>
            <a:ext cx="4754880" cy="182880"/>
          </a:xfrm>
          <a:prstGeom prst="rect">
            <a:avLst/>
          </a:prstGeom>
          <a:noFill/>
          <a:ln/>
        </p:spPr>
        <p:txBody>
          <a:bodyPr wrap="square" lIns="0" tIns="0" rIns="0" bIns="0" rtlCol="0" anchor="ctr"/>
          <a:lstStyle/>
          <a:p>
            <a:pPr indent="0" marL="0">
              <a:buNone/>
            </a:pPr>
            <a:r>
              <a:rPr lang="en-US" sz="600" dirty="0">
                <a:solidFill>
                  <a:srgbClr val="666666"/>
                </a:solidFill>
                <a:latin typeface="Arial" pitchFamily="34" charset="0"/>
                <a:ea typeface="Arial" pitchFamily="34" charset="-122"/>
                <a:cs typeface="Arial" pitchFamily="34" charset="-120"/>
              </a:rPr>
              <a:t>Placeholder scaffold only</a:t>
            </a:r>
            <a:endParaRPr lang="en-US" sz="600" dirty="0"/>
          </a:p>
        </p:txBody>
      </p:sp>
      <p:sp>
        <p:nvSpPr>
          <p:cNvPr id="20" name="Text 1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14</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914400" y="3291840"/>
            <a:ext cx="10241280" cy="2194560"/>
          </a:xfrm>
          <a:prstGeom prst="rect">
            <a:avLst/>
          </a:prstGeom>
          <a:noFill/>
          <a:ln/>
        </p:spPr>
        <p:txBody>
          <a:bodyPr wrap="square" rtlCol="0" anchor="t"/>
          <a:lstStyle/>
          <a:p>
            <a:pPr indent="0" marL="0">
              <a:buNone/>
            </a:pPr>
            <a:r>
              <a:rPr lang="en-US" sz="900" dirty="0">
                <a:solidFill>
                  <a:srgbClr val="FFFFFF"/>
                </a:solidFill>
                <a:latin typeface="Arial" pitchFamily="34" charset="0"/>
                <a:ea typeface="Arial" pitchFamily="34" charset="-122"/>
                <a:cs typeface="Arial" pitchFamily="34" charset="-120"/>
              </a:rPr>
              <a:t>Lorem ipsum disclaimer: synthetic content for generator layout preview only.</a:t>
            </a:r>
            <a:endParaRPr lang="en-US" sz="900" dirty="0"/>
          </a:p>
        </p:txBody>
      </p:sp>
      <p:sp>
        <p:nvSpPr>
          <p:cNvPr id="3" name="Text 1">
            <a:hlinkClick r:id="rId1" tooltip=""/>
          </p:cNvPr>
          <p:cNvSpPr/>
          <p:nvPr/>
        </p:nvSpPr>
        <p:spPr>
          <a:xfrm>
            <a:off x="914400" y="5760720"/>
            <a:ext cx="3657600" cy="274320"/>
          </a:xfrm>
          <a:prstGeom prst="rect">
            <a:avLst/>
          </a:prstGeom>
          <a:noFill/>
          <a:ln/>
        </p:spPr>
        <p:txBody>
          <a:bodyPr wrap="square" rtlCol="0" anchor="ctr"/>
          <a:lstStyle/>
          <a:p>
            <a:pPr indent="0" marL="0">
              <a:buNone/>
            </a:pPr>
            <a:r>
              <a:rPr lang="en-US" sz="900" b="1" u="sng" dirty="0">
                <a:solidFill>
                  <a:srgbClr val="FFFFFF"/>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www.kpmg.com</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KPMG LLP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KPMG Lorem Ipsum Stress Test Deck (v3 contents + pnl)</dc:title>
  <dc:subject>Layout and overflow stress-test using placeholder prose</dc:subject>
  <dc:creator>kpmg-slidegen</dc:creator>
  <cp:lastModifiedBy>kpmg-slidegen</cp:lastModifiedBy>
  <cp:revision>1</cp:revision>
  <dcterms:created xsi:type="dcterms:W3CDTF">2026-02-20T00:29:58Z</dcterms:created>
  <dcterms:modified xsi:type="dcterms:W3CDTF">2026-02-20T00:29:58Z</dcterms:modified>
</cp:coreProperties>
</file>