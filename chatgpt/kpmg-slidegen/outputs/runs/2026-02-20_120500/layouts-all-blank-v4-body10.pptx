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ark Divider" id="{02c8b6fc-e646-7766-88db-c8971481f06e}">
          <p14:sldIdLst/>
        </p14:section>
        <p14:section name="Default-1" id="{1f7057b2-c4cc-6fe9-4d22-eb31d4f6f94c}">
          <p14:sldIdLst>
            <p14:sldId id="258"/>
          </p14:sldIdLst>
        </p14:section>
        <p14:section name="Dark Divider" id="{1a56720a-d900-6d02-8b2a-4e587e571c7c}">
          <p14:sldIdLst/>
        </p14:section>
        <p14:section name="Default-2" id="{70f68108-1146-05be-4ce5-3ccbd2d76828}">
          <p14:sldIdLst>
            <p14:sldId id="259"/>
          </p14:sldIdLst>
        </p14:section>
        <p14:section name="Light Divider" id="{1e846d46-a877-0839-55ea-c6bb42b241bc}">
          <p14:sldIdLst/>
        </p14:section>
        <p14:section name="Default-3" id="{d8da0d52-56da-9bb6-8a18-d9cc3b87df91}">
          <p14:sldIdLst>
            <p14:sldId id="260"/>
            <p14:sldId id="261"/>
            <p14:sldId id="262"/>
            <p14:sldId id="263"/>
            <p14:sldId id="264"/>
            <p14:sldId id="265"/>
            <p14:sldId id="266"/>
            <p14:sldId id="267"/>
            <p14:sldId id="268"/>
            <p14:sldId id="269"/>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v>
                </c:pt>
              </c:strCache>
            </c:strRef>
          </c:tx>
          <c:spPr>
            <a:solidFill>
              <a:srgbClr val="00338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A</c:v>
                  </c:pt>
                  <c:pt idx="1">
                    <c:v>B</c:v>
                  </c:pt>
                  <c:pt idx="2">
                    <c:v>C</c:v>
                  </c:pt>
                  <c:pt idx="3">
                    <c:v>D</c:v>
                  </c:pt>
                </c:lvl>
              </c:multiLvlStrCache>
            </c:multiLvlStrRef>
          </c:cat>
          <c:val>
            <c:numRef>
              <c:f>Sheet1!$B$2:$B$5</c:f>
              <c:numCache>
                <c:formatCode>General</c:formatCode>
                <c:ptCount val="4"/>
                <c:pt idx="0">
                  <c:v>1</c:v>
                </c:pt>
                <c:pt idx="1">
                  <c:v>2</c:v>
                </c:pt>
                <c:pt idx="2">
                  <c:v>3</c:v>
                </c:pt>
                <c:pt idx="3">
                  <c:v>4</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v>
                </c:pt>
              </c:strCache>
            </c:strRef>
          </c:tx>
          <c:spPr>
            <a:solidFill>
              <a:srgbClr val="00338D"/>
            </a:solidFill>
            <a:effectLst/>
          </c:spPr>
          <c:invertIfNegative val="0"/>
          <c:dLbls>
            <c:numFmt formatCode="#,##0" sourceLinked="0"/>
            <c:spPr>
              <a:solidFill>
                <a:srgbClr val="00338D"/>
              </a:solidFill>
            </c:spPr>
            <c:txPr>
              <a:bodyPr/>
              <a:lstStyle/>
              <a:p>
                <a:pPr>
                  <a:defRPr b="0" i="0" strike="noStrike" sz="1200" u="none">
                    <a:solidFill>
                      <a:srgbClr val="FFFFFF"/>
                    </a:solidFill>
                    <a:latin typeface="Arial"/>
                  </a:defRPr>
                </a:pPr>
              </a:p>
            </c:txPr>
            <c:dLblPos val="inEnd"/>
            <c:showLegendKey val="0"/>
            <c:showVal val="1"/>
            <c:showCatName val="0"/>
            <c:showSerName val="0"/>
            <c:showPercent val="0"/>
            <c:showBubbleSize val="0"/>
            <c:showLeaderLines val="0"/>
          </c:dLbls>
          <c:dPt>
            <c:idx val="0"/>
            <c:invertIfNegative val="0"/>
            <c:bubble3D val="0"/>
            <c:spPr>
              <a:solidFill>
                <a:srgbClr val="00338D"/>
              </a:solidFill>
              <a:effectLst/>
            </c:spPr>
          </c:dPt>
          <c:dPt>
            <c:idx val="1"/>
            <c:invertIfNegative val="0"/>
            <c:bubble3D val="0"/>
            <c:spPr>
              <a:solidFill>
                <a:srgbClr val="1E49E2"/>
              </a:solidFill>
              <a:effectLst/>
            </c:spPr>
          </c:dPt>
          <c:dPt>
            <c:idx val="2"/>
            <c:invertIfNegative val="0"/>
            <c:bubble3D val="0"/>
            <c:spPr>
              <a:solidFill>
                <a:srgbClr val="00B8F5"/>
              </a:solidFill>
              <a:effectLst/>
            </c:spPr>
          </c:dPt>
          <c:dPt>
            <c:idx val="3"/>
            <c:invertIfNegative val="0"/>
            <c:bubble3D val="0"/>
            <c:spPr>
              <a:solidFill>
                <a:srgbClr val="7213EA"/>
              </a:solidFill>
              <a:effectLst/>
            </c:spPr>
          </c:dPt>
          <c:cat>
            <c:multiLvlStrRef>
              <c:f>Sheet1!$A$2:$A$5</c:f>
              <c:multiLvlStrCache>
                <c:ptCount val="4"/>
                <c:lvl>
                  <c:pt idx="0">
                    <c:v>A</c:v>
                  </c:pt>
                  <c:pt idx="1">
                    <c:v>B</c:v>
                  </c:pt>
                  <c:pt idx="2">
                    <c:v>C</c:v>
                  </c:pt>
                  <c:pt idx="3">
                    <c:v>D</c:v>
                  </c:pt>
                </c:lvl>
              </c:multiLvlStrCache>
            </c:multiLvlStrRef>
          </c:cat>
          <c:val>
            <c:numRef>
              <c:f>Sheet1!$B$2:$B$5</c:f>
              <c:numCache>
                <c:formatCode>General</c:formatCode>
                <c:ptCount val="4"/>
                <c:pt idx="0">
                  <c:v>1</c:v>
                </c:pt>
                <c:pt idx="1">
                  <c:v>2</c:v>
                </c:pt>
                <c:pt idx="2">
                  <c:v>3</c:v>
                </c:pt>
                <c:pt idx="3">
                  <c:v>4</c:v>
                </c:pt>
              </c:numCache>
            </c:numRef>
          </c:val>
        </c:ser>
        <c:dLbls>
          <c:numFmt formatCode="#,##0" sourceLinked="0"/>
          <c:txPr>
            <a:bodyPr/>
            <a:lstStyle/>
            <a:p>
              <a:pPr>
                <a:defRPr b="0" i="0" strike="noStrike" sz="12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A</c:v>
                  </c:pt>
                  <c:pt idx="1">
                    <c:v>B</c:v>
                  </c:pt>
                  <c:pt idx="2">
                    <c:v>C</c:v>
                  </c:pt>
                  <c:pt idx="3">
                    <c:v>D</c:v>
                  </c:pt>
                </c:lvl>
              </c:multiLvlStrCache>
            </c:multiLvlStrRef>
          </c:cat>
          <c:val>
            <c:numRef>
              <c:f>Sheet1!$B$2:$B$5</c:f>
              <c:numCache>
                <c:formatCode>General</c:formatCode>
                <c:ptCount val="4"/>
                <c:pt idx="0">
                  <c:v>1</c:v>
                </c:pt>
                <c:pt idx="1">
                  <c:v>2</c:v>
                </c:pt>
                <c:pt idx="2">
                  <c:v>3</c:v>
                </c:pt>
                <c:pt idx="3">
                  <c:v>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A</c:v>
                  </c:pt>
                  <c:pt idx="1">
                    <c:v>B</c:v>
                  </c:pt>
                  <c:pt idx="2">
                    <c:v>C</c:v>
                  </c:pt>
                  <c:pt idx="3">
                    <c:v>D</c:v>
                  </c:pt>
                </c:lvl>
              </c:multiLvlStrCache>
            </c:multiLvlStrRef>
          </c:cat>
          <c:val>
            <c:numRef>
              <c:f>Sheet1!$B$2:$B$5</c:f>
              <c:numCache>
                <c:formatCode>General</c:formatCode>
                <c:ptCount val="4"/>
                <c:pt idx="0">
                  <c:v>1</c:v>
                </c:pt>
                <c:pt idx="1">
                  <c:v>2</c:v>
                </c:pt>
                <c:pt idx="2">
                  <c:v>3</c:v>
                </c:pt>
                <c:pt idx="3">
                  <c:v>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mage-1003-3.sv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image-1007-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PMG_WHITE">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templates/kpmg-diligence/assets/kpmg-logo.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097" y="6267298"/>
            <a:ext cx="483718" cy="196596"/>
          </a:xfrm>
          <a:prstGeom prst="rect">
            <a:avLst/>
          </a:prstGeom>
        </p:spPr>
      </p:pic>
      <p:sp>
        <p:nvSpPr>
          <p:cNvPr id="3"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[year] [legal member firm name], a [jurisdiction] [legal structure] and a member firm of the KPMG global organization of independent member firms affiliated with KPMG International Limited, a private English company limited by guarantee. All rights reserved.</a:t>
            </a:r>
            <a:endParaRPr lang="en-US" sz="600" dirty="0"/>
          </a:p>
        </p:txBody>
      </p:sp>
      <p:sp>
        <p:nvSpPr>
          <p:cNvPr id="4" name="Text 1"/>
          <p:cNvSpPr/>
          <p:nvPr/>
        </p:nvSpPr>
        <p:spPr>
          <a:xfrm>
            <a:off x="9326880" y="6267298"/>
            <a:ext cx="1536192" cy="184709"/>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5" name="Text 2"/>
          <p:cNvSpPr/>
          <p:nvPr/>
        </p:nvSpPr>
        <p:spPr>
          <a:xfrm>
            <a:off x="11448288" y="6556248"/>
            <a:ext cx="621792" cy="164592"/>
          </a:xfrm>
          <a:prstGeom prst="rect">
            <a:avLst/>
          </a:prstGeom>
          <a:noFill/>
          <a:ln/>
        </p:spPr>
        <p:txBody>
          <a:bodyPr wrap="square" rtlCol="0" anchor="ctr"/>
          <a:lstStyle/>
          <a:p>
            <a:pPr algn="r" indent="0" marL="0">
              <a:buNone/>
            </a:pPr>
            <a:r>
              <a:rPr lang="en-US" sz="1400" b="1" dirty="0">
                <a:solidFill>
                  <a:srgbClr val="FD349C"/>
                </a:solidFill>
                <a:latin typeface="Arial" pitchFamily="34" charset="0"/>
                <a:ea typeface="Arial" pitchFamily="34" charset="-122"/>
                <a:cs typeface="Arial" pitchFamily="34" charset="-120"/>
              </a:rPr>
              <a:t>DRAFT</a:t>
            </a:r>
            <a:endParaRPr lang="en-US" sz="1400" dirty="0"/>
          </a:p>
        </p:txBody>
      </p:sp>
      <p:sp>
        <p:nvSpPr>
          <p:cNvPr id="6" name="Shape 3"/>
          <p:cNvSpPr/>
          <p:nvPr/>
        </p:nvSpPr>
        <p:spPr>
          <a:xfrm>
            <a:off x="10927080" y="6267298"/>
            <a:ext cx="0" cy="149047"/>
          </a:xfrm>
          <a:prstGeom prst="line">
            <a:avLst/>
          </a:prstGeom>
          <a:noFill/>
          <a:ln w="12700">
            <a:solidFill>
              <a:srgbClr val="1E49E2"/>
            </a:solidFill>
            <a:prstDash val="solid"/>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PMG_SUMMARY">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accent_chip_300dpi.png">    </p:cNvPr>
          <p:cNvPicPr>
            <a:picLocks noChangeAspect="1"/>
          </p:cNvPicPr>
          <p:nvPr/>
        </p:nvPicPr>
        <p:blipFill>
          <a:blip r:embed="rId1"/>
          <a:stretch>
            <a:fillRect/>
          </a:stretch>
        </p:blipFill>
        <p:spPr>
          <a:xfrm>
            <a:off x="11534242" y="103327"/>
            <a:ext cx="222199" cy="222199"/>
          </a:xfrm>
          <a:prstGeom prst="rect">
            <a:avLst/>
          </a:prstGeom>
        </p:spPr>
      </p:pic>
      <p:pic>
        <p:nvPicPr>
          <p:cNvPr id="3" name="Image 1" descr="/Users/rishi/Code/ai-tools/chatgpt/kpmg-slidegen/templates/kpmg-diligence/assets/kpmg-logo.sv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3097" y="6267298"/>
            <a:ext cx="483718" cy="196596"/>
          </a:xfrm>
          <a:prstGeom prst="rect">
            <a:avLst/>
          </a:prstGeom>
        </p:spPr>
      </p:pic>
      <p:sp>
        <p:nvSpPr>
          <p:cNvPr id="4"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[year] [legal member firm name], a [jurisdiction] [legal structure] and a member firm of the KPMG global organization of independent member firms affiliated with KPMG International Limited, a private English company limited by guarantee. All rights reserved.</a:t>
            </a:r>
            <a:endParaRPr lang="en-US" sz="600" dirty="0"/>
          </a:p>
        </p:txBody>
      </p:sp>
      <p:sp>
        <p:nvSpPr>
          <p:cNvPr id="5" name="Text 1"/>
          <p:cNvSpPr/>
          <p:nvPr/>
        </p:nvSpPr>
        <p:spPr>
          <a:xfrm>
            <a:off x="9326880" y="6267298"/>
            <a:ext cx="1536192" cy="184709"/>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6" name="Text 2"/>
          <p:cNvSpPr/>
          <p:nvPr/>
        </p:nvSpPr>
        <p:spPr>
          <a:xfrm>
            <a:off x="11448288" y="6556248"/>
            <a:ext cx="621792" cy="164592"/>
          </a:xfrm>
          <a:prstGeom prst="rect">
            <a:avLst/>
          </a:prstGeom>
          <a:noFill/>
          <a:ln/>
        </p:spPr>
        <p:txBody>
          <a:bodyPr wrap="square" rtlCol="0" anchor="ctr"/>
          <a:lstStyle/>
          <a:p>
            <a:pPr algn="r" indent="0" marL="0">
              <a:buNone/>
            </a:pPr>
            <a:r>
              <a:rPr lang="en-US" sz="1400" b="1" dirty="0">
                <a:solidFill>
                  <a:srgbClr val="FD349C"/>
                </a:solidFill>
                <a:latin typeface="Arial" pitchFamily="34" charset="0"/>
                <a:ea typeface="Arial" pitchFamily="34" charset="-122"/>
                <a:cs typeface="Arial" pitchFamily="34" charset="-120"/>
              </a:rPr>
              <a:t>DRAFT</a:t>
            </a:r>
            <a:endParaRPr lang="en-US" sz="1400" dirty="0"/>
          </a:p>
        </p:txBody>
      </p:sp>
      <p:sp>
        <p:nvSpPr>
          <p:cNvPr id="7" name="Shape 3"/>
          <p:cNvSpPr/>
          <p:nvPr/>
        </p:nvSpPr>
        <p:spPr>
          <a:xfrm>
            <a:off x="10927080" y="6267298"/>
            <a:ext cx="0" cy="149047"/>
          </a:xfrm>
          <a:prstGeom prst="line">
            <a:avLst/>
          </a:prstGeom>
          <a:noFill/>
          <a:ln w="12700">
            <a:solidFill>
              <a:srgbClr val="1E49E2"/>
            </a:solidFill>
            <a:prstDash val="solid"/>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PMG_COVER">
    <p:bg>
      <p:bgPr>
        <a:solidFill>
          <a:srgbClr val="1E49E2"/>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KPMG_SECTION_DARK">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divider_window_300dpi.png">    </p:cNvPr>
          <p:cNvPicPr>
            <a:picLocks noChangeAspect="1"/>
          </p:cNvPicPr>
          <p:nvPr/>
        </p:nvPicPr>
        <p:blipFill>
          <a:blip r:embed="rId1"/>
          <a:stretch>
            <a:fillRect/>
          </a:stretch>
        </p:blipFill>
        <p:spPr>
          <a:xfrm>
            <a:off x="998525" y="975665"/>
            <a:ext cx="7061911" cy="4905756"/>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KPMG_SECTION_LIGH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KPMG_CLOSING">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back_cover_300dpi.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e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kpmg.com" TargetMode="External"/><Relationship Id="rId2" Type="http://schemas.openxmlformats.org/officeDocument/2006/relationships/slideLayout" Target="../slideLayouts/slideLayout7.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KPMG logo">    </p:cNvPr>
          <p:cNvPicPr>
            <a:picLocks noChangeAspect="1"/>
          </p:cNvPicPr>
          <p:nvPr/>
        </p:nvPicPr>
        <p:blipFill>
          <a:blip r:embed="rId1"/>
          <a:stretch>
            <a:fillRect/>
          </a:stretch>
        </p:blipFill>
        <p:spPr>
          <a:xfrm>
            <a:off x="998476" y="371311"/>
            <a:ext cx="914400" cy="368346"/>
          </a:xfrm>
          <a:prstGeom prst="rect">
            <a:avLst/>
          </a:prstGeom>
        </p:spPr>
      </p:pic>
      <p:sp>
        <p:nvSpPr>
          <p:cNvPr id="3" name="Text 0"/>
          <p:cNvSpPr/>
          <p:nvPr/>
        </p:nvSpPr>
        <p:spPr>
          <a:xfrm>
            <a:off x="998478" y="1456388"/>
            <a:ext cx="3697810" cy="3427743"/>
          </a:xfrm>
          <a:prstGeom prst="rect">
            <a:avLst/>
          </a:prstGeom>
          <a:noFill/>
          <a:ln/>
        </p:spPr>
        <p:txBody>
          <a:bodyPr wrap="square" lIns="0" tIns="0" rIns="0" bIns="0" rtlCol="0" anchor="t"/>
          <a:lstStyle/>
          <a:p>
            <a:pPr algn="l" indent="0" marL="0">
              <a:buNone/>
            </a:pPr>
            <a:r>
              <a:rPr lang="en-US" sz="4000" b="1" dirty="0">
                <a:solidFill>
                  <a:srgbClr val="FFFFFF"/>
                </a:solidFill>
                <a:latin typeface="Arial" pitchFamily="34" charset="0"/>
                <a:ea typeface="Arial" pitchFamily="34" charset="-122"/>
                <a:cs typeface="Arial" pitchFamily="34" charset="-120"/>
              </a:rPr>
              <a:t>.</a:t>
            </a:r>
            <a:endParaRPr lang="en-US" sz="4000" dirty="0"/>
          </a:p>
        </p:txBody>
      </p:sp>
      <p:sp>
        <p:nvSpPr>
          <p:cNvPr id="4" name="Text 1"/>
          <p:cNvSpPr/>
          <p:nvPr/>
        </p:nvSpPr>
        <p:spPr>
          <a:xfrm>
            <a:off x="998433" y="5005883"/>
            <a:ext cx="3697834" cy="809976"/>
          </a:xfrm>
          <a:prstGeom prst="rect">
            <a:avLst/>
          </a:prstGeom>
          <a:noFill/>
          <a:ln/>
        </p:spPr>
        <p:txBody>
          <a:bodyPr wrap="square" lIns="0" tIns="0" rIns="0" bIns="0" rtlCol="0" anchor="t"/>
          <a:lstStyle/>
          <a:p>
            <a:pPr algn="l" indent="0" marL="0">
              <a:buNone/>
            </a:pPr>
            <a:r>
              <a:rPr lang="en-US" sz="1400" dirty="0">
                <a:solidFill>
                  <a:srgbClr val="FFFFFF"/>
                </a:solidFill>
                <a:latin typeface="Arial" pitchFamily="34" charset="0"/>
                <a:ea typeface="Arial" pitchFamily="34" charset="-122"/>
                <a:cs typeface="Arial" pitchFamily="34" charset="-120"/>
              </a:rPr>
              <a:t>.</a:t>
            </a:r>
            <a:endParaRPr lang="en-US" sz="1400" dirty="0"/>
          </a:p>
        </p:txBody>
      </p:sp>
      <p:pic>
        <p:nvPicPr>
          <p:cNvPr id="5" name="Image 1" descr="Cover photograph">    </p:cNvPr>
          <p:cNvPicPr>
            <a:picLocks noChangeAspect="1"/>
          </p:cNvPicPr>
          <p:nvPr/>
        </p:nvPicPr>
        <p:blipFill>
          <a:blip r:embed="rId2"/>
          <a:srcRect l="4986" r="4986" t="0" b="0"/>
          <a:stretch/>
        </p:blipFill>
        <p:spPr>
          <a:xfrm>
            <a:off x="4915965" y="1456388"/>
            <a:ext cx="6283848" cy="436499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995782" y="431597"/>
            <a:ext cx="2743200" cy="566928"/>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Contents</a:t>
            </a:r>
            <a:endParaRPr lang="en-US" sz="3200" dirty="0"/>
          </a:p>
        </p:txBody>
      </p:sp>
      <p:sp>
        <p:nvSpPr>
          <p:cNvPr id="3" name="Text 1"/>
          <p:cNvSpPr/>
          <p:nvPr/>
        </p:nvSpPr>
        <p:spPr>
          <a:xfrm>
            <a:off x="995782"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01</a:t>
            </a:r>
            <a:endParaRPr lang="en-US" sz="3400" dirty="0"/>
          </a:p>
        </p:txBody>
      </p:sp>
      <p:sp>
        <p:nvSpPr>
          <p:cNvPr id="4" name="Shape 2"/>
          <p:cNvSpPr/>
          <p:nvPr/>
        </p:nvSpPr>
        <p:spPr>
          <a:xfrm>
            <a:off x="995782" y="1737360"/>
            <a:ext cx="502920" cy="0"/>
          </a:xfrm>
          <a:prstGeom prst="line">
            <a:avLst/>
          </a:prstGeom>
          <a:noFill/>
          <a:ln w="12700">
            <a:solidFill>
              <a:srgbClr val="00338D"/>
            </a:solidFill>
            <a:prstDash val="solid"/>
          </a:ln>
        </p:spPr>
      </p:sp>
      <p:sp>
        <p:nvSpPr>
          <p:cNvPr id="5" name="Text 3"/>
          <p:cNvSpPr/>
          <p:nvPr/>
        </p:nvSpPr>
        <p:spPr>
          <a:xfrm>
            <a:off x="995782"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Executive summary</a:t>
            </a:r>
            <a:endParaRPr lang="en-US" sz="1200" dirty="0"/>
          </a:p>
        </p:txBody>
      </p:sp>
      <p:sp>
        <p:nvSpPr>
          <p:cNvPr id="6" name="Text 4"/>
          <p:cNvSpPr/>
          <p:nvPr/>
        </p:nvSpPr>
        <p:spPr>
          <a:xfrm>
            <a:off x="995782"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3-25)</a:t>
            </a:r>
            <a:endParaRPr lang="en-US" sz="1000" dirty="0"/>
          </a:p>
        </p:txBody>
      </p:sp>
      <p:sp>
        <p:nvSpPr>
          <p:cNvPr id="7" name="Text 5"/>
          <p:cNvSpPr/>
          <p:nvPr/>
        </p:nvSpPr>
        <p:spPr>
          <a:xfrm>
            <a:off x="995782" y="2286000"/>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Business overview</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Summary financials</a:t>
            </a:r>
            <a:endParaRPr lang="en-US" sz="1000" dirty="0"/>
          </a:p>
        </p:txBody>
      </p:sp>
      <p:sp>
        <p:nvSpPr>
          <p:cNvPr id="8" name="Text 6"/>
          <p:cNvSpPr/>
          <p:nvPr/>
        </p:nvSpPr>
        <p:spPr>
          <a:xfrm>
            <a:off x="3068361"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02</a:t>
            </a:r>
            <a:endParaRPr lang="en-US" sz="3400" dirty="0"/>
          </a:p>
        </p:txBody>
      </p:sp>
      <p:sp>
        <p:nvSpPr>
          <p:cNvPr id="9" name="Shape 7"/>
          <p:cNvSpPr/>
          <p:nvPr/>
        </p:nvSpPr>
        <p:spPr>
          <a:xfrm>
            <a:off x="3068361" y="1737360"/>
            <a:ext cx="502920" cy="0"/>
          </a:xfrm>
          <a:prstGeom prst="line">
            <a:avLst/>
          </a:prstGeom>
          <a:noFill/>
          <a:ln w="12700">
            <a:solidFill>
              <a:srgbClr val="00338D"/>
            </a:solidFill>
            <a:prstDash val="solid"/>
          </a:ln>
        </p:spPr>
      </p:sp>
      <p:sp>
        <p:nvSpPr>
          <p:cNvPr id="10" name="Text 8"/>
          <p:cNvSpPr/>
          <p:nvPr/>
        </p:nvSpPr>
        <p:spPr>
          <a:xfrm>
            <a:off x="3068361"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Historical trading</a:t>
            </a:r>
            <a:endParaRPr lang="en-US" sz="1200" dirty="0"/>
          </a:p>
        </p:txBody>
      </p:sp>
      <p:sp>
        <p:nvSpPr>
          <p:cNvPr id="11" name="Text 9"/>
          <p:cNvSpPr/>
          <p:nvPr/>
        </p:nvSpPr>
        <p:spPr>
          <a:xfrm>
            <a:off x="3068361"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26-35)</a:t>
            </a:r>
            <a:endParaRPr lang="en-US" sz="1000" dirty="0"/>
          </a:p>
        </p:txBody>
      </p:sp>
      <p:sp>
        <p:nvSpPr>
          <p:cNvPr id="12" name="Text 10"/>
          <p:cNvSpPr/>
          <p:nvPr/>
        </p:nvSpPr>
        <p:spPr>
          <a:xfrm>
            <a:off x="3068361" y="2286000"/>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Profit &amp; loss overview</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Quality of earnings</a:t>
            </a:r>
            <a:endParaRPr lang="en-US" sz="1000" dirty="0"/>
          </a:p>
        </p:txBody>
      </p:sp>
      <p:sp>
        <p:nvSpPr>
          <p:cNvPr id="13" name="Text 11"/>
          <p:cNvSpPr/>
          <p:nvPr/>
        </p:nvSpPr>
        <p:spPr>
          <a:xfrm>
            <a:off x="5140940"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03</a:t>
            </a:r>
            <a:endParaRPr lang="en-US" sz="3400" dirty="0"/>
          </a:p>
        </p:txBody>
      </p:sp>
      <p:sp>
        <p:nvSpPr>
          <p:cNvPr id="14" name="Shape 12"/>
          <p:cNvSpPr/>
          <p:nvPr/>
        </p:nvSpPr>
        <p:spPr>
          <a:xfrm>
            <a:off x="5140940" y="1737360"/>
            <a:ext cx="502920" cy="0"/>
          </a:xfrm>
          <a:prstGeom prst="line">
            <a:avLst/>
          </a:prstGeom>
          <a:noFill/>
          <a:ln w="12700">
            <a:solidFill>
              <a:srgbClr val="00338D"/>
            </a:solidFill>
            <a:prstDash val="solid"/>
          </a:ln>
        </p:spPr>
      </p:sp>
      <p:sp>
        <p:nvSpPr>
          <p:cNvPr id="15" name="Text 13"/>
          <p:cNvSpPr/>
          <p:nvPr/>
        </p:nvSpPr>
        <p:spPr>
          <a:xfrm>
            <a:off x="5140940"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Forecast trading</a:t>
            </a:r>
            <a:endParaRPr lang="en-US" sz="1200" dirty="0"/>
          </a:p>
        </p:txBody>
      </p:sp>
      <p:sp>
        <p:nvSpPr>
          <p:cNvPr id="16" name="Text 14"/>
          <p:cNvSpPr/>
          <p:nvPr/>
        </p:nvSpPr>
        <p:spPr>
          <a:xfrm>
            <a:off x="5140940"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36-43)</a:t>
            </a:r>
            <a:endParaRPr lang="en-US" sz="1000" dirty="0"/>
          </a:p>
        </p:txBody>
      </p:sp>
      <p:sp>
        <p:nvSpPr>
          <p:cNvPr id="17" name="Text 15"/>
          <p:cNvSpPr/>
          <p:nvPr/>
        </p:nvSpPr>
        <p:spPr>
          <a:xfrm>
            <a:off x="5140940" y="2286000"/>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Forecast overview</a:t>
            </a:r>
            <a:endParaRPr lang="en-US" sz="1000" dirty="0"/>
          </a:p>
        </p:txBody>
      </p:sp>
      <p:sp>
        <p:nvSpPr>
          <p:cNvPr id="18" name="Text 16"/>
          <p:cNvSpPr/>
          <p:nvPr/>
        </p:nvSpPr>
        <p:spPr>
          <a:xfrm>
            <a:off x="7213519"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04</a:t>
            </a:r>
            <a:endParaRPr lang="en-US" sz="3400" dirty="0"/>
          </a:p>
        </p:txBody>
      </p:sp>
      <p:sp>
        <p:nvSpPr>
          <p:cNvPr id="19" name="Shape 17"/>
          <p:cNvSpPr/>
          <p:nvPr/>
        </p:nvSpPr>
        <p:spPr>
          <a:xfrm>
            <a:off x="7213519" y="1737360"/>
            <a:ext cx="502920" cy="0"/>
          </a:xfrm>
          <a:prstGeom prst="line">
            <a:avLst/>
          </a:prstGeom>
          <a:noFill/>
          <a:ln w="12700">
            <a:solidFill>
              <a:srgbClr val="00338D"/>
            </a:solidFill>
            <a:prstDash val="solid"/>
          </a:ln>
        </p:spPr>
      </p:sp>
      <p:sp>
        <p:nvSpPr>
          <p:cNvPr id="20" name="Text 18"/>
          <p:cNvSpPr/>
          <p:nvPr/>
        </p:nvSpPr>
        <p:spPr>
          <a:xfrm>
            <a:off x="7213519"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Balance sheet</a:t>
            </a:r>
            <a:endParaRPr lang="en-US" sz="1200" dirty="0"/>
          </a:p>
        </p:txBody>
      </p:sp>
      <p:sp>
        <p:nvSpPr>
          <p:cNvPr id="21" name="Text 19"/>
          <p:cNvSpPr/>
          <p:nvPr/>
        </p:nvSpPr>
        <p:spPr>
          <a:xfrm>
            <a:off x="7213519"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44-48)</a:t>
            </a:r>
            <a:endParaRPr lang="en-US" sz="1000" dirty="0"/>
          </a:p>
        </p:txBody>
      </p:sp>
      <p:sp>
        <p:nvSpPr>
          <p:cNvPr id="22" name="Text 20"/>
          <p:cNvSpPr/>
          <p:nvPr/>
        </p:nvSpPr>
        <p:spPr>
          <a:xfrm>
            <a:off x="7213519" y="2286000"/>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Balance sheet overview</a:t>
            </a:r>
            <a:endParaRPr lang="en-US" sz="1000" dirty="0"/>
          </a:p>
        </p:txBody>
      </p:sp>
      <p:sp>
        <p:nvSpPr>
          <p:cNvPr id="23" name="Text 21"/>
          <p:cNvSpPr/>
          <p:nvPr/>
        </p:nvSpPr>
        <p:spPr>
          <a:xfrm>
            <a:off x="9286098"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05</a:t>
            </a:r>
            <a:endParaRPr lang="en-US" sz="3400" dirty="0"/>
          </a:p>
        </p:txBody>
      </p:sp>
      <p:sp>
        <p:nvSpPr>
          <p:cNvPr id="24" name="Shape 22"/>
          <p:cNvSpPr/>
          <p:nvPr/>
        </p:nvSpPr>
        <p:spPr>
          <a:xfrm>
            <a:off x="9286098" y="1737360"/>
            <a:ext cx="502920" cy="0"/>
          </a:xfrm>
          <a:prstGeom prst="line">
            <a:avLst/>
          </a:prstGeom>
          <a:noFill/>
          <a:ln w="12700">
            <a:solidFill>
              <a:srgbClr val="00338D"/>
            </a:solidFill>
            <a:prstDash val="solid"/>
          </a:ln>
        </p:spPr>
      </p:sp>
      <p:sp>
        <p:nvSpPr>
          <p:cNvPr id="25" name="Text 23"/>
          <p:cNvSpPr/>
          <p:nvPr/>
        </p:nvSpPr>
        <p:spPr>
          <a:xfrm>
            <a:off x="9286098"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Cash flows</a:t>
            </a:r>
            <a:endParaRPr lang="en-US" sz="1200" dirty="0"/>
          </a:p>
        </p:txBody>
      </p:sp>
      <p:sp>
        <p:nvSpPr>
          <p:cNvPr id="26" name="Text 24"/>
          <p:cNvSpPr/>
          <p:nvPr/>
        </p:nvSpPr>
        <p:spPr>
          <a:xfrm>
            <a:off x="9286098"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49-50)</a:t>
            </a:r>
            <a:endParaRPr lang="en-US" sz="1000" dirty="0"/>
          </a:p>
        </p:txBody>
      </p:sp>
      <p:sp>
        <p:nvSpPr>
          <p:cNvPr id="27" name="Text 25"/>
          <p:cNvSpPr/>
          <p:nvPr/>
        </p:nvSpPr>
        <p:spPr>
          <a:xfrm>
            <a:off x="9286098" y="2286000"/>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Operating cash flows</a:t>
            </a:r>
            <a:endParaRPr lang="en-US" sz="1000" dirty="0"/>
          </a:p>
        </p:txBody>
      </p:sp>
      <p:sp>
        <p:nvSpPr>
          <p:cNvPr id="28" name="Text 26"/>
          <p:cNvSpPr/>
          <p:nvPr/>
        </p:nvSpPr>
        <p:spPr>
          <a:xfrm>
            <a:off x="995782"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06</a:t>
            </a:r>
            <a:endParaRPr lang="en-US" sz="3400" dirty="0"/>
          </a:p>
        </p:txBody>
      </p:sp>
      <p:sp>
        <p:nvSpPr>
          <p:cNvPr id="29" name="Shape 27"/>
          <p:cNvSpPr/>
          <p:nvPr/>
        </p:nvSpPr>
        <p:spPr>
          <a:xfrm>
            <a:off x="995782" y="4169664"/>
            <a:ext cx="502920" cy="0"/>
          </a:xfrm>
          <a:prstGeom prst="line">
            <a:avLst/>
          </a:prstGeom>
          <a:noFill/>
          <a:ln w="12700">
            <a:solidFill>
              <a:srgbClr val="00338D"/>
            </a:solidFill>
            <a:prstDash val="solid"/>
          </a:ln>
        </p:spPr>
      </p:sp>
      <p:sp>
        <p:nvSpPr>
          <p:cNvPr id="30" name="Text 28"/>
          <p:cNvSpPr/>
          <p:nvPr/>
        </p:nvSpPr>
        <p:spPr>
          <a:xfrm>
            <a:off x="995782"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Reporting</a:t>
            </a:r>
            <a:endParaRPr lang="en-US" sz="1200" dirty="0"/>
          </a:p>
        </p:txBody>
      </p:sp>
      <p:sp>
        <p:nvSpPr>
          <p:cNvPr id="31" name="Text 29"/>
          <p:cNvSpPr/>
          <p:nvPr/>
        </p:nvSpPr>
        <p:spPr>
          <a:xfrm>
            <a:off x="995782" y="4453128"/>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51-53)</a:t>
            </a:r>
            <a:endParaRPr lang="en-US" sz="1000" dirty="0"/>
          </a:p>
        </p:txBody>
      </p:sp>
      <p:sp>
        <p:nvSpPr>
          <p:cNvPr id="32" name="Text 30"/>
          <p:cNvSpPr/>
          <p:nvPr/>
        </p:nvSpPr>
        <p:spPr>
          <a:xfrm>
            <a:off x="995782" y="4718304"/>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Reporting environment</a:t>
            </a:r>
            <a:endParaRPr lang="en-US" sz="1000" dirty="0"/>
          </a:p>
        </p:txBody>
      </p:sp>
      <p:sp>
        <p:nvSpPr>
          <p:cNvPr id="33" name="Text 31"/>
          <p:cNvSpPr/>
          <p:nvPr/>
        </p:nvSpPr>
        <p:spPr>
          <a:xfrm>
            <a:off x="3068361"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07</a:t>
            </a:r>
            <a:endParaRPr lang="en-US" sz="3400" dirty="0"/>
          </a:p>
        </p:txBody>
      </p:sp>
      <p:sp>
        <p:nvSpPr>
          <p:cNvPr id="34" name="Shape 32"/>
          <p:cNvSpPr/>
          <p:nvPr/>
        </p:nvSpPr>
        <p:spPr>
          <a:xfrm>
            <a:off x="3068361" y="4169664"/>
            <a:ext cx="502920" cy="0"/>
          </a:xfrm>
          <a:prstGeom prst="line">
            <a:avLst/>
          </a:prstGeom>
          <a:noFill/>
          <a:ln w="12700">
            <a:solidFill>
              <a:srgbClr val="00338D"/>
            </a:solidFill>
            <a:prstDash val="solid"/>
          </a:ln>
        </p:spPr>
      </p:sp>
      <p:sp>
        <p:nvSpPr>
          <p:cNvPr id="35" name="Text 33"/>
          <p:cNvSpPr/>
          <p:nvPr/>
        </p:nvSpPr>
        <p:spPr>
          <a:xfrm>
            <a:off x="3068361"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Value creation</a:t>
            </a:r>
            <a:endParaRPr lang="en-US" sz="1200" dirty="0"/>
          </a:p>
        </p:txBody>
      </p:sp>
      <p:sp>
        <p:nvSpPr>
          <p:cNvPr id="36" name="Text 34"/>
          <p:cNvSpPr/>
          <p:nvPr/>
        </p:nvSpPr>
        <p:spPr>
          <a:xfrm>
            <a:off x="3068361" y="4453128"/>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54-60)</a:t>
            </a:r>
            <a:endParaRPr lang="en-US" sz="1000" dirty="0"/>
          </a:p>
        </p:txBody>
      </p:sp>
      <p:sp>
        <p:nvSpPr>
          <p:cNvPr id="37" name="Text 35"/>
          <p:cNvSpPr/>
          <p:nvPr/>
        </p:nvSpPr>
        <p:spPr>
          <a:xfrm>
            <a:off x="3068361" y="4718304"/>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Financial benchmarking</a:t>
            </a:r>
            <a:endParaRPr lang="en-US" sz="1000" dirty="0"/>
          </a:p>
        </p:txBody>
      </p:sp>
      <p:sp>
        <p:nvSpPr>
          <p:cNvPr id="38" name="Text 36"/>
          <p:cNvSpPr/>
          <p:nvPr/>
        </p:nvSpPr>
        <p:spPr>
          <a:xfrm>
            <a:off x="5140940"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08</a:t>
            </a:r>
            <a:endParaRPr lang="en-US" sz="3400" dirty="0"/>
          </a:p>
        </p:txBody>
      </p:sp>
      <p:sp>
        <p:nvSpPr>
          <p:cNvPr id="39" name="Shape 37"/>
          <p:cNvSpPr/>
          <p:nvPr/>
        </p:nvSpPr>
        <p:spPr>
          <a:xfrm>
            <a:off x="5140940" y="4169664"/>
            <a:ext cx="502920" cy="0"/>
          </a:xfrm>
          <a:prstGeom prst="line">
            <a:avLst/>
          </a:prstGeom>
          <a:noFill/>
          <a:ln w="12700">
            <a:solidFill>
              <a:srgbClr val="00338D"/>
            </a:solidFill>
            <a:prstDash val="solid"/>
          </a:ln>
        </p:spPr>
      </p:sp>
      <p:sp>
        <p:nvSpPr>
          <p:cNvPr id="40" name="Text 38"/>
          <p:cNvSpPr/>
          <p:nvPr/>
        </p:nvSpPr>
        <p:spPr>
          <a:xfrm>
            <a:off x="5140940"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Pre-Deal PPA</a:t>
            </a:r>
            <a:endParaRPr lang="en-US" sz="1200" dirty="0"/>
          </a:p>
        </p:txBody>
      </p:sp>
      <p:sp>
        <p:nvSpPr>
          <p:cNvPr id="41" name="Text 39"/>
          <p:cNvSpPr/>
          <p:nvPr/>
        </p:nvSpPr>
        <p:spPr>
          <a:xfrm>
            <a:off x="5140940" y="4453128"/>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61-65)</a:t>
            </a:r>
            <a:endParaRPr lang="en-US" sz="1000" dirty="0"/>
          </a:p>
        </p:txBody>
      </p:sp>
      <p:sp>
        <p:nvSpPr>
          <p:cNvPr id="42" name="Text 40"/>
          <p:cNvSpPr/>
          <p:nvPr/>
        </p:nvSpPr>
        <p:spPr>
          <a:xfrm>
            <a:off x="5140940" y="4718304"/>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Methodology &amp; procedures</a:t>
            </a:r>
            <a:endParaRPr lang="en-US" sz="1000" dirty="0"/>
          </a:p>
        </p:txBody>
      </p:sp>
      <p:sp>
        <p:nvSpPr>
          <p:cNvPr id="43" name="Text 41"/>
          <p:cNvSpPr/>
          <p:nvPr/>
        </p:nvSpPr>
        <p:spPr>
          <a:xfrm>
            <a:off x="7213519"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09</a:t>
            </a:r>
            <a:endParaRPr lang="en-US" sz="3400" dirty="0"/>
          </a:p>
        </p:txBody>
      </p:sp>
      <p:sp>
        <p:nvSpPr>
          <p:cNvPr id="44" name="Shape 42"/>
          <p:cNvSpPr/>
          <p:nvPr/>
        </p:nvSpPr>
        <p:spPr>
          <a:xfrm>
            <a:off x="7213519" y="4169664"/>
            <a:ext cx="502920" cy="0"/>
          </a:xfrm>
          <a:prstGeom prst="line">
            <a:avLst/>
          </a:prstGeom>
          <a:noFill/>
          <a:ln w="12700">
            <a:solidFill>
              <a:srgbClr val="00338D"/>
            </a:solidFill>
            <a:prstDash val="solid"/>
          </a:ln>
        </p:spPr>
      </p:sp>
      <p:sp>
        <p:nvSpPr>
          <p:cNvPr id="45" name="Text 43"/>
          <p:cNvSpPr/>
          <p:nvPr/>
        </p:nvSpPr>
        <p:spPr>
          <a:xfrm>
            <a:off x="7213519"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Taxation</a:t>
            </a:r>
            <a:endParaRPr lang="en-US" sz="1200" dirty="0"/>
          </a:p>
        </p:txBody>
      </p:sp>
      <p:sp>
        <p:nvSpPr>
          <p:cNvPr id="46" name="Text 44"/>
          <p:cNvSpPr/>
          <p:nvPr/>
        </p:nvSpPr>
        <p:spPr>
          <a:xfrm>
            <a:off x="7213519" y="4453128"/>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66-68)</a:t>
            </a:r>
            <a:endParaRPr lang="en-US" sz="1000" dirty="0"/>
          </a:p>
        </p:txBody>
      </p:sp>
      <p:sp>
        <p:nvSpPr>
          <p:cNvPr id="47" name="Text 45"/>
          <p:cNvSpPr/>
          <p:nvPr/>
        </p:nvSpPr>
        <p:spPr>
          <a:xfrm>
            <a:off x="7213519" y="4718304"/>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Add title</a:t>
            </a:r>
            <a:endParaRPr lang="en-US" sz="1000" dirty="0"/>
          </a:p>
        </p:txBody>
      </p:sp>
      <p:sp>
        <p:nvSpPr>
          <p:cNvPr id="48" name="Text 46"/>
          <p:cNvSpPr/>
          <p:nvPr/>
        </p:nvSpPr>
        <p:spPr>
          <a:xfrm>
            <a:off x="9286098"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10</a:t>
            </a:r>
            <a:endParaRPr lang="en-US" sz="3400" dirty="0"/>
          </a:p>
        </p:txBody>
      </p:sp>
      <p:sp>
        <p:nvSpPr>
          <p:cNvPr id="49" name="Shape 47"/>
          <p:cNvSpPr/>
          <p:nvPr/>
        </p:nvSpPr>
        <p:spPr>
          <a:xfrm>
            <a:off x="9286098" y="4169664"/>
            <a:ext cx="502920" cy="0"/>
          </a:xfrm>
          <a:prstGeom prst="line">
            <a:avLst/>
          </a:prstGeom>
          <a:noFill/>
          <a:ln w="12700">
            <a:solidFill>
              <a:srgbClr val="00338D"/>
            </a:solidFill>
            <a:prstDash val="solid"/>
          </a:ln>
        </p:spPr>
      </p:sp>
      <p:sp>
        <p:nvSpPr>
          <p:cNvPr id="50" name="Text 48"/>
          <p:cNvSpPr/>
          <p:nvPr/>
        </p:nvSpPr>
        <p:spPr>
          <a:xfrm>
            <a:off x="9286098"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Appendices</a:t>
            </a:r>
            <a:endParaRPr lang="en-US" sz="1200" dirty="0"/>
          </a:p>
        </p:txBody>
      </p:sp>
      <p:sp>
        <p:nvSpPr>
          <p:cNvPr id="51" name="Text 49"/>
          <p:cNvSpPr/>
          <p:nvPr/>
        </p:nvSpPr>
        <p:spPr>
          <a:xfrm>
            <a:off x="9286098" y="4453128"/>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69-77)</a:t>
            </a:r>
            <a:endParaRPr lang="en-US" sz="1000" dirty="0"/>
          </a:p>
        </p:txBody>
      </p:sp>
      <p:sp>
        <p:nvSpPr>
          <p:cNvPr id="52" name="Text 50"/>
          <p:cNvSpPr/>
          <p:nvPr/>
        </p:nvSpPr>
        <p:spPr>
          <a:xfrm>
            <a:off x="9286098" y="4718304"/>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Engagement appendices</a:t>
            </a:r>
            <a:endParaRPr lang="en-US" sz="1000" dirty="0"/>
          </a:p>
        </p:txBody>
      </p:sp>
      <p:sp>
        <p:nvSpPr>
          <p:cNvPr id="53" name="Text 51"/>
          <p:cNvSpPr/>
          <p:nvPr/>
        </p:nvSpPr>
        <p:spPr>
          <a:xfrm>
            <a:off x="10607040" y="475488"/>
            <a:ext cx="640080" cy="164592"/>
          </a:xfrm>
          <a:prstGeom prst="rect">
            <a:avLst/>
          </a:prstGeom>
          <a:noFill/>
          <a:ln/>
        </p:spPr>
        <p:txBody>
          <a:bodyPr wrap="square" lIns="0" tIns="0" rIns="0" bIns="0" rtlCol="0" anchor="t"/>
          <a:lstStyle/>
          <a:p>
            <a:pPr algn="r" indent="0" marL="0">
              <a:buNone/>
            </a:pPr>
            <a:r>
              <a:rPr lang="en-US" sz="1000" dirty="0">
                <a:solidFill>
                  <a:srgbClr val="00338D"/>
                </a:solidFill>
                <a:latin typeface="Arial" pitchFamily="34" charset="0"/>
                <a:ea typeface="Arial" pitchFamily="34" charset="-122"/>
                <a:cs typeface="Arial" pitchFamily="34" charset="-120"/>
              </a:rPr>
              <a:t>Glossary</a:t>
            </a:r>
            <a:endParaRPr lang="en-US" sz="1000" dirty="0"/>
          </a:p>
        </p:txBody>
      </p:sp>
      <p:sp>
        <p:nvSpPr>
          <p:cNvPr id="54" name="Text 52"/>
          <p:cNvSpPr/>
          <p:nvPr/>
        </p:nvSpPr>
        <p:spPr>
          <a:xfrm>
            <a:off x="10451592" y="786384"/>
            <a:ext cx="795528" cy="164592"/>
          </a:xfrm>
          <a:prstGeom prst="rect">
            <a:avLst/>
          </a:prstGeom>
          <a:noFill/>
          <a:ln/>
        </p:spPr>
        <p:txBody>
          <a:bodyPr wrap="square" lIns="0" tIns="0" rIns="0" bIns="0" rtlCol="0" anchor="t"/>
          <a:lstStyle/>
          <a:p>
            <a:pPr algn="r" indent="0" marL="0">
              <a:buNone/>
            </a:pPr>
            <a:r>
              <a:rPr lang="en-US" sz="1000" dirty="0">
                <a:solidFill>
                  <a:srgbClr val="00338D"/>
                </a:solidFill>
                <a:latin typeface="Arial" pitchFamily="34" charset="0"/>
                <a:ea typeface="Arial" pitchFamily="34" charset="-122"/>
                <a:cs typeface="Arial" pitchFamily="34" charset="-120"/>
              </a:rPr>
              <a:t>KPMG contacts</a:t>
            </a:r>
            <a:endParaRPr lang="en-US" sz="1000" dirty="0"/>
          </a:p>
        </p:txBody>
      </p:sp>
      <p:sp>
        <p:nvSpPr>
          <p:cNvPr id="55" name="Text 5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03</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Dark Divider</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04</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Dark Divider</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00338D"/>
                </a:solidFill>
                <a:latin typeface="Arial" pitchFamily="34" charset="0"/>
                <a:ea typeface="Arial" pitchFamily="34" charset="-122"/>
                <a:cs typeface="Arial" pitchFamily="34" charset="-120"/>
              </a:rPr>
              <a:t>05</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00338D"/>
                </a:solidFill>
                <a:latin typeface="Arial" pitchFamily="34" charset="0"/>
                <a:ea typeface="Arial" pitchFamily="34" charset="-122"/>
                <a:cs typeface="Arial" pitchFamily="34" charset="-120"/>
              </a:rPr>
              <a:t>Light Divider</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998525" y="431597"/>
            <a:ext cx="10195560" cy="533095"/>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Profit &amp; loss overview</a:t>
            </a:r>
            <a:endParaRPr lang="en-US" sz="3200" dirty="0"/>
          </a:p>
        </p:txBody>
      </p:sp>
      <p:sp>
        <p:nvSpPr>
          <p:cNvPr id="3" name="Shape 1"/>
          <p:cNvSpPr/>
          <p:nvPr/>
        </p:nvSpPr>
        <p:spPr>
          <a:xfrm>
            <a:off x="995782" y="1179576"/>
            <a:ext cx="7587691" cy="482803"/>
          </a:xfrm>
          <a:prstGeom prst="rect">
            <a:avLst/>
          </a:prstGeom>
          <a:solidFill>
            <a:srgbClr val="FFFFFF">
              <a:alpha val="0"/>
            </a:srgbClr>
          </a:solidFill>
          <a:ln w="12700">
            <a:solidFill>
              <a:srgbClr val="9E9E9E"/>
            </a:solidFill>
            <a:prstDash val="solid"/>
          </a:ln>
        </p:spPr>
      </p:sp>
      <p:sp>
        <p:nvSpPr>
          <p:cNvPr id="4" name="Text 2"/>
          <p:cNvSpPr/>
          <p:nvPr/>
        </p:nvSpPr>
        <p:spPr>
          <a:xfrm>
            <a:off x="995782" y="1179576"/>
            <a:ext cx="7587691" cy="482803"/>
          </a:xfrm>
          <a:prstGeom prst="rect">
            <a:avLst/>
          </a:prstGeom>
          <a:noFill/>
          <a:ln/>
        </p:spPr>
        <p:txBody>
          <a:bodyPr wrap="square" lIns="46800" tIns="72000" rIns="90000" bIns="46800" rtlCol="0" anchor="t"/>
          <a:lstStyle/>
          <a:p>
            <a:pPr indent="0" marL="0">
              <a:buNone/>
            </a:pPr>
            <a:r>
              <a:rPr lang="en-US" sz="900" b="1" dirty="0">
                <a:solidFill>
                  <a:srgbClr val="1E49E2"/>
                </a:solidFill>
                <a:latin typeface="Arial" pitchFamily="34" charset="0"/>
                <a:ea typeface="Arial" pitchFamily="34" charset="-122"/>
                <a:cs typeface="Arial" pitchFamily="34" charset="-120"/>
              </a:rPr>
              <a:t>Use this strapline to summarize the key message.</a:t>
            </a:r>
            <a:endParaRPr lang="en-US" sz="900" dirty="0"/>
          </a:p>
        </p:txBody>
      </p:sp>
      <p:graphicFrame>
        <p:nvGraphicFramePr>
          <p:cNvPr id="5" name="Chart 0" descr=""/>
          <p:cNvGraphicFramePr/>
          <p:nvPr/>
        </p:nvGraphicFramePr>
        <p:xfrm>
          <a:off x="8717890" y="984809"/>
          <a:ext cx="2475281" cy="678485"/>
        </p:xfrm>
        <a:graphic xmlns:a="http://schemas.openxmlformats.org/drawingml/2006/main">
          <a:graphicData uri="http://schemas.openxmlformats.org/drawingml/2006/chart">
            <c:chart xmlns:c="http://schemas.openxmlformats.org/drawingml/2006/chart" r:id="rId1"/>
          </a:graphicData>
        </a:graphic>
      </p:graphicFrame>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995782" y="1751990"/>
          <a:ext cx="3690518" cy="4122115"/>
        </p:xfrm>
        <a:graphic>
          <a:graphicData uri="http://schemas.openxmlformats.org/drawingml/2006/table">
            <a:tbl>
              <a:tblPr/>
              <a:tblGrid>
                <a:gridCol w="1845259"/>
                <a:gridCol w="1845259"/>
              </a:tblGrid>
              <a:tr h="824423">
                <a:tc>
                  <a:txBody>
                    <a:bodyPr/>
                    <a:lstStyle/>
                    <a:p>
                      <a:pPr indent="0" marL="0">
                        <a:buNone/>
                      </a:pPr>
                      <a:r>
                        <a:rPr lang="en-US" sz="800" dirty="0">
                          <a:solidFill>
                            <a:srgbClr val="000000"/>
                          </a:solidFill>
                          <a:latin typeface="Arial" pitchFamily="34" charset="0"/>
                          <a:ea typeface="Arial" pitchFamily="34" charset="-122"/>
                          <a:cs typeface="Arial" pitchFamily="34" charset="-120"/>
                        </a:rPr>
                        <a:t>Metric</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Value</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824423">
                <a:tc>
                  <a:txBody>
                    <a:bodyPr/>
                    <a:lstStyle/>
                    <a:p>
                      <a:pPr indent="0" marL="0">
                        <a:buNone/>
                      </a:pPr>
                      <a:r>
                        <a:rPr lang="en-US" sz="800" dirty="0">
                          <a:solidFill>
                            <a:srgbClr val="000000"/>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824423">
                <a:tc>
                  <a:txBody>
                    <a:bodyPr/>
                    <a:lstStyle/>
                    <a:p>
                      <a:pPr indent="0" marL="0">
                        <a:buNone/>
                      </a:pPr>
                      <a:r>
                        <a:rPr lang="en-US" sz="800" dirty="0">
                          <a:solidFill>
                            <a:srgbClr val="000000"/>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824423">
                <a:tc>
                  <a:txBody>
                    <a:bodyPr/>
                    <a:lstStyle/>
                    <a:p>
                      <a:pPr indent="0" marL="0">
                        <a:buNone/>
                      </a:pPr>
                      <a:r>
                        <a:rPr lang="en-US" sz="800" dirty="0">
                          <a:solidFill>
                            <a:srgbClr val="000000"/>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824423">
                <a:tc>
                  <a:txBody>
                    <a:bodyPr/>
                    <a:lstStyle/>
                    <a:p>
                      <a:pPr indent="0" marL="0">
                        <a:buNone/>
                      </a:pPr>
                      <a:r>
                        <a:rPr lang="en-US" sz="800" dirty="0">
                          <a:solidFill>
                            <a:srgbClr val="000000"/>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
        <p:nvSpPr>
          <p:cNvPr id="7" name="Shape 3"/>
          <p:cNvSpPr/>
          <p:nvPr/>
        </p:nvSpPr>
        <p:spPr>
          <a:xfrm>
            <a:off x="4817059" y="1751990"/>
            <a:ext cx="6378854" cy="252374"/>
          </a:xfrm>
          <a:prstGeom prst="rect">
            <a:avLst/>
          </a:prstGeom>
          <a:solidFill>
            <a:srgbClr val="00338D"/>
          </a:solidFill>
          <a:ln w="12700">
            <a:solidFill>
              <a:srgbClr val="00338D"/>
            </a:solidFill>
            <a:prstDash val="solid"/>
          </a:ln>
        </p:spPr>
      </p:sp>
      <p:sp>
        <p:nvSpPr>
          <p:cNvPr id="8" name="Text 4"/>
          <p:cNvSpPr/>
          <p:nvPr/>
        </p:nvSpPr>
        <p:spPr>
          <a:xfrm>
            <a:off x="4890211" y="1751990"/>
            <a:ext cx="6232550" cy="25237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Click to add the heading</a:t>
            </a:r>
            <a:endParaRPr lang="en-US" sz="1200" dirty="0"/>
          </a:p>
        </p:txBody>
      </p:sp>
      <p:sp>
        <p:nvSpPr>
          <p:cNvPr id="9" name="Shape 5"/>
          <p:cNvSpPr/>
          <p:nvPr/>
        </p:nvSpPr>
        <p:spPr>
          <a:xfrm>
            <a:off x="4817059" y="2003450"/>
            <a:ext cx="6377940" cy="3869741"/>
          </a:xfrm>
          <a:prstGeom prst="rect">
            <a:avLst/>
          </a:prstGeom>
          <a:solidFill>
            <a:srgbClr val="FFFFFF">
              <a:alpha val="0"/>
            </a:srgbClr>
          </a:solidFill>
          <a:ln w="12700">
            <a:solidFill>
              <a:srgbClr val="9E9E9E"/>
            </a:solidFill>
            <a:prstDash val="solid"/>
          </a:ln>
        </p:spPr>
      </p:sp>
      <p:sp>
        <p:nvSpPr>
          <p:cNvPr id="10" name="Text 6"/>
          <p:cNvSpPr/>
          <p:nvPr/>
        </p:nvSpPr>
        <p:spPr>
          <a:xfrm>
            <a:off x="4817059" y="2003450"/>
            <a:ext cx="6377940" cy="3869741"/>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text here</a:t>
            </a:r>
            <a:endParaRPr lang="en-US" sz="1000" dirty="0"/>
          </a:p>
        </p:txBody>
      </p:sp>
      <p:sp>
        <p:nvSpPr>
          <p:cNvPr id="11" name="Text 7"/>
          <p:cNvSpPr/>
          <p:nvPr/>
        </p:nvSpPr>
        <p:spPr>
          <a:xfrm>
            <a:off x="994867" y="5907024"/>
            <a:ext cx="3599993" cy="210312"/>
          </a:xfrm>
          <a:prstGeom prst="rect">
            <a:avLst/>
          </a:prstGeom>
          <a:noFill/>
          <a:ln/>
        </p:spPr>
        <p:txBody>
          <a:bodyPr wrap="square" lIns="0" tIns="0" rIns="0" bIns="0" rtlCol="0" anchor="t"/>
          <a:lstStyle/>
          <a:p>
            <a:pPr indent="0" marL="0">
              <a:buNone/>
            </a:pPr>
            <a:r>
              <a:rPr lang="en-US" sz="600" b="1" dirty="0">
                <a:solidFill>
                  <a:srgbClr val="00338D"/>
                </a:solidFill>
                <a:latin typeface="Arial" pitchFamily="34" charset="0"/>
                <a:ea typeface="Arial" pitchFamily="34" charset="-122"/>
                <a:cs typeface="Arial" pitchFamily="34" charset="-120"/>
              </a:rPr>
              <a:t>Note: [...]\nSource: [...]</a:t>
            </a:r>
            <a:endParaRPr lang="en-US" sz="600" dirty="0"/>
          </a:p>
        </p:txBody>
      </p:sp>
      <p:sp>
        <p:nvSpPr>
          <p:cNvPr id="12" name="Text 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t>
            </a:r>
            <a:endParaRPr lang="en-US" sz="3200" dirty="0"/>
          </a:p>
        </p:txBody>
      </p:sp>
      <p:sp>
        <p:nvSpPr>
          <p:cNvPr id="3" name="Shape 1"/>
          <p:cNvSpPr/>
          <p:nvPr/>
        </p:nvSpPr>
        <p:spPr>
          <a:xfrm>
            <a:off x="998433" y="1554480"/>
            <a:ext cx="2194560" cy="1005840"/>
          </a:xfrm>
          <a:prstGeom prst="roundRect">
            <a:avLst>
              <a:gd name="adj" fmla="val 5455"/>
            </a:avLst>
          </a:prstGeom>
          <a:solidFill>
            <a:srgbClr val="00338D"/>
          </a:solidFill>
          <a:ln/>
        </p:spPr>
      </p:sp>
      <p:sp>
        <p:nvSpPr>
          <p:cNvPr id="4" name="Text 2"/>
          <p:cNvSpPr/>
          <p:nvPr/>
        </p:nvSpPr>
        <p:spPr>
          <a:xfrm>
            <a:off x="1044153" y="1600200"/>
            <a:ext cx="2103120" cy="45262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t>
            </a:r>
            <a:endParaRPr lang="en-US" sz="1800" dirty="0"/>
          </a:p>
        </p:txBody>
      </p:sp>
      <p:sp>
        <p:nvSpPr>
          <p:cNvPr id="5" name="Text 3"/>
          <p:cNvSpPr/>
          <p:nvPr/>
        </p:nvSpPr>
        <p:spPr>
          <a:xfrm>
            <a:off x="1044153" y="2077517"/>
            <a:ext cx="2103120" cy="201168"/>
          </a:xfrm>
          <a:prstGeom prst="rect">
            <a:avLst/>
          </a:prstGeom>
          <a:noFill/>
          <a:ln/>
        </p:spPr>
        <p:txBody>
          <a:bodyPr wrap="square"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a:t>
            </a:r>
            <a:endParaRPr lang="en-US" sz="700" dirty="0"/>
          </a:p>
        </p:txBody>
      </p:sp>
      <p:sp>
        <p:nvSpPr>
          <p:cNvPr id="6" name="Text 4"/>
          <p:cNvSpPr/>
          <p:nvPr/>
        </p:nvSpPr>
        <p:spPr>
          <a:xfrm>
            <a:off x="1044153" y="2288743"/>
            <a:ext cx="2103120" cy="201168"/>
          </a:xfrm>
          <a:prstGeom prst="rect">
            <a:avLst/>
          </a:prstGeom>
          <a:noFill/>
          <a:ln/>
        </p:spPr>
        <p:txBody>
          <a:bodyPr wrap="square" rtlCol="0" anchor="ctr"/>
          <a:lstStyle/>
          <a:p>
            <a:pPr algn="ctr" indent="0" marL="0">
              <a:buNone/>
            </a:pPr>
            <a:r>
              <a:rPr lang="en-US" sz="600" i="1" dirty="0">
                <a:solidFill>
                  <a:srgbClr val="FFFFFF"/>
                </a:solidFill>
                <a:latin typeface="Arial" pitchFamily="34" charset="0"/>
                <a:ea typeface="Arial" pitchFamily="34" charset="-122"/>
                <a:cs typeface="Arial" pitchFamily="34" charset="-120"/>
              </a:rPr>
              <a:t>.</a:t>
            </a:r>
            <a:endParaRPr lang="en-US" sz="600" dirty="0"/>
          </a:p>
        </p:txBody>
      </p:sp>
      <p:sp>
        <p:nvSpPr>
          <p:cNvPr id="7" name="Shape 5"/>
          <p:cNvSpPr/>
          <p:nvPr/>
        </p:nvSpPr>
        <p:spPr>
          <a:xfrm>
            <a:off x="3337560" y="1554480"/>
            <a:ext cx="2194560" cy="1005840"/>
          </a:xfrm>
          <a:prstGeom prst="roundRect">
            <a:avLst>
              <a:gd name="adj" fmla="val 5455"/>
            </a:avLst>
          </a:prstGeom>
          <a:solidFill>
            <a:srgbClr val="1E49E2"/>
          </a:solidFill>
          <a:ln/>
        </p:spPr>
      </p:sp>
      <p:sp>
        <p:nvSpPr>
          <p:cNvPr id="8" name="Text 6"/>
          <p:cNvSpPr/>
          <p:nvPr/>
        </p:nvSpPr>
        <p:spPr>
          <a:xfrm>
            <a:off x="3383280" y="1600200"/>
            <a:ext cx="2103120" cy="45262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t>
            </a:r>
            <a:endParaRPr lang="en-US" sz="1800" dirty="0"/>
          </a:p>
        </p:txBody>
      </p:sp>
      <p:sp>
        <p:nvSpPr>
          <p:cNvPr id="9" name="Text 7"/>
          <p:cNvSpPr/>
          <p:nvPr/>
        </p:nvSpPr>
        <p:spPr>
          <a:xfrm>
            <a:off x="3383280" y="2077517"/>
            <a:ext cx="2103120" cy="201168"/>
          </a:xfrm>
          <a:prstGeom prst="rect">
            <a:avLst/>
          </a:prstGeom>
          <a:noFill/>
          <a:ln/>
        </p:spPr>
        <p:txBody>
          <a:bodyPr wrap="square"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a:t>
            </a:r>
            <a:endParaRPr lang="en-US" sz="700" dirty="0"/>
          </a:p>
        </p:txBody>
      </p:sp>
      <p:sp>
        <p:nvSpPr>
          <p:cNvPr id="10" name="Text 8"/>
          <p:cNvSpPr/>
          <p:nvPr/>
        </p:nvSpPr>
        <p:spPr>
          <a:xfrm>
            <a:off x="3383280" y="2288743"/>
            <a:ext cx="2103120" cy="201168"/>
          </a:xfrm>
          <a:prstGeom prst="rect">
            <a:avLst/>
          </a:prstGeom>
          <a:noFill/>
          <a:ln/>
        </p:spPr>
        <p:txBody>
          <a:bodyPr wrap="square" rtlCol="0" anchor="ctr"/>
          <a:lstStyle/>
          <a:p>
            <a:pPr algn="ctr" indent="0" marL="0">
              <a:buNone/>
            </a:pPr>
            <a:r>
              <a:rPr lang="en-US" sz="600" i="1" dirty="0">
                <a:solidFill>
                  <a:srgbClr val="FFFFFF"/>
                </a:solidFill>
                <a:latin typeface="Arial" pitchFamily="34" charset="0"/>
                <a:ea typeface="Arial" pitchFamily="34" charset="-122"/>
                <a:cs typeface="Arial" pitchFamily="34" charset="-120"/>
              </a:rPr>
              <a:t>.</a:t>
            </a:r>
            <a:endParaRPr lang="en-US" sz="600" dirty="0"/>
          </a:p>
        </p:txBody>
      </p:sp>
      <p:sp>
        <p:nvSpPr>
          <p:cNvPr id="11" name="Shape 9"/>
          <p:cNvSpPr/>
          <p:nvPr/>
        </p:nvSpPr>
        <p:spPr>
          <a:xfrm>
            <a:off x="5669280" y="1554480"/>
            <a:ext cx="2194560" cy="1005840"/>
          </a:xfrm>
          <a:prstGeom prst="roundRect">
            <a:avLst>
              <a:gd name="adj" fmla="val 5455"/>
            </a:avLst>
          </a:prstGeom>
          <a:solidFill>
            <a:srgbClr val="7213EA"/>
          </a:solidFill>
          <a:ln/>
        </p:spPr>
      </p:sp>
      <p:sp>
        <p:nvSpPr>
          <p:cNvPr id="12" name="Text 10"/>
          <p:cNvSpPr/>
          <p:nvPr/>
        </p:nvSpPr>
        <p:spPr>
          <a:xfrm>
            <a:off x="5715000" y="1600200"/>
            <a:ext cx="2103120" cy="45262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t>
            </a:r>
            <a:endParaRPr lang="en-US" sz="1800" dirty="0"/>
          </a:p>
        </p:txBody>
      </p:sp>
      <p:sp>
        <p:nvSpPr>
          <p:cNvPr id="13" name="Text 11"/>
          <p:cNvSpPr/>
          <p:nvPr/>
        </p:nvSpPr>
        <p:spPr>
          <a:xfrm>
            <a:off x="5715000" y="2077517"/>
            <a:ext cx="2103120" cy="201168"/>
          </a:xfrm>
          <a:prstGeom prst="rect">
            <a:avLst/>
          </a:prstGeom>
          <a:noFill/>
          <a:ln/>
        </p:spPr>
        <p:txBody>
          <a:bodyPr wrap="square"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a:t>
            </a:r>
            <a:endParaRPr lang="en-US" sz="700" dirty="0"/>
          </a:p>
        </p:txBody>
      </p:sp>
      <p:sp>
        <p:nvSpPr>
          <p:cNvPr id="14" name="Text 12"/>
          <p:cNvSpPr/>
          <p:nvPr/>
        </p:nvSpPr>
        <p:spPr>
          <a:xfrm>
            <a:off x="5715000" y="2288743"/>
            <a:ext cx="2103120" cy="201168"/>
          </a:xfrm>
          <a:prstGeom prst="rect">
            <a:avLst/>
          </a:prstGeom>
          <a:noFill/>
          <a:ln/>
        </p:spPr>
        <p:txBody>
          <a:bodyPr wrap="square" rtlCol="0" anchor="ctr"/>
          <a:lstStyle/>
          <a:p>
            <a:pPr algn="ctr" indent="0" marL="0">
              <a:buNone/>
            </a:pPr>
            <a:r>
              <a:rPr lang="en-US" sz="600" i="1" dirty="0">
                <a:solidFill>
                  <a:srgbClr val="FFFFFF"/>
                </a:solidFill>
                <a:latin typeface="Arial" pitchFamily="34" charset="0"/>
                <a:ea typeface="Arial" pitchFamily="34" charset="-122"/>
                <a:cs typeface="Arial" pitchFamily="34" charset="-120"/>
              </a:rPr>
              <a:t>.</a:t>
            </a:r>
            <a:endParaRPr lang="en-US" sz="600" dirty="0"/>
          </a:p>
        </p:txBody>
      </p:sp>
      <p:graphicFrame>
        <p:nvGraphicFramePr>
          <p:cNvPr id="15" name="Chart 0" descr=""/>
          <p:cNvGraphicFramePr/>
          <p:nvPr/>
        </p:nvGraphicFramePr>
        <p:xfrm>
          <a:off x="998433" y="2834640"/>
          <a:ext cx="10204338" cy="3291840"/>
        </p:xfrm>
        <a:graphic xmlns:a="http://schemas.openxmlformats.org/drawingml/2006/main">
          <a:graphicData uri="http://schemas.openxmlformats.org/drawingml/2006/chart">
            <c:chart xmlns:c="http://schemas.openxmlformats.org/drawingml/2006/chart" r:id="rId1"/>
          </a:graphicData>
        </a:graphic>
      </p:graphicFrame>
      <p:sp>
        <p:nvSpPr>
          <p:cNvPr id="16" name="Text 1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998525" y="431597"/>
            <a:ext cx="10195560" cy="533095"/>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t>
            </a:r>
            <a:endParaRPr lang="en-US" sz="3200" dirty="0"/>
          </a:p>
        </p:txBody>
      </p:sp>
      <p:sp>
        <p:nvSpPr>
          <p:cNvPr id="3" name="Shape 1"/>
          <p:cNvSpPr/>
          <p:nvPr/>
        </p:nvSpPr>
        <p:spPr>
          <a:xfrm>
            <a:off x="995362" y="1179513"/>
            <a:ext cx="3302806" cy="2296973"/>
          </a:xfrm>
          <a:prstGeom prst="rect">
            <a:avLst/>
          </a:prstGeom>
          <a:solidFill>
            <a:srgbClr val="EDEDED"/>
          </a:solidFill>
          <a:ln w="12700">
            <a:solidFill>
              <a:srgbClr val="EDEDED"/>
            </a:solidFill>
            <a:prstDash val="solid"/>
          </a:ln>
        </p:spPr>
      </p:sp>
      <p:sp>
        <p:nvSpPr>
          <p:cNvPr id="4" name="Text 2"/>
          <p:cNvSpPr/>
          <p:nvPr/>
        </p:nvSpPr>
        <p:spPr>
          <a:xfrm>
            <a:off x="1068514" y="1206945"/>
            <a:ext cx="2479846"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a:t>
            </a:r>
            <a:endParaRPr lang="en-US" sz="1000" dirty="0"/>
          </a:p>
        </p:txBody>
      </p:sp>
      <p:sp>
        <p:nvSpPr>
          <p:cNvPr id="5" name="Shape 3"/>
          <p:cNvSpPr/>
          <p:nvPr/>
        </p:nvSpPr>
        <p:spPr>
          <a:xfrm>
            <a:off x="3502640" y="1206945"/>
            <a:ext cx="749808" cy="201168"/>
          </a:xfrm>
          <a:prstGeom prst="roundRect">
            <a:avLst>
              <a:gd name="adj" fmla="val 13636"/>
            </a:avLst>
          </a:prstGeom>
          <a:solidFill>
            <a:srgbClr val="5A1CD7"/>
          </a:solidFill>
          <a:ln w="12700">
            <a:solidFill>
              <a:srgbClr val="5A1CD7"/>
            </a:solidFill>
            <a:prstDash val="solid"/>
          </a:ln>
        </p:spPr>
      </p:sp>
      <p:sp>
        <p:nvSpPr>
          <p:cNvPr id="6" name="Text 4"/>
          <p:cNvSpPr/>
          <p:nvPr/>
        </p:nvSpPr>
        <p:spPr>
          <a:xfrm>
            <a:off x="3502640" y="1216089"/>
            <a:ext cx="74980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Read more</a:t>
            </a:r>
            <a:endParaRPr lang="en-US" sz="700" dirty="0"/>
          </a:p>
        </p:txBody>
      </p:sp>
      <p:sp>
        <p:nvSpPr>
          <p:cNvPr id="7" name="Shape 5"/>
          <p:cNvSpPr/>
          <p:nvPr/>
        </p:nvSpPr>
        <p:spPr>
          <a:xfrm>
            <a:off x="4441587" y="1179513"/>
            <a:ext cx="3302806" cy="2296973"/>
          </a:xfrm>
          <a:prstGeom prst="rect">
            <a:avLst/>
          </a:prstGeom>
          <a:solidFill>
            <a:srgbClr val="EDEDED"/>
          </a:solidFill>
          <a:ln w="12700">
            <a:solidFill>
              <a:srgbClr val="EDEDED"/>
            </a:solidFill>
            <a:prstDash val="solid"/>
          </a:ln>
        </p:spPr>
      </p:sp>
      <p:sp>
        <p:nvSpPr>
          <p:cNvPr id="8" name="Text 6"/>
          <p:cNvSpPr/>
          <p:nvPr/>
        </p:nvSpPr>
        <p:spPr>
          <a:xfrm>
            <a:off x="4514739" y="1206945"/>
            <a:ext cx="2479846"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a:t>
            </a:r>
            <a:endParaRPr lang="en-US" sz="1000" dirty="0"/>
          </a:p>
        </p:txBody>
      </p:sp>
      <p:sp>
        <p:nvSpPr>
          <p:cNvPr id="9" name="Shape 7"/>
          <p:cNvSpPr/>
          <p:nvPr/>
        </p:nvSpPr>
        <p:spPr>
          <a:xfrm>
            <a:off x="6948865" y="1206945"/>
            <a:ext cx="749808" cy="201168"/>
          </a:xfrm>
          <a:prstGeom prst="roundRect">
            <a:avLst>
              <a:gd name="adj" fmla="val 13636"/>
            </a:avLst>
          </a:prstGeom>
          <a:solidFill>
            <a:srgbClr val="5A1CD7"/>
          </a:solidFill>
          <a:ln w="12700">
            <a:solidFill>
              <a:srgbClr val="5A1CD7"/>
            </a:solidFill>
            <a:prstDash val="solid"/>
          </a:ln>
        </p:spPr>
      </p:sp>
      <p:sp>
        <p:nvSpPr>
          <p:cNvPr id="10" name="Text 8"/>
          <p:cNvSpPr/>
          <p:nvPr/>
        </p:nvSpPr>
        <p:spPr>
          <a:xfrm>
            <a:off x="6948865" y="1216089"/>
            <a:ext cx="74980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Read more</a:t>
            </a:r>
            <a:endParaRPr lang="en-US" sz="700" dirty="0"/>
          </a:p>
        </p:txBody>
      </p:sp>
      <p:sp>
        <p:nvSpPr>
          <p:cNvPr id="11" name="Shape 9"/>
          <p:cNvSpPr/>
          <p:nvPr/>
        </p:nvSpPr>
        <p:spPr>
          <a:xfrm>
            <a:off x="7887812" y="1179513"/>
            <a:ext cx="3302806" cy="2296973"/>
          </a:xfrm>
          <a:prstGeom prst="rect">
            <a:avLst/>
          </a:prstGeom>
          <a:solidFill>
            <a:srgbClr val="EDEDED"/>
          </a:solidFill>
          <a:ln w="12700">
            <a:solidFill>
              <a:srgbClr val="EDEDED"/>
            </a:solidFill>
            <a:prstDash val="solid"/>
          </a:ln>
        </p:spPr>
      </p:sp>
      <p:sp>
        <p:nvSpPr>
          <p:cNvPr id="12" name="Text 10"/>
          <p:cNvSpPr/>
          <p:nvPr/>
        </p:nvSpPr>
        <p:spPr>
          <a:xfrm>
            <a:off x="7960964" y="1206945"/>
            <a:ext cx="2479846"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a:t>
            </a:r>
            <a:endParaRPr lang="en-US" sz="1000" dirty="0"/>
          </a:p>
        </p:txBody>
      </p:sp>
      <p:sp>
        <p:nvSpPr>
          <p:cNvPr id="13" name="Shape 11"/>
          <p:cNvSpPr/>
          <p:nvPr/>
        </p:nvSpPr>
        <p:spPr>
          <a:xfrm>
            <a:off x="10395090" y="1206945"/>
            <a:ext cx="749808" cy="201168"/>
          </a:xfrm>
          <a:prstGeom prst="roundRect">
            <a:avLst>
              <a:gd name="adj" fmla="val 13636"/>
            </a:avLst>
          </a:prstGeom>
          <a:solidFill>
            <a:srgbClr val="5A1CD7"/>
          </a:solidFill>
          <a:ln w="12700">
            <a:solidFill>
              <a:srgbClr val="5A1CD7"/>
            </a:solidFill>
            <a:prstDash val="solid"/>
          </a:ln>
        </p:spPr>
      </p:sp>
      <p:sp>
        <p:nvSpPr>
          <p:cNvPr id="14" name="Text 12"/>
          <p:cNvSpPr/>
          <p:nvPr/>
        </p:nvSpPr>
        <p:spPr>
          <a:xfrm>
            <a:off x="10395090" y="1216089"/>
            <a:ext cx="74980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Read more</a:t>
            </a:r>
            <a:endParaRPr lang="en-US" sz="700" dirty="0"/>
          </a:p>
        </p:txBody>
      </p:sp>
      <p:sp>
        <p:nvSpPr>
          <p:cNvPr id="15" name="Shape 13"/>
          <p:cNvSpPr/>
          <p:nvPr/>
        </p:nvSpPr>
        <p:spPr>
          <a:xfrm>
            <a:off x="995361" y="3581757"/>
            <a:ext cx="5036400" cy="2296973"/>
          </a:xfrm>
          <a:prstGeom prst="rect">
            <a:avLst/>
          </a:prstGeom>
          <a:solidFill>
            <a:srgbClr val="EDEDED"/>
          </a:solidFill>
          <a:ln w="12700">
            <a:solidFill>
              <a:srgbClr val="EDEDED"/>
            </a:solidFill>
            <a:prstDash val="solid"/>
          </a:ln>
        </p:spPr>
      </p:sp>
      <p:sp>
        <p:nvSpPr>
          <p:cNvPr id="16" name="Text 14"/>
          <p:cNvSpPr/>
          <p:nvPr/>
        </p:nvSpPr>
        <p:spPr>
          <a:xfrm>
            <a:off x="1068513" y="3609189"/>
            <a:ext cx="4899240"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a:t>
            </a:r>
            <a:endParaRPr lang="en-US" sz="1000" dirty="0"/>
          </a:p>
        </p:txBody>
      </p:sp>
      <p:sp>
        <p:nvSpPr>
          <p:cNvPr id="17" name="Shape 15"/>
          <p:cNvSpPr/>
          <p:nvPr/>
        </p:nvSpPr>
        <p:spPr>
          <a:xfrm>
            <a:off x="6159600" y="3581757"/>
            <a:ext cx="5036400" cy="2296973"/>
          </a:xfrm>
          <a:prstGeom prst="rect">
            <a:avLst/>
          </a:prstGeom>
          <a:solidFill>
            <a:srgbClr val="EDEDED"/>
          </a:solidFill>
          <a:ln w="12700">
            <a:solidFill>
              <a:srgbClr val="EDEDED"/>
            </a:solidFill>
            <a:prstDash val="solid"/>
          </a:ln>
        </p:spPr>
      </p:sp>
      <p:sp>
        <p:nvSpPr>
          <p:cNvPr id="18" name="Text 16"/>
          <p:cNvSpPr/>
          <p:nvPr/>
        </p:nvSpPr>
        <p:spPr>
          <a:xfrm>
            <a:off x="6232752" y="3609189"/>
            <a:ext cx="4899240"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a:t>
            </a:r>
            <a:endParaRPr lang="en-US" sz="1000" dirty="0"/>
          </a:p>
        </p:txBody>
      </p:sp>
      <p:sp>
        <p:nvSpPr>
          <p:cNvPr id="19" name="Text 17"/>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t>
            </a:r>
            <a:endParaRPr lang="en-US" sz="3200" dirty="0"/>
          </a:p>
        </p:txBody>
      </p:sp>
      <p:sp>
        <p:nvSpPr>
          <p:cNvPr id="3" name="Text 1"/>
          <p:cNvSpPr/>
          <p:nvPr/>
        </p:nvSpPr>
        <p:spPr>
          <a:xfrm>
            <a:off x="998433" y="1463040"/>
            <a:ext cx="5120640" cy="47128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t>
            </a:r>
            <a:endParaRPr lang="en-US" sz="1000" dirty="0"/>
          </a:p>
        </p:txBody>
      </p:sp>
      <p:graphicFrame>
        <p:nvGraphicFramePr>
          <p:cNvPr id="4" name="Chart 0" descr=""/>
          <p:cNvGraphicFramePr/>
          <p:nvPr/>
        </p:nvGraphicFramePr>
        <p:xfrm>
          <a:off x="6400800" y="1463040"/>
          <a:ext cx="4800600" cy="45720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t>
            </a:r>
            <a:endParaRPr lang="en-US" sz="3200" dirty="0"/>
          </a:p>
        </p:txBody>
      </p:sp>
      <p:sp>
        <p:nvSpPr>
          <p:cNvPr id="3" name="Text 1"/>
          <p:cNvSpPr/>
          <p:nvPr/>
        </p:nvSpPr>
        <p:spPr>
          <a:xfrm>
            <a:off x="998433" y="1463040"/>
            <a:ext cx="10204338" cy="201168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t>
            </a:r>
            <a:endParaRPr lang="en-US" sz="1000" dirty="0"/>
          </a:p>
        </p:txBody>
      </p:sp>
      <p:graphicFrame>
        <p:nvGraphicFramePr>
          <p:cNvPr id="4" name="Chart 0" descr=""/>
          <p:cNvGraphicFramePr/>
          <p:nvPr/>
        </p:nvGraphicFramePr>
        <p:xfrm>
          <a:off x="998433" y="3566160"/>
          <a:ext cx="10204338" cy="2609698"/>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t>
            </a:r>
            <a:endParaRPr lang="en-US" sz="3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995361" y="1751579"/>
          <a:ext cx="5036396" cy="914400"/>
        </p:xfrm>
        <a:graphic>
          <a:graphicData uri="http://schemas.openxmlformats.org/drawingml/2006/table">
            <a:tbl>
              <a:tblPr/>
              <a:tblGrid>
                <a:gridCol w="2346428"/>
                <a:gridCol w="2689968"/>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4" name="Text 1"/>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5" name="Text 2"/>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Key takeaways synthesized from the table inputs for quick scan and discussion.</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Use as a working view; confirm all figures during confirmatory diligence.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p:txBody>
      </p:sp>
      <p:sp>
        <p:nvSpPr>
          <p:cNvPr id="6"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t>
            </a:r>
            <a:endParaRPr lang="en-US" sz="3200" dirty="0"/>
          </a:p>
        </p:txBody>
      </p:sp>
      <p:sp>
        <p:nvSpPr>
          <p:cNvPr id="3" name="Text 1"/>
          <p:cNvSpPr/>
          <p:nvPr/>
        </p:nvSpPr>
        <p:spPr>
          <a:xfrm>
            <a:off x="997200" y="1179513"/>
            <a:ext cx="5036400" cy="4694400"/>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t>
            </a:r>
            <a:endParaRPr lang="en-US" sz="1000" dirty="0"/>
          </a:p>
        </p:txBody>
      </p:sp>
      <p:sp>
        <p:nvSpPr>
          <p:cNvPr id="4" name="Text 2"/>
          <p:cNvSpPr/>
          <p:nvPr/>
        </p:nvSpPr>
        <p:spPr>
          <a:xfrm>
            <a:off x="6159600" y="1179513"/>
            <a:ext cx="5036400" cy="4694400"/>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t>
            </a:r>
            <a:endParaRPr lang="en-US" sz="1000" dirty="0"/>
          </a:p>
        </p:txBody>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8</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t>
            </a:r>
            <a:endParaRPr lang="en-US" sz="3200" dirty="0"/>
          </a:p>
        </p:txBody>
      </p:sp>
      <p:sp>
        <p:nvSpPr>
          <p:cNvPr id="3" name="Text 1"/>
          <p:cNvSpPr/>
          <p:nvPr/>
        </p:nvSpPr>
        <p:spPr>
          <a:xfrm>
            <a:off x="998433" y="1371600"/>
            <a:ext cx="5212080" cy="4804258"/>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t>
            </a:r>
            <a:endParaRPr lang="en-US" sz="1000" dirty="0"/>
          </a:p>
        </p:txBody>
      </p:sp>
      <p:sp>
        <p:nvSpPr>
          <p:cNvPr id="4" name="Text 2"/>
          <p:cNvSpPr/>
          <p:nvPr/>
        </p:nvSpPr>
        <p:spPr>
          <a:xfrm>
            <a:off x="6438748" y="1371600"/>
            <a:ext cx="4754880" cy="4804258"/>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t>
            </a:r>
            <a:endParaRPr lang="en-US" sz="1000" dirty="0"/>
          </a:p>
        </p:txBody>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9</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t>
            </a:r>
            <a:endParaRPr lang="en-US" sz="3200" dirty="0"/>
          </a:p>
        </p:txBody>
      </p:sp>
      <p:sp>
        <p:nvSpPr>
          <p:cNvPr id="3" name="Text 1"/>
          <p:cNvSpPr/>
          <p:nvPr/>
        </p:nvSpPr>
        <p:spPr>
          <a:xfrm>
            <a:off x="998433" y="1463040"/>
            <a:ext cx="10204338" cy="47128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t>
            </a:r>
            <a:endParaRPr lang="en-US" sz="1000" dirty="0"/>
          </a:p>
        </p:txBody>
      </p:sp>
      <p:sp>
        <p:nvSpPr>
          <p:cNvPr id="4" name="Text 2"/>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10</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t>
            </a:r>
            <a:endParaRPr lang="en-US" sz="3200" dirty="0"/>
          </a:p>
        </p:txBody>
      </p:sp>
      <p:sp>
        <p:nvSpPr>
          <p:cNvPr id="3" name="Text 1"/>
          <p:cNvSpPr/>
          <p:nvPr/>
        </p:nvSpPr>
        <p:spPr>
          <a:xfrm>
            <a:off x="997200" y="1179513"/>
            <a:ext cx="10195200" cy="46944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t>
            </a:r>
            <a:endParaRPr lang="en-US" sz="1000" dirty="0"/>
          </a:p>
        </p:txBody>
      </p:sp>
      <p:sp>
        <p:nvSpPr>
          <p:cNvPr id="4" name="Shape 2"/>
          <p:cNvSpPr/>
          <p:nvPr/>
        </p:nvSpPr>
        <p:spPr>
          <a:xfrm>
            <a:off x="997200" y="1179513"/>
            <a:ext cx="10195200" cy="4694400"/>
          </a:xfrm>
          <a:prstGeom prst="rect">
            <a:avLst/>
          </a:prstGeom>
          <a:solidFill>
            <a:srgbClr val="A5C7E5"/>
          </a:solidFill>
          <a:ln w="12700">
            <a:solidFill>
              <a:srgbClr val="00338D"/>
            </a:solidFill>
            <a:prstDash val="solid"/>
          </a:ln>
        </p:spPr>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11</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t>
            </a:r>
            <a:endParaRPr lang="en-US" sz="3200" dirty="0"/>
          </a:p>
        </p:txBody>
      </p:sp>
      <p:sp>
        <p:nvSpPr>
          <p:cNvPr id="3" name="Text 1"/>
          <p:cNvSpPr/>
          <p:nvPr/>
        </p:nvSpPr>
        <p:spPr>
          <a:xfrm>
            <a:off x="998433" y="1554480"/>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a:t>
            </a:r>
            <a:endParaRPr lang="en-US" sz="1000" dirty="0"/>
          </a:p>
        </p:txBody>
      </p:sp>
      <p:sp>
        <p:nvSpPr>
          <p:cNvPr id="4" name="Text 2"/>
          <p:cNvSpPr/>
          <p:nvPr/>
        </p:nvSpPr>
        <p:spPr>
          <a:xfrm>
            <a:off x="998433"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t>
            </a:r>
            <a:endParaRPr lang="en-US" sz="1000" dirty="0"/>
          </a:p>
        </p:txBody>
      </p:sp>
      <p:sp>
        <p:nvSpPr>
          <p:cNvPr id="5" name="Text 3"/>
          <p:cNvSpPr/>
          <p:nvPr/>
        </p:nvSpPr>
        <p:spPr>
          <a:xfrm>
            <a:off x="3566160" y="1554480"/>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a:t>
            </a:r>
            <a:endParaRPr lang="en-US" sz="1000" dirty="0"/>
          </a:p>
        </p:txBody>
      </p:sp>
      <p:sp>
        <p:nvSpPr>
          <p:cNvPr id="6" name="Text 4"/>
          <p:cNvSpPr/>
          <p:nvPr/>
        </p:nvSpPr>
        <p:spPr>
          <a:xfrm>
            <a:off x="356616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t>
            </a:r>
            <a:endParaRPr lang="en-US" sz="1000" dirty="0"/>
          </a:p>
        </p:txBody>
      </p:sp>
      <p:sp>
        <p:nvSpPr>
          <p:cNvPr id="7" name="Text 5"/>
          <p:cNvSpPr/>
          <p:nvPr/>
        </p:nvSpPr>
        <p:spPr>
          <a:xfrm>
            <a:off x="6126480" y="1554480"/>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a:t>
            </a:r>
            <a:endParaRPr lang="en-US" sz="1000" dirty="0"/>
          </a:p>
        </p:txBody>
      </p:sp>
      <p:sp>
        <p:nvSpPr>
          <p:cNvPr id="8" name="Text 6"/>
          <p:cNvSpPr/>
          <p:nvPr/>
        </p:nvSpPr>
        <p:spPr>
          <a:xfrm>
            <a:off x="612648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t>
            </a:r>
            <a:endParaRPr lang="en-US" sz="1000" dirty="0"/>
          </a:p>
        </p:txBody>
      </p:sp>
      <p:sp>
        <p:nvSpPr>
          <p:cNvPr id="9" name="Text 7"/>
          <p:cNvSpPr/>
          <p:nvPr/>
        </p:nvSpPr>
        <p:spPr>
          <a:xfrm>
            <a:off x="8686800" y="1554480"/>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a:t>
            </a:r>
            <a:endParaRPr lang="en-US" sz="1000" dirty="0"/>
          </a:p>
        </p:txBody>
      </p:sp>
      <p:sp>
        <p:nvSpPr>
          <p:cNvPr id="10" name="Text 8"/>
          <p:cNvSpPr/>
          <p:nvPr/>
        </p:nvSpPr>
        <p:spPr>
          <a:xfrm>
            <a:off x="868680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t>
            </a:r>
            <a:endParaRPr lang="en-US" sz="1000" dirty="0"/>
          </a:p>
        </p:txBody>
      </p:sp>
      <p:sp>
        <p:nvSpPr>
          <p:cNvPr id="11" name="Text 9"/>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12</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914400" y="3291840"/>
            <a:ext cx="10241280" cy="2194560"/>
          </a:xfrm>
          <a:prstGeom prst="rect">
            <a:avLst/>
          </a:prstGeom>
          <a:noFill/>
          <a:ln/>
        </p:spPr>
        <p:txBody>
          <a:bodyPr wrap="square" rtlCol="0" anchor="t"/>
          <a:lstStyle/>
          <a:p>
            <a:pPr indent="0" marL="0">
              <a:buNone/>
            </a:pPr>
            <a:r>
              <a:rPr lang="en-US" sz="1000" dirty="0">
                <a:solidFill>
                  <a:srgbClr val="FFFFFF"/>
                </a:solidFill>
                <a:latin typeface="Arial" pitchFamily="34" charset="0"/>
                <a:ea typeface="Arial" pitchFamily="34" charset="-122"/>
                <a:cs typeface="Arial" pitchFamily="34" charset="-120"/>
              </a:rPr>
              <a:t>The information contained herein is of a general nature and is not intended to address the circumstances of any particular individual or entity. Although we endeavour to provide accurate and timely information, there can be no guarantee that such information is accurate as of the date it is received or that it will continue to be accurate in the future. No one should act on such information without appropriate professional advice after a thorough examination of the particular situation.</a:t>
            </a:r>
            <a:endParaRPr lang="en-US" sz="1000" dirty="0"/>
          </a:p>
        </p:txBody>
      </p:sp>
      <p:sp>
        <p:nvSpPr>
          <p:cNvPr id="3" name="Text 1">
            <a:hlinkClick r:id="rId1" tooltip=""/>
          </p:cNvPr>
          <p:cNvSpPr/>
          <p:nvPr/>
        </p:nvSpPr>
        <p:spPr>
          <a:xfrm>
            <a:off x="914400" y="5760720"/>
            <a:ext cx="3657600" cy="274320"/>
          </a:xfrm>
          <a:prstGeom prst="rect">
            <a:avLst/>
          </a:prstGeom>
          <a:noFill/>
          <a:ln/>
        </p:spPr>
        <p:txBody>
          <a:bodyPr wrap="square" rtlCol="0" anchor="ctr"/>
          <a:lstStyle/>
          <a:p>
            <a:pPr indent="0" marL="0">
              <a:buNone/>
            </a:pPr>
            <a:r>
              <a:rPr lang="en-US" sz="1000" b="1" u="sng" dirty="0">
                <a:solidFill>
                  <a:srgbClr val="FFFFFF"/>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kpmg.com</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KPMG LLP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KPMG Generator Layout Catalog (Blank) - kpmg-diligence</dc:title>
  <dc:subject>All available layout types with minimal placeholder content</dc:subject>
  <dc:creator>kpmg-slidegen</dc:creator>
  <cp:lastModifiedBy>kpmg-slidegen</cp:lastModifiedBy>
  <cp:revision>1</cp:revision>
  <dcterms:created xsi:type="dcterms:W3CDTF">2026-02-20T00:38:49Z</dcterms:created>
  <dcterms:modified xsi:type="dcterms:W3CDTF">2026-02-20T00:38:49Z</dcterms:modified>
</cp:coreProperties>
</file>