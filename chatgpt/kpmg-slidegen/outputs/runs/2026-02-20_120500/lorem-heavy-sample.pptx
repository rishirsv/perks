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4.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5.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ong-Form Text and Layout Stress Test" id="{d0158f4f-0e15-7b32-12f8-559f2c7a37cb}">
          <p14:sldIdLst/>
        </p14:section>
        <p14:section name="Default-1" id="{efa8dd41-91cb-b158-7201-fd11172cc518}">
          <p14:sldIdLst>
            <p14:sldId id="257"/>
            <p14:sldId id="258"/>
            <p14:sldId id="259"/>
            <p14:sldId id="260"/>
            <p14:sldId id="261"/>
            <p14:sldId id="262"/>
            <p14:sldId id="263"/>
            <p14:sldId id="264"/>
            <p14:sldId id="265"/>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areaChart>
        <c:varyColors val="0"/>
        <c:ser>
          <c:idx val="0"/>
          <c:order val="0"/>
          <c:tx>
            <c:strRef>
              <c:f>Sheet1!$B$1</c:f>
              <c:strCache>
                <c:ptCount val="1"/>
                <c:pt idx="0">
                  <c:v>Illustrative Quarterly Revenue</c:v>
                </c:pt>
              </c:strCache>
            </c:strRef>
          </c:tx>
          <c:spPr>
            <a:solidFill>
              <a:srgbClr val="00338D"/>
            </a:solidFill>
            <a:effectLst/>
          </c:spPr>
          <c:invertIfNegative val="0"/>
          <c:dLbls>
            <c:numFmt formatCode="#,##0" sourceLinked="0"/>
            <c:spPr>
              <a:solidFill>
                <a:srgbClr val="00338D"/>
              </a:solidFill>
            </c:spPr>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cat>
            <c:multiLvlStrRef>
              <c:f>Sheet1!$A$2:$A$7</c:f>
              <c:multiLvlStrCache>
                <c:ptCount val="6"/>
                <c:lvl>
                  <c:pt idx="0">
                    <c:v>Q1</c:v>
                  </c:pt>
                  <c:pt idx="1">
                    <c:v>Q2</c:v>
                  </c:pt>
                  <c:pt idx="2">
                    <c:v>Q3</c:v>
                  </c:pt>
                  <c:pt idx="3">
                    <c:v>Q4</c:v>
                  </c:pt>
                  <c:pt idx="4">
                    <c:v>Q5</c:v>
                  </c:pt>
                  <c:pt idx="5">
                    <c:v>Q6</c:v>
                  </c:pt>
                </c:lvl>
              </c:multiLvlStrCache>
            </c:multiLvlStrRef>
          </c:cat>
          <c:val>
            <c:numRef>
              <c:f>Sheet1!$B$2:$B$7</c:f>
              <c:numCache>
                <c:formatCode>General</c:formatCode>
                <c:ptCount val="6"/>
                <c:pt idx="0">
                  <c:v>12</c:v>
                </c:pt>
                <c:pt idx="1">
                  <c:v>18</c:v>
                </c:pt>
                <c:pt idx="2">
                  <c:v>17</c:v>
                </c:pt>
                <c:pt idx="3">
                  <c:v>24</c:v>
                </c:pt>
                <c:pt idx="4">
                  <c:v>29</c:v>
                </c:pt>
                <c:pt idx="5">
                  <c:v>31</c:v>
                </c:pt>
              </c:numCache>
            </c:numRef>
          </c:val>
        </c:ser>
        <c:dLbls>
          <c:numFmt formatCode="#,##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axId val="2094734554"/>
        <c:axId val="2094734552"/>
        <c:axId val="2094734556"/>
      </c:area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Series 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Y1</c:v>
                  </c:pt>
                  <c:pt idx="1">
                    <c:v>Y2</c:v>
                  </c:pt>
                  <c:pt idx="2">
                    <c:v>Y3</c:v>
                  </c:pt>
                  <c:pt idx="3">
                    <c:v>Y4</c:v>
                  </c:pt>
                  <c:pt idx="4">
                    <c:v>Y5</c:v>
                  </c:pt>
                </c:lvl>
              </c:multiLvlStrCache>
            </c:multiLvlStrRef>
          </c:cat>
          <c:val>
            <c:numRef>
              <c:f>Sheet1!$B$2:$B$6</c:f>
              <c:numCache>
                <c:formatCode>General</c:formatCode>
                <c:ptCount val="5"/>
                <c:pt idx="0">
                  <c:v>10</c:v>
                </c:pt>
                <c:pt idx="1">
                  <c:v>14</c:v>
                </c:pt>
                <c:pt idx="2">
                  <c:v>19</c:v>
                </c:pt>
                <c:pt idx="3">
                  <c:v>27</c:v>
                </c:pt>
                <c:pt idx="4">
                  <c:v>35</c:v>
                </c:pt>
              </c:numCache>
            </c:numRef>
          </c:val>
        </c:ser>
        <c:ser>
          <c:idx val="1"/>
          <c:order val="1"/>
          <c:tx>
            <c:strRef>
              <c:f>Sheet1!$C$1</c:f>
              <c:strCache>
                <c:ptCount val="1"/>
                <c:pt idx="0">
                  <c:v>Series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Y1</c:v>
                  </c:pt>
                  <c:pt idx="1">
                    <c:v>Y2</c:v>
                  </c:pt>
                  <c:pt idx="2">
                    <c:v>Y3</c:v>
                  </c:pt>
                  <c:pt idx="3">
                    <c:v>Y4</c:v>
                  </c:pt>
                  <c:pt idx="4">
                    <c:v>Y5</c:v>
                  </c:pt>
                </c:lvl>
              </c:multiLvlStrCache>
            </c:multiLvlStrRef>
          </c:cat>
          <c:val>
            <c:numRef>
              <c:f>Sheet1!$C$2:$C$6</c:f>
              <c:numCache>
                <c:formatCode>General</c:formatCode>
                <c:ptCount val="5"/>
                <c:pt idx="0">
                  <c:v>8</c:v>
                </c:pt>
                <c:pt idx="1">
                  <c:v>11</c:v>
                </c:pt>
                <c:pt idx="2">
                  <c:v>15</c:v>
                </c:pt>
                <c:pt idx="3">
                  <c:v>21</c:v>
                </c:pt>
                <c:pt idx="4">
                  <c:v>28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Series 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Y1</c:v>
                  </c:pt>
                  <c:pt idx="1">
                    <c:v>Y2</c:v>
                  </c:pt>
                  <c:pt idx="2">
                    <c:v>Y3</c:v>
                  </c:pt>
                  <c:pt idx="3">
                    <c:v>Y4</c:v>
                  </c:pt>
                  <c:pt idx="4">
                    <c:v>Y5</c:v>
                  </c:pt>
                </c:lvl>
              </c:multiLvlStrCache>
            </c:multiLvlStrRef>
          </c:cat>
          <c:val>
            <c:numRef>
              <c:f>Sheet1!$B$2:$B$6</c:f>
              <c:numCache>
                <c:formatCode>General</c:formatCode>
                <c:ptCount val="5"/>
                <c:pt idx="0">
                  <c:v>10</c:v>
                </c:pt>
                <c:pt idx="1">
                  <c:v>14</c:v>
                </c:pt>
                <c:pt idx="2">
                  <c:v>19</c:v>
                </c:pt>
                <c:pt idx="3">
                  <c:v>27</c:v>
                </c:pt>
                <c:pt idx="4">
                  <c:v>35</c:v>
                </c:pt>
              </c:numCache>
            </c:numRef>
          </c:val>
        </c:ser>
        <c:ser>
          <c:idx val="1"/>
          <c:order val="1"/>
          <c:tx>
            <c:strRef>
              <c:f>Sheet1!$C$1</c:f>
              <c:strCache>
                <c:ptCount val="1"/>
                <c:pt idx="0">
                  <c:v>Series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Y1</c:v>
                  </c:pt>
                  <c:pt idx="1">
                    <c:v>Y2</c:v>
                  </c:pt>
                  <c:pt idx="2">
                    <c:v>Y3</c:v>
                  </c:pt>
                  <c:pt idx="3">
                    <c:v>Y4</c:v>
                  </c:pt>
                  <c:pt idx="4">
                    <c:v>Y5</c:v>
                  </c:pt>
                </c:lvl>
              </c:multiLvlStrCache>
            </c:multiLvlStrRef>
          </c:cat>
          <c:val>
            <c:numRef>
              <c:f>Sheet1!$C$2:$C$6</c:f>
              <c:numCache>
                <c:formatCode>General</c:formatCode>
                <c:ptCount val="5"/>
                <c:pt idx="0">
                  <c:v>8</c:v>
                </c:pt>
                <c:pt idx="1">
                  <c:v>11</c:v>
                </c:pt>
                <c:pt idx="2">
                  <c:v>15</c:v>
                </c:pt>
                <c:pt idx="3">
                  <c:v>21</c:v>
                </c:pt>
                <c:pt idx="4">
                  <c:v>28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Scenario Base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Sheet1!$A$2:$A$7</c:f>
              <c:multiLvlStrCache>
                <c:ptCount val="6"/>
                <c:lvl>
                  <c:pt idx="0">
                    <c:v>M1</c:v>
                  </c:pt>
                  <c:pt idx="1">
                    <c:v>M2</c:v>
                  </c:pt>
                  <c:pt idx="2">
                    <c:v>M3</c:v>
                  </c:pt>
                  <c:pt idx="3">
                    <c:v>M4</c:v>
                  </c:pt>
                  <c:pt idx="4">
                    <c:v>M5</c:v>
                  </c:pt>
                  <c:pt idx="5">
                    <c:v>M6</c:v>
                  </c:pt>
                </c:lvl>
              </c:multiLvlStrCache>
            </c:multiLvlStrRef>
          </c:cat>
          <c:val>
            <c:numRef>
              <c:f>Sheet1!$B$2:$B$7</c:f>
              <c:numCache>
                <c:formatCode>General</c:formatCode>
                <c:ptCount val="6"/>
                <c:pt idx="0">
                  <c:v>5</c:v>
                </c:pt>
                <c:pt idx="1">
                  <c:v>9</c:v>
                </c:pt>
                <c:pt idx="2">
                  <c:v>11</c:v>
                </c:pt>
                <c:pt idx="3">
                  <c:v>13</c:v>
                </c:pt>
                <c:pt idx="4">
                  <c:v>16</c:v>
                </c:pt>
                <c:pt idx="5">
                  <c:v>18</c:v>
                </c:pt>
              </c:numCache>
            </c:numRef>
          </c:val>
        </c:ser>
        <c:ser>
          <c:idx val="1"/>
          <c:order val="1"/>
          <c:tx>
            <c:strRef>
              <c:f>Sheet1!$C$1</c:f>
              <c:strCache>
                <c:ptCount val="1"/>
                <c:pt idx="0">
                  <c:v>Scenario Upside</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Sheet1!$A$2:$A$7</c:f>
              <c:multiLvlStrCache>
                <c:ptCount val="6"/>
                <c:lvl>
                  <c:pt idx="0">
                    <c:v>M1</c:v>
                  </c:pt>
                  <c:pt idx="1">
                    <c:v>M2</c:v>
                  </c:pt>
                  <c:pt idx="2">
                    <c:v>M3</c:v>
                  </c:pt>
                  <c:pt idx="3">
                    <c:v>M4</c:v>
                  </c:pt>
                  <c:pt idx="4">
                    <c:v>M5</c:v>
                  </c:pt>
                  <c:pt idx="5">
                    <c:v>M6</c:v>
                  </c:pt>
                </c:lvl>
              </c:multiLvlStrCache>
            </c:multiLvlStrRef>
          </c:cat>
          <c:val>
            <c:numRef>
              <c:f>Sheet1!$C$2:$C$7</c:f>
              <c:numCache>
                <c:formatCode>General</c:formatCode>
                <c:ptCount val="6"/>
                <c:pt idx="0">
                  <c:v>6</c:v>
                </c:pt>
                <c:pt idx="1">
                  <c:v>10</c:v>
                </c:pt>
                <c:pt idx="2">
                  <c:v>13</c:v>
                </c:pt>
                <c:pt idx="3">
                  <c:v>16</c:v>
                </c:pt>
                <c:pt idx="4">
                  <c:v>20</c:v>
                </c:pt>
                <c:pt idx="5">
                  <c:v>24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Scenario Base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Sheet1!$A$2:$A$7</c:f>
              <c:multiLvlStrCache>
                <c:ptCount val="6"/>
                <c:lvl>
                  <c:pt idx="0">
                    <c:v>M1</c:v>
                  </c:pt>
                  <c:pt idx="1">
                    <c:v>M2</c:v>
                  </c:pt>
                  <c:pt idx="2">
                    <c:v>M3</c:v>
                  </c:pt>
                  <c:pt idx="3">
                    <c:v>M4</c:v>
                  </c:pt>
                  <c:pt idx="4">
                    <c:v>M5</c:v>
                  </c:pt>
                  <c:pt idx="5">
                    <c:v>M6</c:v>
                  </c:pt>
                </c:lvl>
              </c:multiLvlStrCache>
            </c:multiLvlStrRef>
          </c:cat>
          <c:val>
            <c:numRef>
              <c:f>Sheet1!$B$2:$B$7</c:f>
              <c:numCache>
                <c:formatCode>General</c:formatCode>
                <c:ptCount val="6"/>
                <c:pt idx="0">
                  <c:v>5</c:v>
                </c:pt>
                <c:pt idx="1">
                  <c:v>9</c:v>
                </c:pt>
                <c:pt idx="2">
                  <c:v>11</c:v>
                </c:pt>
                <c:pt idx="3">
                  <c:v>13</c:v>
                </c:pt>
                <c:pt idx="4">
                  <c:v>16</c:v>
                </c:pt>
                <c:pt idx="5">
                  <c:v>18</c:v>
                </c:pt>
              </c:numCache>
            </c:numRef>
          </c:val>
        </c:ser>
        <c:ser>
          <c:idx val="1"/>
          <c:order val="1"/>
          <c:tx>
            <c:strRef>
              <c:f>Sheet1!$C$1</c:f>
              <c:strCache>
                <c:ptCount val="1"/>
                <c:pt idx="0">
                  <c:v>Scenario Upside</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Sheet1!$A$2:$A$7</c:f>
              <c:multiLvlStrCache>
                <c:ptCount val="6"/>
                <c:lvl>
                  <c:pt idx="0">
                    <c:v>M1</c:v>
                  </c:pt>
                  <c:pt idx="1">
                    <c:v>M2</c:v>
                  </c:pt>
                  <c:pt idx="2">
                    <c:v>M3</c:v>
                  </c:pt>
                  <c:pt idx="3">
                    <c:v>M4</c:v>
                  </c:pt>
                  <c:pt idx="4">
                    <c:v>M5</c:v>
                  </c:pt>
                  <c:pt idx="5">
                    <c:v>M6</c:v>
                  </c:pt>
                </c:lvl>
              </c:multiLvlStrCache>
            </c:multiLvlStrRef>
          </c:cat>
          <c:val>
            <c:numRef>
              <c:f>Sheet1!$C$2:$C$7</c:f>
              <c:numCache>
                <c:formatCode>General</c:formatCode>
                <c:ptCount val="6"/>
                <c:pt idx="0">
                  <c:v>6</c:v>
                </c:pt>
                <c:pt idx="1">
                  <c:v>10</c:v>
                </c:pt>
                <c:pt idx="2">
                  <c:v>13</c:v>
                </c:pt>
                <c:pt idx="3">
                  <c:v>16</c:v>
                </c:pt>
                <c:pt idx="4">
                  <c:v>20</c:v>
                </c:pt>
                <c:pt idx="5">
                  <c:v>24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sv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007-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PMG_WHITE">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pptx-templates/kpmg-diligence/assets/kpmg-logo.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097" y="6267298"/>
            <a:ext cx="483718" cy="196596"/>
          </a:xfrm>
          <a:prstGeom prst="rect">
            <a:avLst/>
          </a:prstGeom>
        </p:spPr>
      </p:pic>
      <p:sp>
        <p:nvSpPr>
          <p:cNvPr id="3"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[year] [legal member firm name], a [jurisdiction] [legal structure] and a member firm of the KPMG global organization of independent member firms affiliated with KPMG International Limited, a private English company limited by guarantee. All rights reserved.</a:t>
            </a:r>
            <a:endParaRPr lang="en-US" sz="600" dirty="0"/>
          </a:p>
        </p:txBody>
      </p:sp>
      <p:sp>
        <p:nvSpPr>
          <p:cNvPr id="4" name="Text 1"/>
          <p:cNvSpPr/>
          <p:nvPr/>
        </p:nvSpPr>
        <p:spPr>
          <a:xfrm>
            <a:off x="9326880" y="6267298"/>
            <a:ext cx="1536192" cy="184709"/>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5" name="Text 2"/>
          <p:cNvSpPr/>
          <p:nvPr/>
        </p:nvSpPr>
        <p:spPr>
          <a:xfrm>
            <a:off x="11448288" y="6556248"/>
            <a:ext cx="621792" cy="164592"/>
          </a:xfrm>
          <a:prstGeom prst="rect">
            <a:avLst/>
          </a:prstGeom>
          <a:noFill/>
          <a:ln/>
        </p:spPr>
        <p:txBody>
          <a:bodyPr wrap="square" rtlCol="0" anchor="ctr"/>
          <a:lstStyle/>
          <a:p>
            <a:pPr algn="r" indent="0" marL="0">
              <a:buNone/>
            </a:pPr>
            <a:r>
              <a:rPr lang="en-US" sz="1400" b="1" dirty="0">
                <a:solidFill>
                  <a:srgbClr val="FD349C"/>
                </a:solidFill>
                <a:latin typeface="Arial" pitchFamily="34" charset="0"/>
                <a:ea typeface="Arial" pitchFamily="34" charset="-122"/>
                <a:cs typeface="Arial" pitchFamily="34" charset="-120"/>
              </a:rPr>
              <a:t>DRAFT</a:t>
            </a:r>
            <a:endParaRPr lang="en-US" sz="1400" dirty="0"/>
          </a:p>
        </p:txBody>
      </p:sp>
      <p:sp>
        <p:nvSpPr>
          <p:cNvPr id="6" name="Shape 3"/>
          <p:cNvSpPr/>
          <p:nvPr/>
        </p:nvSpPr>
        <p:spPr>
          <a:xfrm>
            <a:off x="10927080" y="6267298"/>
            <a:ext cx="0" cy="149047"/>
          </a:xfrm>
          <a:prstGeom prst="line">
            <a:avLst/>
          </a:prstGeom>
          <a:noFill/>
          <a:ln w="12700">
            <a:solidFill>
              <a:srgbClr val="1E49E2"/>
            </a:solidFill>
            <a:prstDash val="solid"/>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PMG_SUMMARY">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pptx-templates/kpmg-diligence/assets/gradient_accent_chip_300dpi.png">    </p:cNvPr>
          <p:cNvPicPr>
            <a:picLocks noChangeAspect="1"/>
          </p:cNvPicPr>
          <p:nvPr/>
        </p:nvPicPr>
        <p:blipFill>
          <a:blip r:embed="rId1"/>
          <a:stretch>
            <a:fillRect/>
          </a:stretch>
        </p:blipFill>
        <p:spPr>
          <a:xfrm>
            <a:off x="11534242" y="103327"/>
            <a:ext cx="222199" cy="222199"/>
          </a:xfrm>
          <a:prstGeom prst="rect">
            <a:avLst/>
          </a:prstGeom>
        </p:spPr>
      </p:pic>
      <p:pic>
        <p:nvPicPr>
          <p:cNvPr id="3" name="Image 1" descr="/Users/rishi/Code/ai-tools/chatgpt/kpmg-slidegen/pptx-templates/kpmg-diligence/assets/kpmg-logo.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3097" y="6267298"/>
            <a:ext cx="483718" cy="196596"/>
          </a:xfrm>
          <a:prstGeom prst="rect">
            <a:avLst/>
          </a:prstGeom>
        </p:spPr>
      </p:pic>
      <p:sp>
        <p:nvSpPr>
          <p:cNvPr id="4"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[year] [legal member firm name], a [jurisdiction] [legal structure] and a member firm of the KPMG global organization of independent member firms affiliated with KPMG International Limited, a private English company limited by guarantee. All rights reserved.</a:t>
            </a:r>
            <a:endParaRPr lang="en-US" sz="600" dirty="0"/>
          </a:p>
        </p:txBody>
      </p:sp>
      <p:sp>
        <p:nvSpPr>
          <p:cNvPr id="5" name="Text 1"/>
          <p:cNvSpPr/>
          <p:nvPr/>
        </p:nvSpPr>
        <p:spPr>
          <a:xfrm>
            <a:off x="9326880" y="6267298"/>
            <a:ext cx="1536192" cy="184709"/>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6" name="Text 2"/>
          <p:cNvSpPr/>
          <p:nvPr/>
        </p:nvSpPr>
        <p:spPr>
          <a:xfrm>
            <a:off x="11448288" y="6556248"/>
            <a:ext cx="621792" cy="164592"/>
          </a:xfrm>
          <a:prstGeom prst="rect">
            <a:avLst/>
          </a:prstGeom>
          <a:noFill/>
          <a:ln/>
        </p:spPr>
        <p:txBody>
          <a:bodyPr wrap="square" rtlCol="0" anchor="ctr"/>
          <a:lstStyle/>
          <a:p>
            <a:pPr algn="r" indent="0" marL="0">
              <a:buNone/>
            </a:pPr>
            <a:r>
              <a:rPr lang="en-US" sz="1400" b="1" dirty="0">
                <a:solidFill>
                  <a:srgbClr val="FD349C"/>
                </a:solidFill>
                <a:latin typeface="Arial" pitchFamily="34" charset="0"/>
                <a:ea typeface="Arial" pitchFamily="34" charset="-122"/>
                <a:cs typeface="Arial" pitchFamily="34" charset="-120"/>
              </a:rPr>
              <a:t>DRAFT</a:t>
            </a:r>
            <a:endParaRPr lang="en-US" sz="1400" dirty="0"/>
          </a:p>
        </p:txBody>
      </p:sp>
      <p:sp>
        <p:nvSpPr>
          <p:cNvPr id="7" name="Shape 3"/>
          <p:cNvSpPr/>
          <p:nvPr/>
        </p:nvSpPr>
        <p:spPr>
          <a:xfrm>
            <a:off x="10927080" y="6267298"/>
            <a:ext cx="0" cy="149047"/>
          </a:xfrm>
          <a:prstGeom prst="line">
            <a:avLst/>
          </a:prstGeom>
          <a:noFill/>
          <a:ln w="12700">
            <a:solidFill>
              <a:srgbClr val="1E49E2"/>
            </a:solidFill>
            <a:prstDash val="solid"/>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PMG_COVER">
    <p:bg>
      <p:bgPr>
        <a:solidFill>
          <a:srgbClr val="1E49E2"/>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PMG_SECTION_DARK">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pptx-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KPMG_SECTION_LIGH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KPMG_CLOSING">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pptx-templates/kpmg-diligence/assets/gradient_back_cover_300dpi.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e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kpmg.com" TargetMode="External"/><Relationship Id="rId2" Type="http://schemas.openxmlformats.org/officeDocument/2006/relationships/slideLayout" Target="../slideLayouts/slideLayout7.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998476" y="371311"/>
            <a:ext cx="914400" cy="368346"/>
          </a:xfrm>
          <a:prstGeom prst="rect">
            <a:avLst/>
          </a:prstGeom>
        </p:spPr>
      </p:pic>
      <p:sp>
        <p:nvSpPr>
          <p:cNvPr id="3" name="Text 0"/>
          <p:cNvSpPr/>
          <p:nvPr/>
        </p:nvSpPr>
        <p:spPr>
          <a:xfrm>
            <a:off x="998478" y="1456388"/>
            <a:ext cx="3697810" cy="3427743"/>
          </a:xfrm>
          <a:prstGeom prst="rect">
            <a:avLst/>
          </a:prstGeom>
          <a:noFill/>
          <a:ln/>
        </p:spPr>
        <p:txBody>
          <a:bodyPr wrap="square" lIns="0" tIns="0" rIns="0" bIns="0" rtlCol="0" anchor="t"/>
          <a:lstStyle/>
          <a:p>
            <a:pPr algn="l" indent="0" marL="0">
              <a:buNone/>
            </a:pPr>
            <a:r>
              <a:rPr lang="en-US" sz="4000" b="1" dirty="0">
                <a:solidFill>
                  <a:srgbClr val="FFFFFF"/>
                </a:solidFill>
                <a:latin typeface="Arial" pitchFamily="34" charset="0"/>
                <a:ea typeface="Arial" pitchFamily="34" charset="-122"/>
                <a:cs typeface="Arial" pitchFamily="34" charset="-120"/>
              </a:rPr>
              <a:t>Lorem Ipsum Generator Stress Test</a:t>
            </a:r>
            <a:endParaRPr lang="en-US" sz="4000" dirty="0"/>
          </a:p>
        </p:txBody>
      </p:sp>
      <p:sp>
        <p:nvSpPr>
          <p:cNvPr id="4" name="Text 1"/>
          <p:cNvSpPr/>
          <p:nvPr/>
        </p:nvSpPr>
        <p:spPr>
          <a:xfrm>
            <a:off x="998433" y="5005883"/>
            <a:ext cx="3697834" cy="809976"/>
          </a:xfrm>
          <a:prstGeom prst="rect">
            <a:avLst/>
          </a:prstGeom>
          <a:noFill/>
          <a:ln/>
        </p:spPr>
        <p:txBody>
          <a:bodyPr wrap="square" lIns="0" tIns="0" rIns="0" bIns="0" rtlCol="0" anchor="t"/>
          <a:lstStyle/>
          <a:p>
            <a:pPr algn="l" indent="0" marL="0">
              <a:buNone/>
            </a:pPr>
            <a:r>
              <a:rPr lang="en-US" sz="1400" dirty="0">
                <a:solidFill>
                  <a:srgbClr val="FFFFFF"/>
                </a:solidFill>
                <a:latin typeface="Arial" pitchFamily="34" charset="0"/>
                <a:ea typeface="Arial" pitchFamily="34" charset="-122"/>
                <a:cs typeface="Arial" pitchFamily="34" charset="-120"/>
              </a:rPr>
              <a:t>Comprehensive placeholder-content run February 2026</a:t>
            </a:r>
            <a:endParaRPr lang="en-US" sz="1400" dirty="0"/>
          </a:p>
        </p:txBody>
      </p:sp>
      <p:pic>
        <p:nvPicPr>
          <p:cNvPr id="5" name="Image 1" descr="Cover photograph">    </p:cNvPr>
          <p:cNvPicPr>
            <a:picLocks noChangeAspect="1"/>
          </p:cNvPicPr>
          <p:nvPr/>
        </p:nvPicPr>
        <p:blipFill>
          <a:blip r:embed="rId2"/>
          <a:srcRect l="4986" r="4986" t="0" b="0"/>
          <a:stretch/>
        </p:blipFill>
        <p:spPr>
          <a:xfrm>
            <a:off x="4915965" y="1456388"/>
            <a:ext cx="6283848" cy="43649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01</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Long-Form Text and Layout Stress Test</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Summary Financials — Lorem Scenario</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dirty="0"/>
          </a:p>
        </p:txBody>
      </p:sp>
      <p:sp>
        <p:nvSpPr>
          <p:cNvPr id="4" name="Shape 2"/>
          <p:cNvSpPr/>
          <p:nvPr/>
        </p:nvSpPr>
        <p:spPr>
          <a:xfrm>
            <a:off x="998433" y="1783080"/>
            <a:ext cx="2194560" cy="1005840"/>
          </a:xfrm>
          <a:prstGeom prst="roundRect">
            <a:avLst>
              <a:gd name="adj" fmla="val 5455"/>
            </a:avLst>
          </a:prstGeom>
          <a:solidFill>
            <a:srgbClr val="00338D"/>
          </a:solidFill>
          <a:ln/>
        </p:spPr>
      </p:sp>
      <p:sp>
        <p:nvSpPr>
          <p:cNvPr id="5" name="Text 3"/>
          <p:cNvSpPr/>
          <p:nvPr/>
        </p:nvSpPr>
        <p:spPr>
          <a:xfrm>
            <a:off x="1044153" y="18288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$123.4M</a:t>
            </a:r>
            <a:endParaRPr lang="en-US" sz="1800" dirty="0"/>
          </a:p>
        </p:txBody>
      </p:sp>
      <p:sp>
        <p:nvSpPr>
          <p:cNvPr id="6" name="Text 4"/>
          <p:cNvSpPr/>
          <p:nvPr/>
        </p:nvSpPr>
        <p:spPr>
          <a:xfrm>
            <a:off x="1044153" y="23061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Illustrative Revenue</a:t>
            </a:r>
            <a:endParaRPr lang="en-US" sz="700" dirty="0"/>
          </a:p>
        </p:txBody>
      </p:sp>
      <p:sp>
        <p:nvSpPr>
          <p:cNvPr id="7" name="Text 5"/>
          <p:cNvSpPr/>
          <p:nvPr/>
        </p:nvSpPr>
        <p:spPr>
          <a:xfrm>
            <a:off x="1044153" y="25173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+12.3%</a:t>
            </a:r>
            <a:endParaRPr lang="en-US" sz="600" dirty="0"/>
          </a:p>
        </p:txBody>
      </p:sp>
      <p:sp>
        <p:nvSpPr>
          <p:cNvPr id="8" name="Shape 6"/>
          <p:cNvSpPr/>
          <p:nvPr/>
        </p:nvSpPr>
        <p:spPr>
          <a:xfrm>
            <a:off x="3337560" y="1783080"/>
            <a:ext cx="2194560" cy="1005840"/>
          </a:xfrm>
          <a:prstGeom prst="roundRect">
            <a:avLst>
              <a:gd name="adj" fmla="val 5455"/>
            </a:avLst>
          </a:prstGeom>
          <a:solidFill>
            <a:srgbClr val="1E49E2"/>
          </a:solidFill>
          <a:ln/>
        </p:spPr>
      </p:sp>
      <p:sp>
        <p:nvSpPr>
          <p:cNvPr id="9" name="Text 7"/>
          <p:cNvSpPr/>
          <p:nvPr/>
        </p:nvSpPr>
        <p:spPr>
          <a:xfrm>
            <a:off x="3383280" y="18288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48.7%</a:t>
            </a:r>
            <a:endParaRPr lang="en-US" sz="1800" dirty="0"/>
          </a:p>
        </p:txBody>
      </p:sp>
      <p:sp>
        <p:nvSpPr>
          <p:cNvPr id="10" name="Text 8"/>
          <p:cNvSpPr/>
          <p:nvPr/>
        </p:nvSpPr>
        <p:spPr>
          <a:xfrm>
            <a:off x="3383280" y="23061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Illustrative Gross Margin</a:t>
            </a:r>
            <a:endParaRPr lang="en-US" sz="700" dirty="0"/>
          </a:p>
        </p:txBody>
      </p:sp>
      <p:sp>
        <p:nvSpPr>
          <p:cNvPr id="11" name="Text 9"/>
          <p:cNvSpPr/>
          <p:nvPr/>
        </p:nvSpPr>
        <p:spPr>
          <a:xfrm>
            <a:off x="3383280" y="25173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-1.4pp</a:t>
            </a:r>
            <a:endParaRPr lang="en-US" sz="600" dirty="0"/>
          </a:p>
        </p:txBody>
      </p:sp>
      <p:sp>
        <p:nvSpPr>
          <p:cNvPr id="12" name="Shape 10"/>
          <p:cNvSpPr/>
          <p:nvPr/>
        </p:nvSpPr>
        <p:spPr>
          <a:xfrm>
            <a:off x="5669280" y="1783080"/>
            <a:ext cx="2194560" cy="1005840"/>
          </a:xfrm>
          <a:prstGeom prst="roundRect">
            <a:avLst>
              <a:gd name="adj" fmla="val 5455"/>
            </a:avLst>
          </a:prstGeom>
          <a:solidFill>
            <a:srgbClr val="7213EA"/>
          </a:solidFill>
          <a:ln/>
        </p:spPr>
      </p:sp>
      <p:sp>
        <p:nvSpPr>
          <p:cNvPr id="13" name="Text 11"/>
          <p:cNvSpPr/>
          <p:nvPr/>
        </p:nvSpPr>
        <p:spPr>
          <a:xfrm>
            <a:off x="5715000" y="18288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$67.8M</a:t>
            </a:r>
            <a:endParaRPr lang="en-US" sz="1800" dirty="0"/>
          </a:p>
        </p:txBody>
      </p:sp>
      <p:sp>
        <p:nvSpPr>
          <p:cNvPr id="14" name="Text 12"/>
          <p:cNvSpPr/>
          <p:nvPr/>
        </p:nvSpPr>
        <p:spPr>
          <a:xfrm>
            <a:off x="5715000" y="23061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Illustrative EBITDA</a:t>
            </a:r>
            <a:endParaRPr lang="en-US" sz="700" dirty="0"/>
          </a:p>
        </p:txBody>
      </p:sp>
      <p:sp>
        <p:nvSpPr>
          <p:cNvPr id="15" name="Text 13"/>
          <p:cNvSpPr/>
          <p:nvPr/>
        </p:nvSpPr>
        <p:spPr>
          <a:xfrm>
            <a:off x="5715000" y="25173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+8.9%</a:t>
            </a:r>
            <a:endParaRPr lang="en-US" sz="600" dirty="0"/>
          </a:p>
        </p:txBody>
      </p:sp>
      <p:sp>
        <p:nvSpPr>
          <p:cNvPr id="16" name="Shape 14"/>
          <p:cNvSpPr/>
          <p:nvPr/>
        </p:nvSpPr>
        <p:spPr>
          <a:xfrm>
            <a:off x="8001000" y="1783080"/>
            <a:ext cx="2194560" cy="1005840"/>
          </a:xfrm>
          <a:prstGeom prst="roundRect">
            <a:avLst>
              <a:gd name="adj" fmla="val 5455"/>
            </a:avLst>
          </a:prstGeom>
          <a:solidFill>
            <a:srgbClr val="00B8F5"/>
          </a:solidFill>
          <a:ln/>
        </p:spPr>
      </p:sp>
      <p:sp>
        <p:nvSpPr>
          <p:cNvPr id="17" name="Text 15"/>
          <p:cNvSpPr/>
          <p:nvPr/>
        </p:nvSpPr>
        <p:spPr>
          <a:xfrm>
            <a:off x="8046720" y="18288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3.2x</a:t>
            </a:r>
            <a:endParaRPr lang="en-US" sz="1800" dirty="0"/>
          </a:p>
        </p:txBody>
      </p:sp>
      <p:sp>
        <p:nvSpPr>
          <p:cNvPr id="18" name="Text 16"/>
          <p:cNvSpPr/>
          <p:nvPr/>
        </p:nvSpPr>
        <p:spPr>
          <a:xfrm>
            <a:off x="8046720" y="23061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Illustrative Leverage</a:t>
            </a:r>
            <a:endParaRPr lang="en-US" sz="700" dirty="0"/>
          </a:p>
        </p:txBody>
      </p:sp>
      <p:sp>
        <p:nvSpPr>
          <p:cNvPr id="19" name="Text 17"/>
          <p:cNvSpPr/>
          <p:nvPr/>
        </p:nvSpPr>
        <p:spPr>
          <a:xfrm>
            <a:off x="8046720" y="25173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Stable</a:t>
            </a:r>
            <a:endParaRPr lang="en-US" sz="600" dirty="0"/>
          </a:p>
        </p:txBody>
      </p:sp>
      <p:graphicFrame>
        <p:nvGraphicFramePr>
          <p:cNvPr id="20" name="Chart 0" descr=""/>
          <p:cNvGraphicFramePr/>
          <p:nvPr/>
        </p:nvGraphicFramePr>
        <p:xfrm>
          <a:off x="998433" y="3063240"/>
          <a:ext cx="10204338" cy="3291840"/>
        </p:xfrm>
        <a:graphic xmlns:a="http://schemas.openxmlformats.org/drawingml/2006/main">
          <a:graphicData uri="http://schemas.openxmlformats.org/drawingml/2006/chart">
            <c:chart xmlns:c="http://schemas.openxmlformats.org/drawingml/2006/chart" r:id="rId1"/>
          </a:graphicData>
        </a:graphic>
      </p:graphicFrame>
      <p:sp>
        <p:nvSpPr>
          <p:cNvPr id="21" name="Text 1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Wide Chart + Two Columns (Lorem)</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 Curabitur blandit tempus porttitor. Vestibulum id ligula porta felis euismod semper. Praesent commodo cursus magna, vel scelerisque nisl consectetur et. Donec sed odio dui.</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Synthetic data for layout testing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Wide Chart + Two Columns (Lorem)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 Curabitur blandit tempus porttitor. Vestibulum id ligula porta felis euismod semper. Praesent commodo cursus magna, vel scelerisque nisl consectetur et. Donec sed odio dui.</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Synthetic data for layout testing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Wide Chart + Table + Text (Lorem)</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Curabitur blandit tempus porttitor. Vestibulum id ligula porta felis euismod semper. Praesent commodo cursus magna, vel scelerisque nisl consectetur et. Donec sed odio dui.</a:t>
            </a:r>
            <a:endParaRPr lang="en-US" sz="900" dirty="0"/>
          </a:p>
        </p:txBody>
      </p:sp>
      <p:sp>
        <p:nvSpPr>
          <p:cNvPr id="4" name="Text 2"/>
          <p:cNvSpPr/>
          <p:nvPr/>
        </p:nvSpPr>
        <p:spPr>
          <a:xfrm>
            <a:off x="998433" y="1691640"/>
            <a:ext cx="10204338" cy="178308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p:txBody>
      </p:sp>
      <p:graphicFrame>
        <p:nvGraphicFramePr>
          <p:cNvPr id="5" name="Chart 0" descr=""/>
          <p:cNvGraphicFramePr/>
          <p:nvPr/>
        </p:nvGraphicFramePr>
        <p:xfrm>
          <a:off x="998433" y="3794760"/>
          <a:ext cx="10204338" cy="210677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8433" y="5947258"/>
            <a:ext cx="10204338"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Synthetic data for layout testing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Wide Chart + Table + Text (Lorem)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Curabitur blandit tempus porttitor. Vestibulum id ligula porta felis euismod semper. Praesent commodo cursus magna, vel scelerisque nisl consectetur et. Donec sed odio dui.</a:t>
            </a:r>
            <a:endParaRPr lang="en-US" sz="900" dirty="0"/>
          </a:p>
        </p:txBody>
      </p:sp>
      <p:sp>
        <p:nvSpPr>
          <p:cNvPr id="4" name="Text 2"/>
          <p:cNvSpPr/>
          <p:nvPr/>
        </p:nvSpPr>
        <p:spPr>
          <a:xfrm>
            <a:off x="998433" y="1691640"/>
            <a:ext cx="10204338" cy="178308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p:txBody>
      </p:sp>
      <p:graphicFrame>
        <p:nvGraphicFramePr>
          <p:cNvPr id="5" name="Chart 0" descr=""/>
          <p:cNvGraphicFramePr/>
          <p:nvPr/>
        </p:nvGraphicFramePr>
        <p:xfrm>
          <a:off x="998433" y="3794760"/>
          <a:ext cx="10204338" cy="210677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8433" y="5947258"/>
            <a:ext cx="10204338"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Synthetic data for layout testing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Narrow Table (Lorem)</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 Integer posuere erat a ante venenatis dapibus posuere velit aliquet. Cras mattis consectetur purus sit amet fermentum. Maecenas faucibus mollis interdum. Aenean lacinia bibendum nulla sed consectetur.</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995361" y="1751579"/>
          <a:ext cx="5036396" cy="914400"/>
        </p:xfrm>
        <a:graphic>
          <a:graphicData uri="http://schemas.openxmlformats.org/drawingml/2006/table">
            <a:tbl>
              <a:tblPr/>
              <a:tblGrid>
                <a:gridCol w="1331940"/>
                <a:gridCol w="1331940"/>
                <a:gridCol w="790839"/>
                <a:gridCol w="790839"/>
                <a:gridCol w="790839"/>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Category</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Description</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Value A</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Value B</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Delta</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Alpha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100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114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+14</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Beta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200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215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+15</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Gamma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175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169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Delta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101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+11</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Epsilon</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145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188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+43</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Text 2"/>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900" b="1" dirty="0">
                <a:solidFill>
                  <a:srgbClr val="00338D"/>
                </a:solidFill>
                <a:latin typeface="Arial" pitchFamily="34" charset="0"/>
                <a:ea typeface="Arial" pitchFamily="34" charset="-122"/>
                <a:cs typeface="Arial" pitchFamily="34" charset="-120"/>
              </a:rPr>
              <a:t>Key takeaways</a:t>
            </a:r>
            <a:endParaRPr lang="en-US" sz="900" dirty="0"/>
          </a:p>
        </p:txBody>
      </p:sp>
      <p:sp>
        <p:nvSpPr>
          <p:cNvPr id="6" name="Text 3"/>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Key takeaways synthesized from the table inputs for quick scan and discussion.</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Use as a working view; confirm all figures during confirmatory diligence.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9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Two Column Text (Lorem)</a:t>
            </a:r>
            <a:endParaRPr lang="en-US" sz="3200" dirty="0"/>
          </a:p>
        </p:txBody>
      </p:sp>
      <p:sp>
        <p:nvSpPr>
          <p:cNvPr id="3" name="Text 1"/>
          <p:cNvSpPr/>
          <p:nvPr/>
        </p:nvSpPr>
        <p:spPr>
          <a:xfrm>
            <a:off x="998400" y="1010920"/>
            <a:ext cx="10195200"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dirty="0"/>
          </a:p>
        </p:txBody>
      </p:sp>
      <p:sp>
        <p:nvSpPr>
          <p:cNvPr id="4" name="Text 2"/>
          <p:cNvSpPr/>
          <p:nvPr/>
        </p:nvSpPr>
        <p:spPr>
          <a:xfrm>
            <a:off x="997200" y="1408113"/>
            <a:ext cx="5036400" cy="4465800"/>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p:txBody>
      </p:sp>
      <p:sp>
        <p:nvSpPr>
          <p:cNvPr id="5" name="Text 3"/>
          <p:cNvSpPr/>
          <p:nvPr/>
        </p:nvSpPr>
        <p:spPr>
          <a:xfrm>
            <a:off x="6159600" y="1408113"/>
            <a:ext cx="5036400" cy="4465800"/>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Two Columns Text (Lorem)</a:t>
            </a:r>
            <a:endParaRPr lang="en-US" sz="3200" dirty="0"/>
          </a:p>
        </p:txBody>
      </p:sp>
      <p:sp>
        <p:nvSpPr>
          <p:cNvPr id="3" name="Text 1"/>
          <p:cNvSpPr/>
          <p:nvPr/>
        </p:nvSpPr>
        <p:spPr>
          <a:xfrm>
            <a:off x="998433" y="1143000"/>
            <a:ext cx="10204338"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 Duis aute irure dolor in reprehenderit in voluptate velit esse cillum dolore eu fugiat nulla pariatur. Excepteur sint occaecat cupidatat non proident, sunt in culpa qui officia deserunt mollit anim id est laborum.</a:t>
            </a:r>
            <a:endParaRPr lang="en-US" sz="900" dirty="0"/>
          </a:p>
        </p:txBody>
      </p:sp>
      <p:sp>
        <p:nvSpPr>
          <p:cNvPr id="4" name="Text 2"/>
          <p:cNvSpPr/>
          <p:nvPr/>
        </p:nvSpPr>
        <p:spPr>
          <a:xfrm>
            <a:off x="998433" y="1600200"/>
            <a:ext cx="5212080" cy="4575658"/>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p:txBody>
      </p:sp>
      <p:sp>
        <p:nvSpPr>
          <p:cNvPr id="5" name="Text 3"/>
          <p:cNvSpPr/>
          <p:nvPr/>
        </p:nvSpPr>
        <p:spPr>
          <a:xfrm>
            <a:off x="6438748" y="1600200"/>
            <a:ext cx="4754880" cy="4575658"/>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One Column Text (Lorem)</a:t>
            </a:r>
            <a:endParaRPr lang="en-US" sz="3200" dirty="0"/>
          </a:p>
        </p:txBody>
      </p:sp>
      <p:sp>
        <p:nvSpPr>
          <p:cNvPr id="3" name="Text 1"/>
          <p:cNvSpPr/>
          <p:nvPr/>
        </p:nvSpPr>
        <p:spPr>
          <a:xfrm>
            <a:off x="998433" y="1143000"/>
            <a:ext cx="10204338"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 Lorem ipsum dolor sit amet, consectetur adipiscing elit, sed do eiusmod tempor incididunt ut labore et dolore magna aliqua. Ut enim ad minim veniam, quis nostrud exercitation ullamco laboris nisi ut aliquip ex ea commodo consequat.</a:t>
            </a:r>
            <a:endParaRPr lang="en-US" sz="900" dirty="0"/>
          </a:p>
        </p:txBody>
      </p:sp>
      <p:sp>
        <p:nvSpPr>
          <p:cNvPr id="4" name="Text 2"/>
          <p:cNvSpPr/>
          <p:nvPr/>
        </p:nvSpPr>
        <p:spPr>
          <a:xfrm>
            <a:off x="998433" y="1691640"/>
            <a:ext cx="10204338"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Title + Strapline + 4 Text Boxes (Lorem)</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 Integer posuere erat a ante venenatis dapibus posuere velit aliquet. Cras mattis consectetur purus sit amet fermentum. Maecenas faucibus mollis interdum. Aenean lacinia bibendum nulla sed consectetur.</a:t>
            </a:r>
            <a:endParaRPr lang="en-US" sz="900" dirty="0"/>
          </a:p>
        </p:txBody>
      </p:sp>
      <p:sp>
        <p:nvSpPr>
          <p:cNvPr id="4" name="Text 2"/>
          <p:cNvSpPr/>
          <p:nvPr/>
        </p:nvSpPr>
        <p:spPr>
          <a:xfrm>
            <a:off x="998433" y="1554480"/>
            <a:ext cx="2377440" cy="274320"/>
          </a:xfrm>
          <a:prstGeom prst="rect">
            <a:avLst/>
          </a:prstGeom>
          <a:noFill/>
          <a:ln/>
        </p:spPr>
        <p:txBody>
          <a:bodyPr wrap="square" lIns="46800" tIns="72000" rIns="90000" bIns="46800" rtlCol="0" anchor="ctr"/>
          <a:lstStyle/>
          <a:p>
            <a:pPr indent="0" marL="0">
              <a:buNone/>
            </a:pPr>
            <a:r>
              <a:rPr lang="en-US" sz="900" b="1" dirty="0">
                <a:solidFill>
                  <a:srgbClr val="00338D"/>
                </a:solidFill>
                <a:latin typeface="Arial" pitchFamily="34" charset="0"/>
                <a:ea typeface="Arial" pitchFamily="34" charset="-122"/>
                <a:cs typeface="Arial" pitchFamily="34" charset="-120"/>
              </a:rPr>
              <a:t>Workstream 1</a:t>
            </a:r>
            <a:endParaRPr lang="en-US" sz="900" dirty="0"/>
          </a:p>
        </p:txBody>
      </p:sp>
      <p:sp>
        <p:nvSpPr>
          <p:cNvPr id="5" name="Text 3"/>
          <p:cNvSpPr/>
          <p:nvPr/>
        </p:nvSpPr>
        <p:spPr>
          <a:xfrm>
            <a:off x="998433"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p:txBody>
      </p:sp>
      <p:sp>
        <p:nvSpPr>
          <p:cNvPr id="6" name="Text 4"/>
          <p:cNvSpPr/>
          <p:nvPr/>
        </p:nvSpPr>
        <p:spPr>
          <a:xfrm>
            <a:off x="3566160" y="1554480"/>
            <a:ext cx="2377440" cy="274320"/>
          </a:xfrm>
          <a:prstGeom prst="rect">
            <a:avLst/>
          </a:prstGeom>
          <a:noFill/>
          <a:ln/>
        </p:spPr>
        <p:txBody>
          <a:bodyPr wrap="square" lIns="46800" tIns="72000" rIns="90000" bIns="46800" rtlCol="0" anchor="ctr"/>
          <a:lstStyle/>
          <a:p>
            <a:pPr indent="0" marL="0">
              <a:buNone/>
            </a:pPr>
            <a:r>
              <a:rPr lang="en-US" sz="900" b="1" dirty="0">
                <a:solidFill>
                  <a:srgbClr val="00338D"/>
                </a:solidFill>
                <a:latin typeface="Arial" pitchFamily="34" charset="0"/>
                <a:ea typeface="Arial" pitchFamily="34" charset="-122"/>
                <a:cs typeface="Arial" pitchFamily="34" charset="-120"/>
              </a:rPr>
              <a:t>Workstream 2</a:t>
            </a:r>
            <a:endParaRPr lang="en-US" sz="900" dirty="0"/>
          </a:p>
        </p:txBody>
      </p:sp>
      <p:sp>
        <p:nvSpPr>
          <p:cNvPr id="7" name="Text 5"/>
          <p:cNvSpPr/>
          <p:nvPr/>
        </p:nvSpPr>
        <p:spPr>
          <a:xfrm>
            <a:off x="356616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900" dirty="0"/>
          </a:p>
        </p:txBody>
      </p:sp>
      <p:sp>
        <p:nvSpPr>
          <p:cNvPr id="8" name="Text 6"/>
          <p:cNvSpPr/>
          <p:nvPr/>
        </p:nvSpPr>
        <p:spPr>
          <a:xfrm>
            <a:off x="6126480" y="1554480"/>
            <a:ext cx="2377440" cy="274320"/>
          </a:xfrm>
          <a:prstGeom prst="rect">
            <a:avLst/>
          </a:prstGeom>
          <a:noFill/>
          <a:ln/>
        </p:spPr>
        <p:txBody>
          <a:bodyPr wrap="square" lIns="46800" tIns="72000" rIns="90000" bIns="46800" rtlCol="0" anchor="ctr"/>
          <a:lstStyle/>
          <a:p>
            <a:pPr indent="0" marL="0">
              <a:buNone/>
            </a:pPr>
            <a:r>
              <a:rPr lang="en-US" sz="900" b="1" dirty="0">
                <a:solidFill>
                  <a:srgbClr val="00338D"/>
                </a:solidFill>
                <a:latin typeface="Arial" pitchFamily="34" charset="0"/>
                <a:ea typeface="Arial" pitchFamily="34" charset="-122"/>
                <a:cs typeface="Arial" pitchFamily="34" charset="-120"/>
              </a:rPr>
              <a:t>Workstream 3</a:t>
            </a:r>
            <a:endParaRPr lang="en-US" sz="900" dirty="0"/>
          </a:p>
        </p:txBody>
      </p:sp>
      <p:sp>
        <p:nvSpPr>
          <p:cNvPr id="9" name="Text 7"/>
          <p:cNvSpPr/>
          <p:nvPr/>
        </p:nvSpPr>
        <p:spPr>
          <a:xfrm>
            <a:off x="612648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900" dirty="0"/>
          </a:p>
        </p:txBody>
      </p:sp>
      <p:sp>
        <p:nvSpPr>
          <p:cNvPr id="10" name="Text 8"/>
          <p:cNvSpPr/>
          <p:nvPr/>
        </p:nvSpPr>
        <p:spPr>
          <a:xfrm>
            <a:off x="8686800" y="1554480"/>
            <a:ext cx="2377440" cy="274320"/>
          </a:xfrm>
          <a:prstGeom prst="rect">
            <a:avLst/>
          </a:prstGeom>
          <a:noFill/>
          <a:ln/>
        </p:spPr>
        <p:txBody>
          <a:bodyPr wrap="square" lIns="46800" tIns="72000" rIns="90000" bIns="46800" rtlCol="0" anchor="ctr"/>
          <a:lstStyle/>
          <a:p>
            <a:pPr indent="0" marL="0">
              <a:buNone/>
            </a:pPr>
            <a:r>
              <a:rPr lang="en-US" sz="900" b="1" dirty="0">
                <a:solidFill>
                  <a:srgbClr val="00338D"/>
                </a:solidFill>
                <a:latin typeface="Arial" pitchFamily="34" charset="0"/>
                <a:ea typeface="Arial" pitchFamily="34" charset="-122"/>
                <a:cs typeface="Arial" pitchFamily="34" charset="-120"/>
              </a:rPr>
              <a:t>Workstream 4</a:t>
            </a:r>
            <a:endParaRPr lang="en-US" sz="900" dirty="0"/>
          </a:p>
        </p:txBody>
      </p:sp>
      <p:sp>
        <p:nvSpPr>
          <p:cNvPr id="11" name="Text 9"/>
          <p:cNvSpPr/>
          <p:nvPr/>
        </p:nvSpPr>
        <p:spPr>
          <a:xfrm>
            <a:off x="868680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900" dirty="0"/>
          </a:p>
        </p:txBody>
      </p:sp>
      <p:sp>
        <p:nvSpPr>
          <p:cNvPr id="12" name="Text 10"/>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10</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914400" y="3291840"/>
            <a:ext cx="10241280" cy="2194560"/>
          </a:xfrm>
          <a:prstGeom prst="rect">
            <a:avLst/>
          </a:prstGeom>
          <a:noFill/>
          <a:ln/>
        </p:spPr>
        <p:txBody>
          <a:bodyPr wrap="square" rtlCol="0" anchor="t"/>
          <a:lstStyle/>
          <a:p>
            <a:pPr indent="0" marL="0">
              <a:buNone/>
            </a:pPr>
            <a:r>
              <a:rPr lang="en-US" sz="900" dirty="0">
                <a:solidFill>
                  <a:srgbClr val="FFFFFF"/>
                </a:solidFill>
                <a:latin typeface="Arial" pitchFamily="34" charset="0"/>
                <a:ea typeface="Arial" pitchFamily="34" charset="-122"/>
                <a:cs typeface="Arial" pitchFamily="34" charset="-120"/>
              </a:rPr>
              <a:t>Lorem ipsum disclaimer: synthetic content for generator layout preview only.</a:t>
            </a:r>
            <a:endParaRPr lang="en-US" sz="900" dirty="0"/>
          </a:p>
        </p:txBody>
      </p:sp>
      <p:sp>
        <p:nvSpPr>
          <p:cNvPr id="3" name="Text 1">
            <a:hlinkClick r:id="rId1" tooltip=""/>
          </p:cNvPr>
          <p:cNvSpPr/>
          <p:nvPr/>
        </p:nvSpPr>
        <p:spPr>
          <a:xfrm>
            <a:off x="914400" y="5760720"/>
            <a:ext cx="3657600" cy="274320"/>
          </a:xfrm>
          <a:prstGeom prst="rect">
            <a:avLst/>
          </a:prstGeom>
          <a:noFill/>
          <a:ln/>
        </p:spPr>
        <p:txBody>
          <a:bodyPr wrap="square" rtlCol="0" anchor="ctr"/>
          <a:lstStyle/>
          <a:p>
            <a:pPr indent="0" marL="0">
              <a:buNone/>
            </a:pPr>
            <a:r>
              <a:rPr lang="en-US" sz="900" b="1" u="sng" dirty="0">
                <a:solidFill>
                  <a:srgbClr val="FFFFFF"/>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www.kpmg.com</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KPMG LLP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KPMG Lorem Ipsum Stress Test Deck</dc:title>
  <dc:subject>Layout and overflow stress-test using placeholder prose</dc:subject>
  <dc:creator>kpmg-slidegen</dc:creator>
  <cp:lastModifiedBy>kpmg-slidegen</cp:lastModifiedBy>
  <cp:revision>1</cp:revision>
  <dcterms:created xsi:type="dcterms:W3CDTF">2026-02-20T00:12:09Z</dcterms:created>
  <dcterms:modified xsi:type="dcterms:W3CDTF">2026-02-20T00:12:09Z</dcterms:modified>
</cp:coreProperties>
</file>