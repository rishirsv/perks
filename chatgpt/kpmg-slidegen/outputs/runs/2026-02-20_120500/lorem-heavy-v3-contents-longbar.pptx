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ong-Form Text and Layout Stress Test" id="{1ebde659-8c15-12fe-d2f1-8c33a6cce2e9}">
          <p14:sldIdLst/>
        </p14:section>
        <p14:section name="Default-1" id="{40140139-dfdd-660b-a719-76c8ea4627f5}">
          <p14:sldIdLst>
            <p14:sldId id="259"/>
            <p14:sldId id="260"/>
            <p14:sldId id="261"/>
            <p14:sldId id="262"/>
            <p14:sldId id="263"/>
            <p14:sldId id="264"/>
            <p14:sldId id="265"/>
            <p14:sldId id="266"/>
            <p14:sldId id="267"/>
            <p14:sldId id="268"/>
            <p14:sldId id="269"/>
          </p14:sldIdLst>
        </p14:section>
        <p14:section name="Quality of Earnings and Summary Scaffold" id="{159b1543-c243-2e1e-f38c-1cc2255b2916}">
          <p14:sldIdLst/>
        </p14:section>
        <p14:section name="Default-2" id="{25f7c218-ca6c-c4a6-13b3-79058ae0b92f}">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Summary</c:v>
                </c:pt>
              </c:strCache>
            </c:strRef>
          </c:tx>
          <c:spPr>
            <a:solidFill>
              <a:srgbClr val="0033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11</c:v>
                </c:pt>
                <c:pt idx="1">
                  <c:v>16</c:v>
                </c:pt>
                <c:pt idx="2">
                  <c:v>21</c:v>
                </c:pt>
                <c:pt idx="3">
                  <c:v>28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Illustrative Quarterly Revenue</c:v>
                </c:pt>
              </c:strCache>
            </c:strRef>
          </c:tx>
          <c:spPr>
            <a:solidFill>
              <a:srgbClr val="00338D"/>
            </a:solidFill>
            <a:effectLst/>
          </c:spPr>
          <c:invertIfNegative val="0"/>
          <c:dLbls>
            <c:numFmt formatCode="#,##0" sourceLinked="0"/>
            <c:spPr>
              <a:solidFill>
                <a:srgbClr val="00338D"/>
              </a:solidFill>
            </c:spPr>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Q1</c:v>
                  </c:pt>
                  <c:pt idx="1">
                    <c:v>Q2</c:v>
                  </c:pt>
                  <c:pt idx="2">
                    <c:v>Q3</c:v>
                  </c:pt>
                  <c:pt idx="3">
                    <c:v>Q4</c:v>
                  </c:pt>
                  <c:pt idx="4">
                    <c:v>Q5</c:v>
                  </c:pt>
                  <c:pt idx="5">
                    <c:v>Q6</c:v>
                  </c:pt>
                </c:lvl>
              </c:multiLvlStrCache>
            </c:multiLvlStrRef>
          </c:cat>
          <c:val>
            <c:numRef>
              <c:f>Sheet1!$B$2:$B$7</c:f>
              <c:numCache>
                <c:formatCode>General</c:formatCode>
                <c:ptCount val="6"/>
                <c:pt idx="0">
                  <c:v>12</c:v>
                </c:pt>
                <c:pt idx="1">
                  <c:v>18</c:v>
                </c:pt>
                <c:pt idx="2">
                  <c:v>17</c:v>
                </c:pt>
                <c:pt idx="3">
                  <c:v>24</c:v>
                </c:pt>
                <c:pt idx="4">
                  <c:v>29</c:v>
                </c:pt>
                <c:pt idx="5">
                  <c:v>31</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9326880" y="6267298"/>
            <a:ext cx="1536192" cy="184709"/>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6" name="Shape 3"/>
          <p:cNvSpPr/>
          <p:nvPr/>
        </p:nvSpPr>
        <p:spPr>
          <a:xfrm>
            <a:off x="10927080"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9326880" y="6267298"/>
            <a:ext cx="1536192" cy="184709"/>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7" name="Shape 3"/>
          <p:cNvSpPr/>
          <p:nvPr/>
        </p:nvSpPr>
        <p:spPr>
          <a:xfrm>
            <a:off x="10927080"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7.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Lorem Ipsum Generator Stress Test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Comprehensive placeholder-content run February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5782" y="431597"/>
            <a:ext cx="2743200" cy="566928"/>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Executive summary</a:t>
            </a:r>
            <a:endParaRPr lang="en-US" sz="1200" dirty="0"/>
          </a:p>
        </p:txBody>
      </p:sp>
      <p:sp>
        <p:nvSpPr>
          <p:cNvPr id="6" name="Text 4"/>
          <p:cNvSpPr/>
          <p:nvPr/>
        </p:nvSpPr>
        <p:spPr>
          <a:xfrm>
            <a:off x="995782"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3-25)</a:t>
            </a:r>
            <a:endParaRPr lang="en-US" sz="1000" dirty="0"/>
          </a:p>
        </p:txBody>
      </p:sp>
      <p:sp>
        <p:nvSpPr>
          <p:cNvPr id="7" name="Text 5"/>
          <p:cNvSpPr/>
          <p:nvPr/>
        </p:nvSpPr>
        <p:spPr>
          <a:xfrm>
            <a:off x="995782"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Business overview</a:t>
            </a:r>
            <a:endParaRPr lang="en-US" sz="900" dirty="0"/>
          </a:p>
          <a:p>
            <a:pPr indent="0" marL="0">
              <a:buNone/>
            </a:pPr>
            <a:r>
              <a:rPr lang="en-US" sz="900" dirty="0">
                <a:solidFill>
                  <a:srgbClr val="000000"/>
                </a:solidFill>
                <a:latin typeface="Arial" pitchFamily="34" charset="0"/>
                <a:ea typeface="Arial" pitchFamily="34" charset="-122"/>
                <a:cs typeface="Arial" pitchFamily="34" charset="-120"/>
              </a:rPr>
              <a:t>Summary financials</a:t>
            </a:r>
            <a:endParaRPr lang="en-US" sz="900" dirty="0"/>
          </a:p>
          <a:p>
            <a:pPr indent="0" marL="0">
              <a:buNone/>
            </a:pPr>
            <a:r>
              <a:rPr lang="en-US" sz="900" dirty="0">
                <a:solidFill>
                  <a:srgbClr val="000000"/>
                </a:solidFill>
                <a:latin typeface="Arial" pitchFamily="34" charset="0"/>
                <a:ea typeface="Arial" pitchFamily="34" charset="-122"/>
                <a:cs typeface="Arial" pitchFamily="34" charset="-120"/>
              </a:rPr>
              <a:t>Key findings</a:t>
            </a:r>
            <a:endParaRPr lang="en-US" sz="900" dirty="0"/>
          </a:p>
        </p:txBody>
      </p:sp>
      <p:sp>
        <p:nvSpPr>
          <p:cNvPr id="8" name="Text 6"/>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9" name="Shape 7"/>
          <p:cNvSpPr/>
          <p:nvPr/>
        </p:nvSpPr>
        <p:spPr>
          <a:xfrm>
            <a:off x="3068361" y="1737360"/>
            <a:ext cx="502920" cy="0"/>
          </a:xfrm>
          <a:prstGeom prst="line">
            <a:avLst/>
          </a:prstGeom>
          <a:noFill/>
          <a:ln w="12700">
            <a:solidFill>
              <a:srgbClr val="00338D"/>
            </a:solidFill>
            <a:prstDash val="solid"/>
          </a:ln>
        </p:spPr>
      </p:sp>
      <p:sp>
        <p:nvSpPr>
          <p:cNvPr id="10" name="Text 8"/>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Historical trading</a:t>
            </a:r>
            <a:endParaRPr lang="en-US" sz="1200" dirty="0"/>
          </a:p>
        </p:txBody>
      </p:sp>
      <p:sp>
        <p:nvSpPr>
          <p:cNvPr id="11" name="Text 9"/>
          <p:cNvSpPr/>
          <p:nvPr/>
        </p:nvSpPr>
        <p:spPr>
          <a:xfrm>
            <a:off x="3068361"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26-35)</a:t>
            </a:r>
            <a:endParaRPr lang="en-US" sz="1000" dirty="0"/>
          </a:p>
        </p:txBody>
      </p:sp>
      <p:sp>
        <p:nvSpPr>
          <p:cNvPr id="12" name="Text 10"/>
          <p:cNvSpPr/>
          <p:nvPr/>
        </p:nvSpPr>
        <p:spPr>
          <a:xfrm>
            <a:off x="3068361"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Profit &amp; loss overview</a:t>
            </a:r>
            <a:endParaRPr lang="en-US" sz="900" dirty="0"/>
          </a:p>
          <a:p>
            <a:pPr indent="0" marL="0">
              <a:buNone/>
            </a:pPr>
            <a:r>
              <a:rPr lang="en-US" sz="900" dirty="0">
                <a:solidFill>
                  <a:srgbClr val="000000"/>
                </a:solidFill>
                <a:latin typeface="Arial" pitchFamily="34" charset="0"/>
                <a:ea typeface="Arial" pitchFamily="34" charset="-122"/>
                <a:cs typeface="Arial" pitchFamily="34" charset="-120"/>
              </a:rPr>
              <a:t>Quality of earnings</a:t>
            </a:r>
            <a:endParaRPr lang="en-US" sz="900" dirty="0"/>
          </a:p>
        </p:txBody>
      </p:sp>
      <p:sp>
        <p:nvSpPr>
          <p:cNvPr id="13" name="Text 11"/>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4" name="Shape 12"/>
          <p:cNvSpPr/>
          <p:nvPr/>
        </p:nvSpPr>
        <p:spPr>
          <a:xfrm>
            <a:off x="5140940" y="1737360"/>
            <a:ext cx="502920" cy="0"/>
          </a:xfrm>
          <a:prstGeom prst="line">
            <a:avLst/>
          </a:prstGeom>
          <a:noFill/>
          <a:ln w="12700">
            <a:solidFill>
              <a:srgbClr val="00338D"/>
            </a:solidFill>
            <a:prstDash val="solid"/>
          </a:ln>
        </p:spPr>
      </p:sp>
      <p:sp>
        <p:nvSpPr>
          <p:cNvPr id="15" name="Text 13"/>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Forecast trading</a:t>
            </a:r>
            <a:endParaRPr lang="en-US" sz="1200" dirty="0"/>
          </a:p>
        </p:txBody>
      </p:sp>
      <p:sp>
        <p:nvSpPr>
          <p:cNvPr id="16" name="Text 14"/>
          <p:cNvSpPr/>
          <p:nvPr/>
        </p:nvSpPr>
        <p:spPr>
          <a:xfrm>
            <a:off x="5140940"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36-43)</a:t>
            </a:r>
            <a:endParaRPr lang="en-US" sz="1000" dirty="0"/>
          </a:p>
        </p:txBody>
      </p:sp>
      <p:sp>
        <p:nvSpPr>
          <p:cNvPr id="17" name="Text 15"/>
          <p:cNvSpPr/>
          <p:nvPr/>
        </p:nvSpPr>
        <p:spPr>
          <a:xfrm>
            <a:off x="5140940"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Forecast overview</a:t>
            </a:r>
            <a:endParaRPr lang="en-US" sz="900" dirty="0"/>
          </a:p>
          <a:p>
            <a:pPr indent="0" marL="0">
              <a:buNone/>
            </a:pPr>
            <a:r>
              <a:rPr lang="en-US" sz="900" dirty="0">
                <a:solidFill>
                  <a:srgbClr val="000000"/>
                </a:solidFill>
                <a:latin typeface="Arial" pitchFamily="34" charset="0"/>
                <a:ea typeface="Arial" pitchFamily="34" charset="-122"/>
                <a:cs typeface="Arial" pitchFamily="34" charset="-120"/>
              </a:rPr>
              <a:t>Forecast assumptions</a:t>
            </a:r>
            <a:endParaRPr lang="en-US" sz="900" dirty="0"/>
          </a:p>
        </p:txBody>
      </p:sp>
      <p:sp>
        <p:nvSpPr>
          <p:cNvPr id="18" name="Text 16"/>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9" name="Shape 17"/>
          <p:cNvSpPr/>
          <p:nvPr/>
        </p:nvSpPr>
        <p:spPr>
          <a:xfrm>
            <a:off x="7213519" y="1737360"/>
            <a:ext cx="502920" cy="0"/>
          </a:xfrm>
          <a:prstGeom prst="line">
            <a:avLst/>
          </a:prstGeom>
          <a:noFill/>
          <a:ln w="12700">
            <a:solidFill>
              <a:srgbClr val="00338D"/>
            </a:solidFill>
            <a:prstDash val="solid"/>
          </a:ln>
        </p:spPr>
      </p:sp>
      <p:sp>
        <p:nvSpPr>
          <p:cNvPr id="20" name="Text 18"/>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Balance sheet</a:t>
            </a:r>
            <a:endParaRPr lang="en-US" sz="1200" dirty="0"/>
          </a:p>
        </p:txBody>
      </p:sp>
      <p:sp>
        <p:nvSpPr>
          <p:cNvPr id="21" name="Text 19"/>
          <p:cNvSpPr/>
          <p:nvPr/>
        </p:nvSpPr>
        <p:spPr>
          <a:xfrm>
            <a:off x="7213519"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44-48)</a:t>
            </a:r>
            <a:endParaRPr lang="en-US" sz="1000" dirty="0"/>
          </a:p>
        </p:txBody>
      </p:sp>
      <p:sp>
        <p:nvSpPr>
          <p:cNvPr id="22" name="Text 20"/>
          <p:cNvSpPr/>
          <p:nvPr/>
        </p:nvSpPr>
        <p:spPr>
          <a:xfrm>
            <a:off x="7213519"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Balance sheet overview</a:t>
            </a:r>
            <a:endParaRPr lang="en-US" sz="900" dirty="0"/>
          </a:p>
          <a:p>
            <a:pPr indent="0" marL="0">
              <a:buNone/>
            </a:pPr>
            <a:r>
              <a:rPr lang="en-US" sz="900" dirty="0">
                <a:solidFill>
                  <a:srgbClr val="000000"/>
                </a:solidFill>
                <a:latin typeface="Arial" pitchFamily="34" charset="0"/>
                <a:ea typeface="Arial" pitchFamily="34" charset="-122"/>
                <a:cs typeface="Arial" pitchFamily="34" charset="-120"/>
              </a:rPr>
              <a:t>Net debt</a:t>
            </a:r>
            <a:endParaRPr lang="en-US" sz="900" dirty="0"/>
          </a:p>
        </p:txBody>
      </p:sp>
      <p:sp>
        <p:nvSpPr>
          <p:cNvPr id="23" name="Text 21"/>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4" name="Shape 22"/>
          <p:cNvSpPr/>
          <p:nvPr/>
        </p:nvSpPr>
        <p:spPr>
          <a:xfrm>
            <a:off x="9286098" y="1737360"/>
            <a:ext cx="502920" cy="0"/>
          </a:xfrm>
          <a:prstGeom prst="line">
            <a:avLst/>
          </a:prstGeom>
          <a:noFill/>
          <a:ln w="12700">
            <a:solidFill>
              <a:srgbClr val="00338D"/>
            </a:solidFill>
            <a:prstDash val="solid"/>
          </a:ln>
        </p:spPr>
      </p:sp>
      <p:sp>
        <p:nvSpPr>
          <p:cNvPr id="25" name="Text 23"/>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Cash flows</a:t>
            </a:r>
            <a:endParaRPr lang="en-US" sz="1200" dirty="0"/>
          </a:p>
        </p:txBody>
      </p:sp>
      <p:sp>
        <p:nvSpPr>
          <p:cNvPr id="26" name="Text 24"/>
          <p:cNvSpPr/>
          <p:nvPr/>
        </p:nvSpPr>
        <p:spPr>
          <a:xfrm>
            <a:off x="9286098"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49-50)</a:t>
            </a:r>
            <a:endParaRPr lang="en-US" sz="1000" dirty="0"/>
          </a:p>
        </p:txBody>
      </p:sp>
      <p:sp>
        <p:nvSpPr>
          <p:cNvPr id="27" name="Text 25"/>
          <p:cNvSpPr/>
          <p:nvPr/>
        </p:nvSpPr>
        <p:spPr>
          <a:xfrm>
            <a:off x="9286098"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Operating cash flows</a:t>
            </a:r>
            <a:endParaRPr lang="en-US" sz="900" dirty="0"/>
          </a:p>
        </p:txBody>
      </p:sp>
      <p:sp>
        <p:nvSpPr>
          <p:cNvPr id="28" name="Text 26"/>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9" name="Shape 27"/>
          <p:cNvSpPr/>
          <p:nvPr/>
        </p:nvSpPr>
        <p:spPr>
          <a:xfrm>
            <a:off x="995782" y="4169664"/>
            <a:ext cx="502920" cy="0"/>
          </a:xfrm>
          <a:prstGeom prst="line">
            <a:avLst/>
          </a:prstGeom>
          <a:noFill/>
          <a:ln w="12700">
            <a:solidFill>
              <a:srgbClr val="00338D"/>
            </a:solidFill>
            <a:prstDash val="solid"/>
          </a:ln>
        </p:spPr>
      </p:sp>
      <p:sp>
        <p:nvSpPr>
          <p:cNvPr id="30" name="Text 28"/>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Reporting</a:t>
            </a:r>
            <a:endParaRPr lang="en-US" sz="1200" dirty="0"/>
          </a:p>
        </p:txBody>
      </p:sp>
      <p:sp>
        <p:nvSpPr>
          <p:cNvPr id="31" name="Text 29"/>
          <p:cNvSpPr/>
          <p:nvPr/>
        </p:nvSpPr>
        <p:spPr>
          <a:xfrm>
            <a:off x="995782"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51-53)</a:t>
            </a:r>
            <a:endParaRPr lang="en-US" sz="1000" dirty="0"/>
          </a:p>
        </p:txBody>
      </p:sp>
      <p:sp>
        <p:nvSpPr>
          <p:cNvPr id="32" name="Text 30"/>
          <p:cNvSpPr/>
          <p:nvPr/>
        </p:nvSpPr>
        <p:spPr>
          <a:xfrm>
            <a:off x="995782"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Reporting environment</a:t>
            </a:r>
            <a:endParaRPr lang="en-US" sz="900" dirty="0"/>
          </a:p>
        </p:txBody>
      </p:sp>
      <p:sp>
        <p:nvSpPr>
          <p:cNvPr id="33" name="Text 31"/>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34" name="Shape 32"/>
          <p:cNvSpPr/>
          <p:nvPr/>
        </p:nvSpPr>
        <p:spPr>
          <a:xfrm>
            <a:off x="3068361" y="4169664"/>
            <a:ext cx="502920" cy="0"/>
          </a:xfrm>
          <a:prstGeom prst="line">
            <a:avLst/>
          </a:prstGeom>
          <a:noFill/>
          <a:ln w="12700">
            <a:solidFill>
              <a:srgbClr val="00338D"/>
            </a:solidFill>
            <a:prstDash val="solid"/>
          </a:ln>
        </p:spPr>
      </p:sp>
      <p:sp>
        <p:nvSpPr>
          <p:cNvPr id="35" name="Text 33"/>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Value creation</a:t>
            </a:r>
            <a:endParaRPr lang="en-US" sz="1200" dirty="0"/>
          </a:p>
        </p:txBody>
      </p:sp>
      <p:sp>
        <p:nvSpPr>
          <p:cNvPr id="36" name="Text 34"/>
          <p:cNvSpPr/>
          <p:nvPr/>
        </p:nvSpPr>
        <p:spPr>
          <a:xfrm>
            <a:off x="3068361"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54-60)</a:t>
            </a:r>
            <a:endParaRPr lang="en-US" sz="1000" dirty="0"/>
          </a:p>
        </p:txBody>
      </p:sp>
      <p:sp>
        <p:nvSpPr>
          <p:cNvPr id="37" name="Text 35"/>
          <p:cNvSpPr/>
          <p:nvPr/>
        </p:nvSpPr>
        <p:spPr>
          <a:xfrm>
            <a:off x="3068361"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Financial benchmarking</a:t>
            </a:r>
            <a:endParaRPr lang="en-US" sz="900" dirty="0"/>
          </a:p>
        </p:txBody>
      </p:sp>
      <p:sp>
        <p:nvSpPr>
          <p:cNvPr id="38" name="Text 36"/>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9" name="Shape 37"/>
          <p:cNvSpPr/>
          <p:nvPr/>
        </p:nvSpPr>
        <p:spPr>
          <a:xfrm>
            <a:off x="5140940" y="4169664"/>
            <a:ext cx="502920" cy="0"/>
          </a:xfrm>
          <a:prstGeom prst="line">
            <a:avLst/>
          </a:prstGeom>
          <a:noFill/>
          <a:ln w="12700">
            <a:solidFill>
              <a:srgbClr val="00338D"/>
            </a:solidFill>
            <a:prstDash val="solid"/>
          </a:ln>
        </p:spPr>
      </p:sp>
      <p:sp>
        <p:nvSpPr>
          <p:cNvPr id="40" name="Text 38"/>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Pre-Deal PPA</a:t>
            </a:r>
            <a:endParaRPr lang="en-US" sz="1200" dirty="0"/>
          </a:p>
        </p:txBody>
      </p:sp>
      <p:sp>
        <p:nvSpPr>
          <p:cNvPr id="41" name="Text 39"/>
          <p:cNvSpPr/>
          <p:nvPr/>
        </p:nvSpPr>
        <p:spPr>
          <a:xfrm>
            <a:off x="5140940"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61-65)</a:t>
            </a:r>
            <a:endParaRPr lang="en-US" sz="1000" dirty="0"/>
          </a:p>
        </p:txBody>
      </p:sp>
      <p:sp>
        <p:nvSpPr>
          <p:cNvPr id="42" name="Text 40"/>
          <p:cNvSpPr/>
          <p:nvPr/>
        </p:nvSpPr>
        <p:spPr>
          <a:xfrm>
            <a:off x="5140940"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Methodology &amp; procedures</a:t>
            </a:r>
            <a:endParaRPr lang="en-US" sz="900" dirty="0"/>
          </a:p>
        </p:txBody>
      </p:sp>
      <p:sp>
        <p:nvSpPr>
          <p:cNvPr id="43" name="Text 41"/>
          <p:cNvSpPr/>
          <p:nvPr/>
        </p:nvSpPr>
        <p:spPr>
          <a:xfrm>
            <a:off x="7213519"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09</a:t>
            </a:r>
            <a:endParaRPr lang="en-US" sz="3400" dirty="0"/>
          </a:p>
        </p:txBody>
      </p:sp>
      <p:sp>
        <p:nvSpPr>
          <p:cNvPr id="44" name="Shape 42"/>
          <p:cNvSpPr/>
          <p:nvPr/>
        </p:nvSpPr>
        <p:spPr>
          <a:xfrm>
            <a:off x="7213519" y="4169664"/>
            <a:ext cx="502920" cy="0"/>
          </a:xfrm>
          <a:prstGeom prst="line">
            <a:avLst/>
          </a:prstGeom>
          <a:noFill/>
          <a:ln w="12700">
            <a:solidFill>
              <a:srgbClr val="00338D"/>
            </a:solidFill>
            <a:prstDash val="solid"/>
          </a:ln>
        </p:spPr>
      </p:sp>
      <p:sp>
        <p:nvSpPr>
          <p:cNvPr id="45" name="Text 43"/>
          <p:cNvSpPr/>
          <p:nvPr/>
        </p:nvSpPr>
        <p:spPr>
          <a:xfrm>
            <a:off x="7213519"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Taxation</a:t>
            </a:r>
            <a:endParaRPr lang="en-US" sz="1200" dirty="0"/>
          </a:p>
        </p:txBody>
      </p:sp>
      <p:sp>
        <p:nvSpPr>
          <p:cNvPr id="46" name="Text 44"/>
          <p:cNvSpPr/>
          <p:nvPr/>
        </p:nvSpPr>
        <p:spPr>
          <a:xfrm>
            <a:off x="7213519"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66-68)</a:t>
            </a:r>
            <a:endParaRPr lang="en-US" sz="1000" dirty="0"/>
          </a:p>
        </p:txBody>
      </p:sp>
      <p:sp>
        <p:nvSpPr>
          <p:cNvPr id="47" name="Text 45"/>
          <p:cNvSpPr/>
          <p:nvPr/>
        </p:nvSpPr>
        <p:spPr>
          <a:xfrm>
            <a:off x="7213519"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Add title</a:t>
            </a:r>
            <a:endParaRPr lang="en-US" sz="900" dirty="0"/>
          </a:p>
        </p:txBody>
      </p:sp>
      <p:sp>
        <p:nvSpPr>
          <p:cNvPr id="48" name="Text 46"/>
          <p:cNvSpPr/>
          <p:nvPr/>
        </p:nvSpPr>
        <p:spPr>
          <a:xfrm>
            <a:off x="9286098"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10</a:t>
            </a:r>
            <a:endParaRPr lang="en-US" sz="3400" dirty="0"/>
          </a:p>
        </p:txBody>
      </p:sp>
      <p:sp>
        <p:nvSpPr>
          <p:cNvPr id="49" name="Shape 47"/>
          <p:cNvSpPr/>
          <p:nvPr/>
        </p:nvSpPr>
        <p:spPr>
          <a:xfrm>
            <a:off x="9286098" y="4169664"/>
            <a:ext cx="502920" cy="0"/>
          </a:xfrm>
          <a:prstGeom prst="line">
            <a:avLst/>
          </a:prstGeom>
          <a:noFill/>
          <a:ln w="12700">
            <a:solidFill>
              <a:srgbClr val="00338D"/>
            </a:solidFill>
            <a:prstDash val="solid"/>
          </a:ln>
        </p:spPr>
      </p:sp>
      <p:sp>
        <p:nvSpPr>
          <p:cNvPr id="50" name="Text 48"/>
          <p:cNvSpPr/>
          <p:nvPr/>
        </p:nvSpPr>
        <p:spPr>
          <a:xfrm>
            <a:off x="9286098"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Appendices</a:t>
            </a:r>
            <a:endParaRPr lang="en-US" sz="1200" dirty="0"/>
          </a:p>
        </p:txBody>
      </p:sp>
      <p:sp>
        <p:nvSpPr>
          <p:cNvPr id="51" name="Text 49"/>
          <p:cNvSpPr/>
          <p:nvPr/>
        </p:nvSpPr>
        <p:spPr>
          <a:xfrm>
            <a:off x="9286098"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69-77)</a:t>
            </a:r>
            <a:endParaRPr lang="en-US" sz="1000" dirty="0"/>
          </a:p>
        </p:txBody>
      </p:sp>
      <p:sp>
        <p:nvSpPr>
          <p:cNvPr id="52" name="Text 50"/>
          <p:cNvSpPr/>
          <p:nvPr/>
        </p:nvSpPr>
        <p:spPr>
          <a:xfrm>
            <a:off x="9286098"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Engagement appendices</a:t>
            </a:r>
            <a:endParaRPr lang="en-US" sz="900" dirty="0"/>
          </a:p>
        </p:txBody>
      </p:sp>
      <p:sp>
        <p:nvSpPr>
          <p:cNvPr id="53" name="Text 51"/>
          <p:cNvSpPr/>
          <p:nvPr/>
        </p:nvSpPr>
        <p:spPr>
          <a:xfrm>
            <a:off x="10607040" y="475488"/>
            <a:ext cx="640080"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Glossary</a:t>
            </a:r>
            <a:endParaRPr lang="en-US" sz="1000" dirty="0"/>
          </a:p>
        </p:txBody>
      </p:sp>
      <p:sp>
        <p:nvSpPr>
          <p:cNvPr id="54" name="Text 52"/>
          <p:cNvSpPr/>
          <p:nvPr/>
        </p:nvSpPr>
        <p:spPr>
          <a:xfrm>
            <a:off x="10451592" y="786384"/>
            <a:ext cx="795528"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KPMG contacts</a:t>
            </a:r>
            <a:endParaRPr lang="en-US" sz="1000" dirty="0"/>
          </a:p>
        </p:txBody>
      </p:sp>
      <p:sp>
        <p:nvSpPr>
          <p:cNvPr id="55" name="Text 5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Profit &amp; loss overview</a:t>
            </a:r>
            <a:endParaRPr lang="en-US" sz="3200" dirty="0"/>
          </a:p>
        </p:txBody>
      </p:sp>
      <p:sp>
        <p:nvSpPr>
          <p:cNvPr id="3" name="Shape 1"/>
          <p:cNvSpPr/>
          <p:nvPr/>
        </p:nvSpPr>
        <p:spPr>
          <a:xfrm>
            <a:off x="995782" y="1179576"/>
            <a:ext cx="7587691" cy="482803"/>
          </a:xfrm>
          <a:prstGeom prst="rect">
            <a:avLst/>
          </a:prstGeom>
          <a:solidFill>
            <a:srgbClr val="FFFFFF">
              <a:alpha val="0"/>
            </a:srgbClr>
          </a:solidFill>
          <a:ln w="12700">
            <a:solidFill>
              <a:srgbClr val="9E9E9E"/>
            </a:solidFill>
            <a:prstDash val="solid"/>
          </a:ln>
        </p:spPr>
      </p:sp>
      <p:sp>
        <p:nvSpPr>
          <p:cNvPr id="4" name="Text 2"/>
          <p:cNvSpPr/>
          <p:nvPr/>
        </p:nvSpPr>
        <p:spPr>
          <a:xfrm>
            <a:off x="995782" y="1179576"/>
            <a:ext cx="7587691" cy="482803"/>
          </a:xfrm>
          <a:prstGeom prst="rect">
            <a:avLst/>
          </a:prstGeom>
          <a:noFill/>
          <a:ln/>
        </p:spPr>
        <p:txBody>
          <a:bodyPr wrap="square" lIns="46800" tIns="72000" rIns="90000" bIns="46800" rtlCol="0" anchor="t"/>
          <a:lstStyle/>
          <a:p>
            <a:pPr indent="0" marL="0">
              <a:buNone/>
            </a:pPr>
            <a:r>
              <a:rPr lang="en-US" sz="900" b="1" dirty="0">
                <a:solidFill>
                  <a:srgbClr val="1E49E2"/>
                </a:solidFill>
                <a:latin typeface="Arial" pitchFamily="34" charset="0"/>
                <a:ea typeface="Arial" pitchFamily="34" charset="-122"/>
                <a:cs typeface="Arial" pitchFamily="34" charset="-120"/>
              </a:rPr>
              <a:t>Use this strapline to summarize the key message - Keep it concise and clear, preferably 1-2 sentences only.</a:t>
            </a:r>
            <a:endParaRPr lang="en-US" sz="900" dirty="0"/>
          </a:p>
        </p:txBody>
      </p:sp>
      <p:graphicFrame>
        <p:nvGraphicFramePr>
          <p:cNvPr id="5" name="Chart 0" descr=""/>
          <p:cNvGraphicFramePr/>
          <p:nvPr/>
        </p:nvGraphicFramePr>
        <p:xfrm>
          <a:off x="8717890" y="984809"/>
          <a:ext cx="2475281" cy="678485"/>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95782" y="1751990"/>
          <a:ext cx="3690518" cy="4122115"/>
        </p:xfrm>
        <a:graphic>
          <a:graphicData uri="http://schemas.openxmlformats.org/drawingml/2006/table">
            <a:tbl>
              <a:tblPr/>
              <a:tblGrid>
                <a:gridCol w="1230173"/>
                <a:gridCol w="1230173"/>
                <a:gridCol w="1230173"/>
              </a:tblGrid>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FY23</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FY24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120</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144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58</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71</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EBITDA</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26</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34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EBITDA margin</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21.7%</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23.6%</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7" name="Shape 3"/>
          <p:cNvSpPr/>
          <p:nvPr/>
        </p:nvSpPr>
        <p:spPr>
          <a:xfrm>
            <a:off x="4817059" y="1751990"/>
            <a:ext cx="6378854" cy="252374"/>
          </a:xfrm>
          <a:prstGeom prst="rect">
            <a:avLst/>
          </a:prstGeom>
          <a:solidFill>
            <a:srgbClr val="00338D"/>
          </a:solidFill>
          <a:ln w="12700">
            <a:solidFill>
              <a:srgbClr val="00338D"/>
            </a:solidFill>
            <a:prstDash val="solid"/>
          </a:ln>
        </p:spPr>
      </p:sp>
      <p:sp>
        <p:nvSpPr>
          <p:cNvPr id="8" name="Text 4"/>
          <p:cNvSpPr/>
          <p:nvPr/>
        </p:nvSpPr>
        <p:spPr>
          <a:xfrm>
            <a:off x="4890211" y="1751990"/>
            <a:ext cx="6232550" cy="25237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Illustrative revenue bridge</a:t>
            </a:r>
            <a:endParaRPr lang="en-US" sz="1200" dirty="0"/>
          </a:p>
        </p:txBody>
      </p:sp>
      <p:sp>
        <p:nvSpPr>
          <p:cNvPr id="9" name="Shape 5"/>
          <p:cNvSpPr/>
          <p:nvPr/>
        </p:nvSpPr>
        <p:spPr>
          <a:xfrm>
            <a:off x="4817059" y="2003450"/>
            <a:ext cx="6377940" cy="3869741"/>
          </a:xfrm>
          <a:prstGeom prst="rect">
            <a:avLst/>
          </a:prstGeom>
          <a:solidFill>
            <a:srgbClr val="FFFFFF">
              <a:alpha val="0"/>
            </a:srgbClr>
          </a:solidFill>
          <a:ln w="12700">
            <a:solidFill>
              <a:srgbClr val="9E9E9E"/>
            </a:solidFill>
            <a:prstDash val="solid"/>
          </a:ln>
        </p:spPr>
      </p:sp>
      <p:sp>
        <p:nvSpPr>
          <p:cNvPr id="10" name="Text 6"/>
          <p:cNvSpPr/>
          <p:nvPr/>
        </p:nvSpPr>
        <p:spPr>
          <a:xfrm>
            <a:off x="4817059" y="2003450"/>
            <a:ext cx="6377940" cy="3869741"/>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Excepteur sint occaecat cupidatat non proident, sunt in culpa qui officia deserunt mollit anim id est laborum.</a:t>
            </a:r>
            <a:endParaRPr lang="en-US" sz="900" dirty="0"/>
          </a:p>
        </p:txBody>
      </p:sp>
      <p:sp>
        <p:nvSpPr>
          <p:cNvPr id="11" name="Text 7"/>
          <p:cNvSpPr/>
          <p:nvPr/>
        </p:nvSpPr>
        <p:spPr>
          <a:xfrm>
            <a:off x="994867" y="5907024"/>
            <a:ext cx="3599993" cy="210312"/>
          </a:xfrm>
          <a:prstGeom prst="rect">
            <a:avLst/>
          </a:prstGeom>
          <a:noFill/>
          <a:ln/>
        </p:spPr>
        <p:txBody>
          <a:bodyPr wrap="square" lIns="0" tIns="0" rIns="0" bIns="0" rtlCol="0" anchor="t"/>
          <a:lstStyle/>
          <a:p>
            <a:pPr indent="0" marL="0">
              <a:buNone/>
            </a:pPr>
            <a:r>
              <a:rPr lang="en-US" sz="600" b="1" dirty="0">
                <a:solidFill>
                  <a:srgbClr val="00338D"/>
                </a:solidFill>
                <a:latin typeface="Arial" pitchFamily="34" charset="0"/>
                <a:ea typeface="Arial" pitchFamily="34" charset="-122"/>
                <a:cs typeface="Arial" pitchFamily="34" charset="-120"/>
              </a:rPr>
              <a:t>Note: Placeholder data. Source: Synthetic sample.</a:t>
            </a:r>
            <a:endParaRPr lang="en-US" sz="600" dirty="0"/>
          </a:p>
        </p:txBody>
      </p:sp>
      <p:sp>
        <p:nvSpPr>
          <p:cNvPr id="12"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Long-Form Text and Layout Stress Test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 Lorem Scenario</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Shape 2"/>
          <p:cNvSpPr/>
          <p:nvPr/>
        </p:nvSpPr>
        <p:spPr>
          <a:xfrm>
            <a:off x="998433" y="1783080"/>
            <a:ext cx="2194560" cy="1005840"/>
          </a:xfrm>
          <a:prstGeom prst="roundRect">
            <a:avLst>
              <a:gd name="adj" fmla="val 5455"/>
            </a:avLst>
          </a:prstGeom>
          <a:solidFill>
            <a:srgbClr val="00338D"/>
          </a:solidFill>
          <a:ln/>
        </p:spPr>
      </p:sp>
      <p:sp>
        <p:nvSpPr>
          <p:cNvPr id="5" name="Text 3"/>
          <p:cNvSpPr/>
          <p:nvPr/>
        </p:nvSpPr>
        <p:spPr>
          <a:xfrm>
            <a:off x="1044153"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$123.4M</a:t>
            </a:r>
            <a:endParaRPr lang="en-US" sz="1800" dirty="0"/>
          </a:p>
        </p:txBody>
      </p:sp>
      <p:sp>
        <p:nvSpPr>
          <p:cNvPr id="6" name="Text 4"/>
          <p:cNvSpPr/>
          <p:nvPr/>
        </p:nvSpPr>
        <p:spPr>
          <a:xfrm>
            <a:off x="1044153"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Revenue</a:t>
            </a:r>
            <a:endParaRPr lang="en-US" sz="700" dirty="0"/>
          </a:p>
        </p:txBody>
      </p:sp>
      <p:sp>
        <p:nvSpPr>
          <p:cNvPr id="7" name="Text 5"/>
          <p:cNvSpPr/>
          <p:nvPr/>
        </p:nvSpPr>
        <p:spPr>
          <a:xfrm>
            <a:off x="1044153"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+12.3%</a:t>
            </a:r>
            <a:endParaRPr lang="en-US" sz="600" dirty="0"/>
          </a:p>
        </p:txBody>
      </p:sp>
      <p:sp>
        <p:nvSpPr>
          <p:cNvPr id="8" name="Shape 6"/>
          <p:cNvSpPr/>
          <p:nvPr/>
        </p:nvSpPr>
        <p:spPr>
          <a:xfrm>
            <a:off x="3337560" y="1783080"/>
            <a:ext cx="2194560" cy="1005840"/>
          </a:xfrm>
          <a:prstGeom prst="roundRect">
            <a:avLst>
              <a:gd name="adj" fmla="val 5455"/>
            </a:avLst>
          </a:prstGeom>
          <a:solidFill>
            <a:srgbClr val="1E49E2"/>
          </a:solidFill>
          <a:ln/>
        </p:spPr>
      </p:sp>
      <p:sp>
        <p:nvSpPr>
          <p:cNvPr id="9" name="Text 7"/>
          <p:cNvSpPr/>
          <p:nvPr/>
        </p:nvSpPr>
        <p:spPr>
          <a:xfrm>
            <a:off x="338328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48.7%</a:t>
            </a:r>
            <a:endParaRPr lang="en-US" sz="1800" dirty="0"/>
          </a:p>
        </p:txBody>
      </p:sp>
      <p:sp>
        <p:nvSpPr>
          <p:cNvPr id="10" name="Text 8"/>
          <p:cNvSpPr/>
          <p:nvPr/>
        </p:nvSpPr>
        <p:spPr>
          <a:xfrm>
            <a:off x="338328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Gross Margin</a:t>
            </a:r>
            <a:endParaRPr lang="en-US" sz="700" dirty="0"/>
          </a:p>
        </p:txBody>
      </p:sp>
      <p:sp>
        <p:nvSpPr>
          <p:cNvPr id="11" name="Text 9"/>
          <p:cNvSpPr/>
          <p:nvPr/>
        </p:nvSpPr>
        <p:spPr>
          <a:xfrm>
            <a:off x="338328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-1.4pp</a:t>
            </a:r>
            <a:endParaRPr lang="en-US" sz="600" dirty="0"/>
          </a:p>
        </p:txBody>
      </p:sp>
      <p:sp>
        <p:nvSpPr>
          <p:cNvPr id="12" name="Shape 10"/>
          <p:cNvSpPr/>
          <p:nvPr/>
        </p:nvSpPr>
        <p:spPr>
          <a:xfrm>
            <a:off x="5669280" y="1783080"/>
            <a:ext cx="2194560" cy="1005840"/>
          </a:xfrm>
          <a:prstGeom prst="roundRect">
            <a:avLst>
              <a:gd name="adj" fmla="val 5455"/>
            </a:avLst>
          </a:prstGeom>
          <a:solidFill>
            <a:srgbClr val="7213EA"/>
          </a:solidFill>
          <a:ln/>
        </p:spPr>
      </p:sp>
      <p:sp>
        <p:nvSpPr>
          <p:cNvPr id="13" name="Text 11"/>
          <p:cNvSpPr/>
          <p:nvPr/>
        </p:nvSpPr>
        <p:spPr>
          <a:xfrm>
            <a:off x="571500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$67.8M</a:t>
            </a:r>
            <a:endParaRPr lang="en-US" sz="1800" dirty="0"/>
          </a:p>
        </p:txBody>
      </p:sp>
      <p:sp>
        <p:nvSpPr>
          <p:cNvPr id="14" name="Text 12"/>
          <p:cNvSpPr/>
          <p:nvPr/>
        </p:nvSpPr>
        <p:spPr>
          <a:xfrm>
            <a:off x="571500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EBITDA</a:t>
            </a:r>
            <a:endParaRPr lang="en-US" sz="700" dirty="0"/>
          </a:p>
        </p:txBody>
      </p:sp>
      <p:sp>
        <p:nvSpPr>
          <p:cNvPr id="15" name="Text 13"/>
          <p:cNvSpPr/>
          <p:nvPr/>
        </p:nvSpPr>
        <p:spPr>
          <a:xfrm>
            <a:off x="571500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+8.9%</a:t>
            </a:r>
            <a:endParaRPr lang="en-US" sz="600" dirty="0"/>
          </a:p>
        </p:txBody>
      </p:sp>
      <p:sp>
        <p:nvSpPr>
          <p:cNvPr id="16" name="Shape 14"/>
          <p:cNvSpPr/>
          <p:nvPr/>
        </p:nvSpPr>
        <p:spPr>
          <a:xfrm>
            <a:off x="8001000" y="1783080"/>
            <a:ext cx="2194560" cy="1005840"/>
          </a:xfrm>
          <a:prstGeom prst="roundRect">
            <a:avLst>
              <a:gd name="adj" fmla="val 5455"/>
            </a:avLst>
          </a:prstGeom>
          <a:solidFill>
            <a:srgbClr val="00B8F5"/>
          </a:solidFill>
          <a:ln/>
        </p:spPr>
      </p:sp>
      <p:sp>
        <p:nvSpPr>
          <p:cNvPr id="17" name="Text 15"/>
          <p:cNvSpPr/>
          <p:nvPr/>
        </p:nvSpPr>
        <p:spPr>
          <a:xfrm>
            <a:off x="804672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3.2x</a:t>
            </a:r>
            <a:endParaRPr lang="en-US" sz="1800" dirty="0"/>
          </a:p>
        </p:txBody>
      </p:sp>
      <p:sp>
        <p:nvSpPr>
          <p:cNvPr id="18" name="Text 16"/>
          <p:cNvSpPr/>
          <p:nvPr/>
        </p:nvSpPr>
        <p:spPr>
          <a:xfrm>
            <a:off x="804672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Leverage</a:t>
            </a:r>
            <a:endParaRPr lang="en-US" sz="700" dirty="0"/>
          </a:p>
        </p:txBody>
      </p:sp>
      <p:sp>
        <p:nvSpPr>
          <p:cNvPr id="19" name="Text 17"/>
          <p:cNvSpPr/>
          <p:nvPr/>
        </p:nvSpPr>
        <p:spPr>
          <a:xfrm>
            <a:off x="804672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Stable</a:t>
            </a:r>
            <a:endParaRPr lang="en-US" sz="600" dirty="0"/>
          </a:p>
        </p:txBody>
      </p:sp>
      <p:graphicFrame>
        <p:nvGraphicFramePr>
          <p:cNvPr id="20" name="Chart 0" descr=""/>
          <p:cNvGraphicFramePr/>
          <p:nvPr/>
        </p:nvGraphicFramePr>
        <p:xfrm>
          <a:off x="998433" y="3063240"/>
          <a:ext cx="10204338" cy="329184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Narrow Table (Lorem)</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331940"/>
                <a:gridCol w="1331940"/>
                <a:gridCol w="790839"/>
                <a:gridCol w="790839"/>
                <a:gridCol w="79083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Category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Description</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A</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B</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Alpha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Beta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Gamma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Epsilon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Two Column Text (Lorem)</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Two Columns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8433" y="1600200"/>
            <a:ext cx="52120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sp>
        <p:nvSpPr>
          <p:cNvPr id="5" name="Text 3"/>
          <p:cNvSpPr/>
          <p:nvPr/>
        </p:nvSpPr>
        <p:spPr>
          <a:xfrm>
            <a:off x="6438748" y="1600200"/>
            <a:ext cx="47548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One Column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 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Title + Strapline + 4 Text Boxes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1</a:t>
            </a:r>
            <a:endParaRPr lang="en-US" sz="9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2</a:t>
            </a:r>
            <a:endParaRPr lang="en-US" sz="9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3</a:t>
            </a:r>
            <a:endParaRPr lang="en-US" sz="9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4</a:t>
            </a:r>
            <a:endParaRPr lang="en-US" sz="9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Quality of Earnings and Summary Scaffold</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7200" y="1408113"/>
            <a:ext cx="10195200" cy="44658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p:txBody>
      </p:sp>
      <p:sp>
        <p:nvSpPr>
          <p:cNvPr id="5" name="Shape 3"/>
          <p:cNvSpPr/>
          <p:nvPr/>
        </p:nvSpPr>
        <p:spPr>
          <a:xfrm>
            <a:off x="997200" y="1179513"/>
            <a:ext cx="10195200" cy="4694400"/>
          </a:xfrm>
          <a:prstGeom prst="rect">
            <a:avLst/>
          </a:prstGeom>
          <a:solidFill>
            <a:srgbClr val="A5C7E5"/>
          </a:solidFill>
          <a:ln w="12700">
            <a:solidFill>
              <a:srgbClr val="00338D"/>
            </a:solidFill>
            <a:prstDash val="solid"/>
          </a:ln>
        </p:spPr>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(Scaffold Preview)</a:t>
            </a:r>
            <a:endParaRPr lang="en-US" sz="3200" dirty="0"/>
          </a:p>
        </p:txBody>
      </p:sp>
      <p:sp>
        <p:nvSpPr>
          <p:cNvPr id="3" name="Shape 1"/>
          <p:cNvSpPr/>
          <p:nvPr/>
        </p:nvSpPr>
        <p:spPr>
          <a:xfrm>
            <a:off x="995362" y="1179513"/>
            <a:ext cx="3302806" cy="2296973"/>
          </a:xfrm>
          <a:prstGeom prst="rect">
            <a:avLst/>
          </a:prstGeom>
          <a:solidFill>
            <a:srgbClr val="EDEDED"/>
          </a:solidFill>
          <a:ln w="12700">
            <a:solidFill>
              <a:srgbClr val="EDEDED"/>
            </a:solidFill>
            <a:prstDash val="solid"/>
          </a:ln>
        </p:spPr>
      </p:sp>
      <p:sp>
        <p:nvSpPr>
          <p:cNvPr id="4" name="Text 2"/>
          <p:cNvSpPr/>
          <p:nvPr/>
        </p:nvSpPr>
        <p:spPr>
          <a:xfrm>
            <a:off x="106851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Quality of earnings</a:t>
            </a:r>
            <a:endParaRPr lang="en-US" sz="1000" dirty="0"/>
          </a:p>
        </p:txBody>
      </p:sp>
      <p:sp>
        <p:nvSpPr>
          <p:cNvPr id="5" name="Shape 3"/>
          <p:cNvSpPr/>
          <p:nvPr/>
        </p:nvSpPr>
        <p:spPr>
          <a:xfrm>
            <a:off x="3502640" y="1206945"/>
            <a:ext cx="749808" cy="201168"/>
          </a:xfrm>
          <a:prstGeom prst="roundRect">
            <a:avLst>
              <a:gd name="adj" fmla="val 13636"/>
            </a:avLst>
          </a:prstGeom>
          <a:solidFill>
            <a:srgbClr val="5A1CD7"/>
          </a:solidFill>
          <a:ln w="12700">
            <a:solidFill>
              <a:srgbClr val="5A1CD7"/>
            </a:solidFill>
            <a:prstDash val="solid"/>
          </a:ln>
        </p:spPr>
      </p:sp>
      <p:sp>
        <p:nvSpPr>
          <p:cNvPr id="6" name="Text 4"/>
          <p:cNvSpPr/>
          <p:nvPr/>
        </p:nvSpPr>
        <p:spPr>
          <a:xfrm>
            <a:off x="350264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7" name="Shape 5"/>
          <p:cNvSpPr/>
          <p:nvPr/>
        </p:nvSpPr>
        <p:spPr>
          <a:xfrm>
            <a:off x="4441587" y="1179513"/>
            <a:ext cx="3302806" cy="2296973"/>
          </a:xfrm>
          <a:prstGeom prst="rect">
            <a:avLst/>
          </a:prstGeom>
          <a:solidFill>
            <a:srgbClr val="EDEDED"/>
          </a:solidFill>
          <a:ln w="12700">
            <a:solidFill>
              <a:srgbClr val="EDEDED"/>
            </a:solidFill>
            <a:prstDash val="solid"/>
          </a:ln>
        </p:spPr>
      </p:sp>
      <p:sp>
        <p:nvSpPr>
          <p:cNvPr id="8" name="Text 6"/>
          <p:cNvSpPr/>
          <p:nvPr/>
        </p:nvSpPr>
        <p:spPr>
          <a:xfrm>
            <a:off x="4514739"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working capital</a:t>
            </a:r>
            <a:endParaRPr lang="en-US" sz="1000" dirty="0"/>
          </a:p>
        </p:txBody>
      </p:sp>
      <p:sp>
        <p:nvSpPr>
          <p:cNvPr id="9" name="Shape 7"/>
          <p:cNvSpPr/>
          <p:nvPr/>
        </p:nvSpPr>
        <p:spPr>
          <a:xfrm>
            <a:off x="6948865" y="1206945"/>
            <a:ext cx="749808" cy="201168"/>
          </a:xfrm>
          <a:prstGeom prst="roundRect">
            <a:avLst>
              <a:gd name="adj" fmla="val 13636"/>
            </a:avLst>
          </a:prstGeom>
          <a:solidFill>
            <a:srgbClr val="5A1CD7"/>
          </a:solidFill>
          <a:ln w="12700">
            <a:solidFill>
              <a:srgbClr val="5A1CD7"/>
            </a:solidFill>
            <a:prstDash val="solid"/>
          </a:ln>
        </p:spPr>
      </p:sp>
      <p:sp>
        <p:nvSpPr>
          <p:cNvPr id="10" name="Text 8"/>
          <p:cNvSpPr/>
          <p:nvPr/>
        </p:nvSpPr>
        <p:spPr>
          <a:xfrm>
            <a:off x="6948865"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1" name="Shape 9"/>
          <p:cNvSpPr/>
          <p:nvPr/>
        </p:nvSpPr>
        <p:spPr>
          <a:xfrm>
            <a:off x="7887812" y="1179513"/>
            <a:ext cx="3302806" cy="2296973"/>
          </a:xfrm>
          <a:prstGeom prst="rect">
            <a:avLst/>
          </a:prstGeom>
          <a:solidFill>
            <a:srgbClr val="EDEDED"/>
          </a:solidFill>
          <a:ln w="12700">
            <a:solidFill>
              <a:srgbClr val="EDEDED"/>
            </a:solidFill>
            <a:prstDash val="solid"/>
          </a:ln>
        </p:spPr>
      </p:sp>
      <p:sp>
        <p:nvSpPr>
          <p:cNvPr id="12" name="Text 10"/>
          <p:cNvSpPr/>
          <p:nvPr/>
        </p:nvSpPr>
        <p:spPr>
          <a:xfrm>
            <a:off x="796096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debt</a:t>
            </a:r>
            <a:endParaRPr lang="en-US" sz="1000" dirty="0"/>
          </a:p>
        </p:txBody>
      </p:sp>
      <p:sp>
        <p:nvSpPr>
          <p:cNvPr id="13" name="Shape 11"/>
          <p:cNvSpPr/>
          <p:nvPr/>
        </p:nvSpPr>
        <p:spPr>
          <a:xfrm>
            <a:off x="10395090" y="1206945"/>
            <a:ext cx="749808" cy="201168"/>
          </a:xfrm>
          <a:prstGeom prst="roundRect">
            <a:avLst>
              <a:gd name="adj" fmla="val 13636"/>
            </a:avLst>
          </a:prstGeom>
          <a:solidFill>
            <a:srgbClr val="5A1CD7"/>
          </a:solidFill>
          <a:ln w="12700">
            <a:solidFill>
              <a:srgbClr val="5A1CD7"/>
            </a:solidFill>
            <a:prstDash val="solid"/>
          </a:ln>
        </p:spPr>
      </p:sp>
      <p:sp>
        <p:nvSpPr>
          <p:cNvPr id="14" name="Text 12"/>
          <p:cNvSpPr/>
          <p:nvPr/>
        </p:nvSpPr>
        <p:spPr>
          <a:xfrm>
            <a:off x="1039509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5" name="Shape 13"/>
          <p:cNvSpPr/>
          <p:nvPr/>
        </p:nvSpPr>
        <p:spPr>
          <a:xfrm>
            <a:off x="995361" y="3581757"/>
            <a:ext cx="5036400" cy="2296973"/>
          </a:xfrm>
          <a:prstGeom prst="rect">
            <a:avLst/>
          </a:prstGeom>
          <a:solidFill>
            <a:srgbClr val="EDEDED"/>
          </a:solidFill>
          <a:ln w="12700">
            <a:solidFill>
              <a:srgbClr val="EDEDED"/>
            </a:solidFill>
            <a:prstDash val="solid"/>
          </a:ln>
        </p:spPr>
      </p:sp>
      <p:sp>
        <p:nvSpPr>
          <p:cNvPr id="16" name="Text 14"/>
          <p:cNvSpPr/>
          <p:nvPr/>
        </p:nvSpPr>
        <p:spPr>
          <a:xfrm>
            <a:off x="1068513"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Cash conversion</a:t>
            </a:r>
            <a:endParaRPr lang="en-US" sz="1000" dirty="0"/>
          </a:p>
        </p:txBody>
      </p:sp>
      <p:sp>
        <p:nvSpPr>
          <p:cNvPr id="17" name="Shape 15"/>
          <p:cNvSpPr/>
          <p:nvPr/>
        </p:nvSpPr>
        <p:spPr>
          <a:xfrm>
            <a:off x="6159600" y="3581757"/>
            <a:ext cx="5036400" cy="2296973"/>
          </a:xfrm>
          <a:prstGeom prst="rect">
            <a:avLst/>
          </a:prstGeom>
          <a:solidFill>
            <a:srgbClr val="EDEDED"/>
          </a:solidFill>
          <a:ln w="12700">
            <a:solidFill>
              <a:srgbClr val="EDEDED"/>
            </a:solidFill>
            <a:prstDash val="solid"/>
          </a:ln>
        </p:spPr>
      </p:sp>
      <p:sp>
        <p:nvSpPr>
          <p:cNvPr id="18" name="Text 16"/>
          <p:cNvSpPr/>
          <p:nvPr/>
        </p:nvSpPr>
        <p:spPr>
          <a:xfrm>
            <a:off x="6232752"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Other bridge</a:t>
            </a:r>
            <a:endParaRPr lang="en-US" sz="1000" dirty="0"/>
          </a:p>
        </p:txBody>
      </p:sp>
      <p:sp>
        <p:nvSpPr>
          <p:cNvPr id="19" name="Text 17"/>
          <p:cNvSpPr/>
          <p:nvPr/>
        </p:nvSpPr>
        <p:spPr>
          <a:xfrm>
            <a:off x="998433" y="5897880"/>
            <a:ext cx="4754880" cy="182880"/>
          </a:xfrm>
          <a:prstGeom prst="rect">
            <a:avLst/>
          </a:prstGeom>
          <a:noFill/>
          <a:ln/>
        </p:spPr>
        <p:txBody>
          <a:bodyPr wrap="square" lIns="0" tIns="0" rIns="0" bIns="0" rtlCol="0" anchor="ctr"/>
          <a:lstStyle/>
          <a:p>
            <a:pPr indent="0" marL="0">
              <a:buNone/>
            </a:pPr>
            <a:r>
              <a:rPr lang="en-US" sz="600" dirty="0">
                <a:solidFill>
                  <a:srgbClr val="666666"/>
                </a:solidFill>
                <a:latin typeface="Arial" pitchFamily="34" charset="0"/>
                <a:ea typeface="Arial" pitchFamily="34" charset="-122"/>
                <a:cs typeface="Arial" pitchFamily="34" charset="-120"/>
              </a:rPr>
              <a:t>Placeholder scaffold only</a:t>
            </a:r>
            <a:endParaRPr lang="en-US" sz="600" dirty="0"/>
          </a:p>
        </p:txBody>
      </p:sp>
      <p:sp>
        <p:nvSpPr>
          <p:cNvPr id="20" name="Text 1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900" dirty="0">
                <a:solidFill>
                  <a:srgbClr val="FFFFFF"/>
                </a:solidFill>
                <a:latin typeface="Arial" pitchFamily="34" charset="0"/>
                <a:ea typeface="Arial" pitchFamily="34" charset="-122"/>
                <a:cs typeface="Arial" pitchFamily="34" charset="-120"/>
              </a:rPr>
              <a:t>Lorem ipsum disclaimer: synthetic content for generator layout preview only.</a:t>
            </a:r>
            <a:endParaRPr lang="en-US" sz="9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9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www.kpmg.com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Lorem Ipsum Stress Test Deck (v3 contents + pnl)</dc:title>
  <dc:subject>Layout and overflow stress-test using placeholder prose</dc:subject>
  <dc:creator>kpmg-slidegen</dc:creator>
  <cp:lastModifiedBy>kpmg-slidegen</cp:lastModifiedBy>
  <cp:revision>1</cp:revision>
  <dcterms:created xsi:type="dcterms:W3CDTF">2026-02-20T00:31:03Z</dcterms:created>
  <dcterms:modified xsi:type="dcterms:W3CDTF">2026-02-20T00:31:03Z</dcterms:modified>
</cp:coreProperties>
</file>